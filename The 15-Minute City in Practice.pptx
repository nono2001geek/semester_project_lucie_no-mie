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C83A13B9.xml" ContentType="application/vnd.ms-powerpoint.comments+xml"/>
  <Override PartName="/ppt/comments/modernComment_102_88E6931F.xml" ContentType="application/vnd.ms-powerpoint.comments+xml"/>
  <Override PartName="/ppt/comments/modernComment_10A_7D0C916.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66" r:id="rId5"/>
    <p:sldId id="259" r:id="rId6"/>
    <p:sldId id="265" r:id="rId7"/>
    <p:sldId id="263" r:id="rId8"/>
    <p:sldId id="261" r:id="rId9"/>
    <p:sldId id="267" r:id="rId10"/>
    <p:sldId id="268" r:id="rId11"/>
    <p:sldId id="262" r:id="rId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3E4DB8-4E12-F18C-200B-095F2E882368}" name="Kern  Lucie" initials="KL" userId="S::kernlu@ethz.ch::73957d06-79f2-4001-a218-8bdcb8f96aaa" providerId="AD"/>
  <p188:author id="{C91F3CF6-149F-06F0-0291-18BB8A7035EF}" name="Noémie Simon" initials="NS" userId="bcf751ccc0c63cc4"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98B2CB"/>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5A67-A6A9-4968-8E92-A1C96BA15CA7}" v="2" dt="2026-06-02T17:30:52.2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0" autoAdjust="0"/>
    <p:restoredTop sz="94671"/>
  </p:normalViewPr>
  <p:slideViewPr>
    <p:cSldViewPr snapToGrid="0">
      <p:cViewPr varScale="1">
        <p:scale>
          <a:sx n="58" d="100"/>
          <a:sy n="58" d="100"/>
        </p:scale>
        <p:origin x="72"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émie Simon" userId="bcf751ccc0c63cc4" providerId="LiveId" clId="{D8646A5F-B639-4467-90AE-53976C914447}"/>
    <pc:docChg chg="modSld">
      <pc:chgData name="Noémie Simon" userId="bcf751ccc0c63cc4" providerId="LiveId" clId="{D8646A5F-B639-4467-90AE-53976C914447}" dt="2026-06-02T17:40:20.969" v="104" actId="729"/>
      <pc:docMkLst>
        <pc:docMk/>
      </pc:docMkLst>
      <pc:sldChg chg="modSp mod">
        <pc:chgData name="Noémie Simon" userId="bcf751ccc0c63cc4" providerId="LiveId" clId="{D8646A5F-B639-4467-90AE-53976C914447}" dt="2026-06-02T17:32:45.254" v="101" actId="20577"/>
        <pc:sldMkLst>
          <pc:docMk/>
          <pc:sldMk cId="3359249337" sldId="256"/>
        </pc:sldMkLst>
        <pc:spChg chg="mod">
          <ac:chgData name="Noémie Simon" userId="bcf751ccc0c63cc4" providerId="LiveId" clId="{D8646A5F-B639-4467-90AE-53976C914447}" dt="2026-06-02T17:32:45.254" v="101" actId="20577"/>
          <ac:spMkLst>
            <pc:docMk/>
            <pc:sldMk cId="3359249337" sldId="256"/>
            <ac:spMk id="2" creationId="{55269C2F-6BFD-EFC2-398D-9FE490AB97CC}"/>
          </ac:spMkLst>
        </pc:spChg>
      </pc:sldChg>
      <pc:sldChg chg="mod modShow">
        <pc:chgData name="Noémie Simon" userId="bcf751ccc0c63cc4" providerId="LiveId" clId="{D8646A5F-B639-4467-90AE-53976C914447}" dt="2026-06-02T17:40:20.969" v="104" actId="729"/>
        <pc:sldMkLst>
          <pc:docMk/>
          <pc:sldMk cId="3526247385" sldId="257"/>
        </pc:sldMkLst>
      </pc:sldChg>
      <pc:sldChg chg="mod modShow">
        <pc:chgData name="Noémie Simon" userId="bcf751ccc0c63cc4" providerId="LiveId" clId="{D8646A5F-B639-4467-90AE-53976C914447}" dt="2026-06-02T17:40:15.898" v="103" actId="729"/>
        <pc:sldMkLst>
          <pc:docMk/>
          <pc:sldMk cId="2296812319" sldId="258"/>
        </pc:sldMkLst>
      </pc:sldChg>
      <pc:sldChg chg="modSp mod">
        <pc:chgData name="Noémie Simon" userId="bcf751ccc0c63cc4" providerId="LiveId" clId="{D8646A5F-B639-4467-90AE-53976C914447}" dt="2026-06-02T17:40:05.580" v="102" actId="1076"/>
        <pc:sldMkLst>
          <pc:docMk/>
          <pc:sldMk cId="131123478" sldId="266"/>
        </pc:sldMkLst>
        <pc:spChg chg="mod">
          <ac:chgData name="Noémie Simon" userId="bcf751ccc0c63cc4" providerId="LiveId" clId="{D8646A5F-B639-4467-90AE-53976C914447}" dt="2026-06-02T17:30:15.351" v="3" actId="20577"/>
          <ac:spMkLst>
            <pc:docMk/>
            <pc:sldMk cId="131123478" sldId="266"/>
            <ac:spMk id="11" creationId="{1721DAEC-0A82-6021-A4E5-89B28C221F2F}"/>
          </ac:spMkLst>
        </pc:spChg>
        <pc:spChg chg="mod">
          <ac:chgData name="Noémie Simon" userId="bcf751ccc0c63cc4" providerId="LiveId" clId="{D8646A5F-B639-4467-90AE-53976C914447}" dt="2026-06-02T17:30:59.299" v="64" actId="20577"/>
          <ac:spMkLst>
            <pc:docMk/>
            <pc:sldMk cId="131123478" sldId="266"/>
            <ac:spMk id="18" creationId="{214E7150-6D34-BA9C-1FC7-E2FD88FAB998}"/>
          </ac:spMkLst>
        </pc:spChg>
        <pc:spChg chg="mod">
          <ac:chgData name="Noémie Simon" userId="bcf751ccc0c63cc4" providerId="LiveId" clId="{D8646A5F-B639-4467-90AE-53976C914447}" dt="2026-06-02T17:40:05.580" v="102" actId="1076"/>
          <ac:spMkLst>
            <pc:docMk/>
            <pc:sldMk cId="131123478" sldId="266"/>
            <ac:spMk id="22" creationId="{4C50DE4D-9766-DAB7-AB84-B23FAE884ECD}"/>
          </ac:spMkLst>
        </pc:spChg>
      </pc:sldChg>
    </pc:docChg>
  </pc:docChgLst>
</pc:chgInfo>
</file>

<file path=ppt/comments/modernComment_10A_7D0C916.xml><?xml version="1.0" encoding="utf-8"?>
<p188:cmLst xmlns:a="http://schemas.openxmlformats.org/drawingml/2006/main" xmlns:r="http://schemas.openxmlformats.org/officeDocument/2006/relationships" xmlns:p188="http://schemas.microsoft.com/office/powerpoint/2018/8/main">
  <p188:cm id="{2741BC7A-6D15-D840-B712-6623240A656C}" authorId="{DE3E4DB8-4E12-F18C-200B-095F2E882368}" created="2026-06-01T12:46:54.639">
    <pc:sldMkLst xmlns:pc="http://schemas.microsoft.com/office/powerpoint/2013/main/command">
      <pc:docMk/>
      <pc:sldMk cId="131123478" sldId="266"/>
    </pc:sldMkLst>
    <p188:txBody>
      <a:bodyPr/>
      <a:lstStyle/>
      <a:p>
        <a:r>
          <a:rPr lang="en-001"/>
          <a:t>soit on garde slide 2-3, soit juste slide 4</a:t>
        </a:r>
      </a:p>
    </p188:txBody>
  </p188:cm>
</p188:cmLst>
</file>

<file path=ppt/comments/modernComment_100_C83A13B9.xml><?xml version="1.0" encoding="utf-8"?>
<p188:cmLst xmlns:a="http://schemas.openxmlformats.org/drawingml/2006/main" xmlns:r="http://schemas.openxmlformats.org/officeDocument/2006/relationships" xmlns:p188="http://schemas.microsoft.com/office/powerpoint/2018/8/main">
  <p188:cm id="{D96A257B-1C8E-E748-A2DE-938E634E31F0}" authorId="{DE3E4DB8-4E12-F18C-200B-095F2E882368}" created="2026-06-01T12:49:13.102">
    <pc:sldMkLst xmlns:pc="http://schemas.microsoft.com/office/powerpoint/2013/main/command">
      <pc:docMk/>
      <pc:sldMk cId="3359249337" sldId="256"/>
    </pc:sldMkLst>
    <p188:txBody>
      <a:bodyPr/>
      <a:lstStyle/>
      <a:p>
        <a:r>
          <a:rPr lang="en-001"/>
          <a:t>new suggestion for poetic and attention grabbing title how Patrick loves them : Close Enough to Reach, Far Enough to Go
Exploring the Gap Between Accessibility and Mobility in Zurich 
The Places We Could Go and the Places We Do
Comparing Theoretical Accessibility and Real Mobility Patterns in Zurich
Between Opportunity and Movement
Testing the 15-Minute City Through GPS Trajectories in Zurich </a:t>
        </a:r>
      </a:p>
    </p188:txBody>
  </p188:cm>
</p188:cmLst>
</file>

<file path=ppt/comments/modernComment_102_88E6931F.xml><?xml version="1.0" encoding="utf-8"?>
<p188:cmLst xmlns:a="http://schemas.openxmlformats.org/drawingml/2006/main" xmlns:r="http://schemas.openxmlformats.org/officeDocument/2006/relationships" xmlns:p188="http://schemas.microsoft.com/office/powerpoint/2018/8/main">
  <p188:cm id="{2097FF87-0BEC-4AA8-BA89-1AD6E5BA5930}" authorId="{C91F3CF6-149F-06F0-0291-18BB8A7035EF}" created="2026-05-31T09:22:57.363">
    <pc:sldMkLst xmlns:pc="http://schemas.microsoft.com/office/powerpoint/2013/main/command">
      <pc:docMk/>
      <pc:sldMk cId="2296812319" sldId="258"/>
    </pc:sldMkLst>
    <p188:txBody>
      <a:bodyPr/>
      <a:lstStyle/>
      <a:p>
        <a:r>
          <a:rPr lang="fr-CH"/>
          <a:t>Not sure what we want to say about the context!?</a:t>
        </a:r>
      </a:p>
    </p188:txBody>
  </p188:cm>
</p188:cmLst>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2C74514-7E59-43DD-81F2-44D5759C1824}"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12C6A796-E05E-4109-83A5-CA6732F07DCC}">
      <dgm:prSet custT="1"/>
      <dgm:spPr/>
      <dgm:t>
        <a:bodyPr/>
        <a:lstStyle/>
        <a:p>
          <a:r>
            <a:rPr lang="fr-CH" sz="2000" dirty="0"/>
            <a:t>Collection of data of  </a:t>
          </a:r>
          <a:r>
            <a:rPr lang="fr-CH" sz="2000" dirty="0" err="1"/>
            <a:t>trajectory</a:t>
          </a:r>
          <a:r>
            <a:rPr lang="fr-CH" sz="2000" dirty="0"/>
            <a:t>  (google </a:t>
          </a:r>
          <a:r>
            <a:rPr lang="fr-CH" sz="2000" dirty="0" err="1"/>
            <a:t>maps</a:t>
          </a:r>
          <a:r>
            <a:rPr lang="fr-CH" sz="2000" dirty="0"/>
            <a:t>) </a:t>
          </a:r>
          <a:endParaRPr lang="en-US" sz="2000" dirty="0"/>
        </a:p>
      </dgm:t>
    </dgm:pt>
    <dgm:pt modelId="{A758E241-A4DE-442B-90CA-0C9C5F9396E7}" type="parTrans" cxnId="{B039D11B-C065-4DB7-9C3F-9C1F1452DDD1}">
      <dgm:prSet/>
      <dgm:spPr/>
      <dgm:t>
        <a:bodyPr/>
        <a:lstStyle/>
        <a:p>
          <a:endParaRPr lang="en-US" sz="2000"/>
        </a:p>
      </dgm:t>
    </dgm:pt>
    <dgm:pt modelId="{13D06279-7FFC-4E91-975B-C5F631451C36}" type="sibTrans" cxnId="{B039D11B-C065-4DB7-9C3F-9C1F1452DDD1}">
      <dgm:prSet/>
      <dgm:spPr/>
      <dgm:t>
        <a:bodyPr/>
        <a:lstStyle/>
        <a:p>
          <a:endParaRPr lang="en-US" sz="2000"/>
        </a:p>
      </dgm:t>
    </dgm:pt>
    <dgm:pt modelId="{41B0F318-681F-480C-ACBE-4C24B27636D0}">
      <dgm:prSet custT="1"/>
      <dgm:spPr/>
      <dgm:t>
        <a:bodyPr/>
        <a:lstStyle/>
        <a:p>
          <a:r>
            <a:rPr lang="fr-CH" sz="2000" dirty="0" err="1"/>
            <a:t>Creation</a:t>
          </a:r>
          <a:r>
            <a:rPr lang="fr-CH" sz="2000" dirty="0"/>
            <a:t> of isochrones (15-minute </a:t>
          </a:r>
          <a:r>
            <a:rPr lang="fr-CH" sz="2000" dirty="0" err="1"/>
            <a:t>accesibility</a:t>
          </a:r>
          <a:r>
            <a:rPr lang="fr-CH" sz="2000" dirty="0"/>
            <a:t> zones)</a:t>
          </a:r>
          <a:endParaRPr lang="en-US" sz="2000" dirty="0"/>
        </a:p>
      </dgm:t>
    </dgm:pt>
    <dgm:pt modelId="{0D659330-D588-4B5E-A5C6-35292AF1DC95}" type="parTrans" cxnId="{95C9FA46-ECF1-4D14-8548-452CDC7D2175}">
      <dgm:prSet/>
      <dgm:spPr/>
      <dgm:t>
        <a:bodyPr/>
        <a:lstStyle/>
        <a:p>
          <a:endParaRPr lang="en-US" sz="2000"/>
        </a:p>
      </dgm:t>
    </dgm:pt>
    <dgm:pt modelId="{207A3D5B-4122-4CE8-B141-67DFCED8E158}" type="sibTrans" cxnId="{95C9FA46-ECF1-4D14-8548-452CDC7D2175}">
      <dgm:prSet/>
      <dgm:spPr/>
      <dgm:t>
        <a:bodyPr/>
        <a:lstStyle/>
        <a:p>
          <a:endParaRPr lang="en-US" sz="2000"/>
        </a:p>
      </dgm:t>
    </dgm:pt>
    <dgm:pt modelId="{7157FA5E-C5A4-4039-9621-57EE8A1E448F}">
      <dgm:prSet custT="1"/>
      <dgm:spPr/>
      <dgm:t>
        <a:bodyPr/>
        <a:lstStyle/>
        <a:p>
          <a:r>
            <a:rPr lang="fr-CH" sz="2000" dirty="0" err="1"/>
            <a:t>Detection</a:t>
          </a:r>
          <a:r>
            <a:rPr lang="fr-CH" sz="2000" dirty="0"/>
            <a:t> of point of </a:t>
          </a:r>
          <a:r>
            <a:rPr lang="fr-CH" sz="2000" dirty="0" err="1"/>
            <a:t>interests</a:t>
          </a:r>
          <a:r>
            <a:rPr lang="fr-CH" sz="2000" dirty="0"/>
            <a:t> (POI) </a:t>
          </a:r>
          <a:endParaRPr lang="en-US" sz="2000" dirty="0"/>
        </a:p>
      </dgm:t>
    </dgm:pt>
    <dgm:pt modelId="{874C9894-94B6-42CC-B8D0-400E1D54079E}" type="parTrans" cxnId="{F3787362-5CE9-48E2-99AE-A2FA95701E60}">
      <dgm:prSet/>
      <dgm:spPr/>
      <dgm:t>
        <a:bodyPr/>
        <a:lstStyle/>
        <a:p>
          <a:endParaRPr lang="en-US" sz="2000"/>
        </a:p>
      </dgm:t>
    </dgm:pt>
    <dgm:pt modelId="{1E46E158-B5CD-4F93-9646-8137B2D6040A}" type="sibTrans" cxnId="{F3787362-5CE9-48E2-99AE-A2FA95701E60}">
      <dgm:prSet/>
      <dgm:spPr/>
      <dgm:t>
        <a:bodyPr/>
        <a:lstStyle/>
        <a:p>
          <a:endParaRPr lang="en-US" sz="2000"/>
        </a:p>
      </dgm:t>
    </dgm:pt>
    <dgm:pt modelId="{59572103-8EAB-4A50-AB21-192D24EA143A}">
      <dgm:prSet custT="1"/>
      <dgm:spPr/>
      <dgm:t>
        <a:bodyPr/>
        <a:lstStyle/>
        <a:p>
          <a:r>
            <a:rPr lang="fr-CH" sz="2000" dirty="0" err="1"/>
            <a:t>Preprocessing</a:t>
          </a:r>
          <a:r>
            <a:rPr lang="fr-CH" sz="2000" dirty="0"/>
            <a:t> of </a:t>
          </a:r>
          <a:r>
            <a:rPr lang="fr-CH" sz="2000" dirty="0" err="1"/>
            <a:t>collected</a:t>
          </a:r>
          <a:r>
            <a:rPr lang="fr-CH" sz="2000" dirty="0"/>
            <a:t> data (segmentation, </a:t>
          </a:r>
          <a:r>
            <a:rPr lang="fr-CH" sz="2000" dirty="0" err="1"/>
            <a:t>categorization</a:t>
          </a:r>
          <a:r>
            <a:rPr lang="fr-CH" sz="2000" dirty="0"/>
            <a:t> of </a:t>
          </a:r>
          <a:r>
            <a:rPr lang="fr-CH" sz="2000" dirty="0" err="1"/>
            <a:t>visited</a:t>
          </a:r>
          <a:r>
            <a:rPr lang="fr-CH" sz="2000" dirty="0"/>
            <a:t> points, </a:t>
          </a:r>
          <a:r>
            <a:rPr lang="fr-CH" sz="2000" dirty="0" err="1"/>
            <a:t>mobility</a:t>
          </a:r>
          <a:r>
            <a:rPr lang="fr-CH" sz="2000" dirty="0"/>
            <a:t> </a:t>
          </a:r>
          <a:r>
            <a:rPr lang="fr-CH" sz="2000" dirty="0" err="1"/>
            <a:t>shapes</a:t>
          </a:r>
          <a:r>
            <a:rPr lang="fr-CH" sz="2000" dirty="0"/>
            <a:t>)</a:t>
          </a:r>
          <a:endParaRPr lang="en-US" sz="2000" dirty="0"/>
        </a:p>
      </dgm:t>
    </dgm:pt>
    <dgm:pt modelId="{B2F725CF-E266-4785-A60F-B2DFB20F05FF}" type="parTrans" cxnId="{8BEE4CFB-C7E5-4B83-9139-EA0C3E2FA37B}">
      <dgm:prSet/>
      <dgm:spPr/>
      <dgm:t>
        <a:bodyPr/>
        <a:lstStyle/>
        <a:p>
          <a:endParaRPr lang="en-US" sz="2000"/>
        </a:p>
      </dgm:t>
    </dgm:pt>
    <dgm:pt modelId="{8E8FBB87-05BE-4819-88DE-3D62EAC3E751}" type="sibTrans" cxnId="{8BEE4CFB-C7E5-4B83-9139-EA0C3E2FA37B}">
      <dgm:prSet/>
      <dgm:spPr/>
      <dgm:t>
        <a:bodyPr/>
        <a:lstStyle/>
        <a:p>
          <a:endParaRPr lang="en-US" sz="2000"/>
        </a:p>
      </dgm:t>
    </dgm:pt>
    <dgm:pt modelId="{4B1E9948-2C1F-48C7-9BF9-20B8B7DAEB5F}">
      <dgm:prSet custT="1"/>
      <dgm:spPr/>
      <dgm:t>
        <a:bodyPr/>
        <a:lstStyle/>
        <a:p>
          <a:r>
            <a:rPr lang="fr-CH" sz="2000" dirty="0" err="1"/>
            <a:t>Join</a:t>
          </a:r>
          <a:r>
            <a:rPr lang="fr-CH" sz="2000" dirty="0"/>
            <a:t> </a:t>
          </a:r>
          <a:r>
            <a:rPr lang="fr-CH" sz="2000" dirty="0" err="1"/>
            <a:t>both</a:t>
          </a:r>
          <a:r>
            <a:rPr lang="fr-CH" sz="2000" dirty="0"/>
            <a:t> </a:t>
          </a:r>
          <a:r>
            <a:rPr lang="fr-CH" sz="2000" dirty="0" err="1"/>
            <a:t>datasets</a:t>
          </a:r>
          <a:r>
            <a:rPr lang="fr-CH" sz="2000" dirty="0"/>
            <a:t> </a:t>
          </a:r>
          <a:endParaRPr lang="en-US" sz="2000" dirty="0"/>
        </a:p>
      </dgm:t>
    </dgm:pt>
    <dgm:pt modelId="{209C82A6-A847-4401-95BD-B70D8C180633}" type="parTrans" cxnId="{327CA09F-05CE-4202-9582-3D4D816260FB}">
      <dgm:prSet/>
      <dgm:spPr/>
      <dgm:t>
        <a:bodyPr/>
        <a:lstStyle/>
        <a:p>
          <a:endParaRPr lang="en-US" sz="2000"/>
        </a:p>
      </dgm:t>
    </dgm:pt>
    <dgm:pt modelId="{E55ED0DF-D70F-4199-A2A4-04EB4B2367CB}" type="sibTrans" cxnId="{327CA09F-05CE-4202-9582-3D4D816260FB}">
      <dgm:prSet/>
      <dgm:spPr/>
      <dgm:t>
        <a:bodyPr/>
        <a:lstStyle/>
        <a:p>
          <a:endParaRPr lang="en-US" sz="2000"/>
        </a:p>
      </dgm:t>
    </dgm:pt>
    <dgm:pt modelId="{A40C8A38-7AAB-4A1C-B39A-DBED66B60A11}">
      <dgm:prSet custT="1"/>
      <dgm:spPr/>
      <dgm:t>
        <a:bodyPr/>
        <a:lstStyle/>
        <a:p>
          <a:r>
            <a:rPr lang="fr-CH" sz="2000" dirty="0" err="1"/>
            <a:t>Analysis</a:t>
          </a:r>
          <a:r>
            <a:rPr lang="fr-CH" sz="2000" dirty="0"/>
            <a:t> and computation of </a:t>
          </a:r>
          <a:r>
            <a:rPr lang="fr-CH" sz="2000" dirty="0" err="1"/>
            <a:t>theoretical</a:t>
          </a:r>
          <a:r>
            <a:rPr lang="fr-CH" sz="2000" dirty="0"/>
            <a:t> </a:t>
          </a:r>
          <a:r>
            <a:rPr lang="fr-CH" sz="2000" dirty="0" err="1"/>
            <a:t>accessibility</a:t>
          </a:r>
          <a:r>
            <a:rPr lang="fr-CH" sz="2000" dirty="0"/>
            <a:t> and </a:t>
          </a:r>
          <a:r>
            <a:rPr lang="fr-CH" sz="2000" dirty="0" err="1"/>
            <a:t>practical</a:t>
          </a:r>
          <a:r>
            <a:rPr lang="fr-CH" sz="2000" dirty="0"/>
            <a:t> </a:t>
          </a:r>
          <a:r>
            <a:rPr lang="fr-CH" sz="2000" dirty="0" err="1"/>
            <a:t>mobility</a:t>
          </a:r>
          <a:endParaRPr lang="en-US" sz="2000" dirty="0"/>
        </a:p>
      </dgm:t>
    </dgm:pt>
    <dgm:pt modelId="{E5A7B580-C647-42C1-94EA-2AD96FD66632}" type="parTrans" cxnId="{1ECB5511-AEE1-4BBA-B91B-D516215FE7D6}">
      <dgm:prSet/>
      <dgm:spPr/>
      <dgm:t>
        <a:bodyPr/>
        <a:lstStyle/>
        <a:p>
          <a:endParaRPr lang="en-US" sz="2000"/>
        </a:p>
      </dgm:t>
    </dgm:pt>
    <dgm:pt modelId="{30FCC906-E4C0-41AD-A5E6-88449F9BC921}" type="sibTrans" cxnId="{1ECB5511-AEE1-4BBA-B91B-D516215FE7D6}">
      <dgm:prSet/>
      <dgm:spPr/>
      <dgm:t>
        <a:bodyPr/>
        <a:lstStyle/>
        <a:p>
          <a:endParaRPr lang="en-US" sz="2000"/>
        </a:p>
      </dgm:t>
    </dgm:pt>
    <dgm:pt modelId="{9C10C83C-4CC6-4F15-8AF1-7FD6A002DF74}">
      <dgm:prSet custT="1"/>
      <dgm:spPr/>
      <dgm:t>
        <a:bodyPr/>
        <a:lstStyle/>
        <a:p>
          <a:r>
            <a:rPr lang="fr-CH" sz="2000" dirty="0" err="1"/>
            <a:t>Results</a:t>
          </a:r>
          <a:r>
            <a:rPr lang="fr-CH" sz="2000" dirty="0"/>
            <a:t> visualisation</a:t>
          </a:r>
          <a:endParaRPr lang="en-US" sz="2000" dirty="0"/>
        </a:p>
      </dgm:t>
    </dgm:pt>
    <dgm:pt modelId="{94AAFD55-CB7E-4451-A6C0-1C474555A3A7}" type="parTrans" cxnId="{2037D8ED-C68E-4416-A81A-988785FE4213}">
      <dgm:prSet/>
      <dgm:spPr/>
      <dgm:t>
        <a:bodyPr/>
        <a:lstStyle/>
        <a:p>
          <a:endParaRPr lang="en-US" sz="2000"/>
        </a:p>
      </dgm:t>
    </dgm:pt>
    <dgm:pt modelId="{9D13E348-B2C6-429B-8C6A-041A56D697BD}" type="sibTrans" cxnId="{2037D8ED-C68E-4416-A81A-988785FE4213}">
      <dgm:prSet/>
      <dgm:spPr/>
      <dgm:t>
        <a:bodyPr/>
        <a:lstStyle/>
        <a:p>
          <a:endParaRPr lang="en-US" sz="2000"/>
        </a:p>
      </dgm:t>
    </dgm:pt>
    <dgm:pt modelId="{2DC07872-A69E-402A-96DD-C56028D57122}" type="pres">
      <dgm:prSet presAssocID="{72C74514-7E59-43DD-81F2-44D5759C1824}" presName="linear" presStyleCnt="0">
        <dgm:presLayoutVars>
          <dgm:animLvl val="lvl"/>
          <dgm:resizeHandles val="exact"/>
        </dgm:presLayoutVars>
      </dgm:prSet>
      <dgm:spPr/>
    </dgm:pt>
    <dgm:pt modelId="{246B3F6D-7E01-4EA4-AD38-6D0AD826CB2B}" type="pres">
      <dgm:prSet presAssocID="{12C6A796-E05E-4109-83A5-CA6732F07DCC}" presName="parentText" presStyleLbl="node1" presStyleIdx="0" presStyleCnt="7" custLinFactNeighborX="-573" custLinFactNeighborY="28403">
        <dgm:presLayoutVars>
          <dgm:chMax val="0"/>
          <dgm:bulletEnabled val="1"/>
        </dgm:presLayoutVars>
      </dgm:prSet>
      <dgm:spPr/>
    </dgm:pt>
    <dgm:pt modelId="{41FFD712-3018-4F8A-87A9-F9938E32B3BA}" type="pres">
      <dgm:prSet presAssocID="{13D06279-7FFC-4E91-975B-C5F631451C36}" presName="spacer" presStyleCnt="0"/>
      <dgm:spPr/>
    </dgm:pt>
    <dgm:pt modelId="{1492B98B-63EB-43A1-8A5D-476D085DE6CB}" type="pres">
      <dgm:prSet presAssocID="{41B0F318-681F-480C-ACBE-4C24B27636D0}" presName="parentText" presStyleLbl="node1" presStyleIdx="1" presStyleCnt="7">
        <dgm:presLayoutVars>
          <dgm:chMax val="0"/>
          <dgm:bulletEnabled val="1"/>
        </dgm:presLayoutVars>
      </dgm:prSet>
      <dgm:spPr/>
    </dgm:pt>
    <dgm:pt modelId="{98513353-E4E7-475B-B9F1-9C2D00380F56}" type="pres">
      <dgm:prSet presAssocID="{207A3D5B-4122-4CE8-B141-67DFCED8E158}" presName="spacer" presStyleCnt="0"/>
      <dgm:spPr/>
    </dgm:pt>
    <dgm:pt modelId="{0226B3E9-17B7-42EC-B955-CDCAEF4B2B67}" type="pres">
      <dgm:prSet presAssocID="{7157FA5E-C5A4-4039-9621-57EE8A1E448F}" presName="parentText" presStyleLbl="node1" presStyleIdx="2" presStyleCnt="7">
        <dgm:presLayoutVars>
          <dgm:chMax val="0"/>
          <dgm:bulletEnabled val="1"/>
        </dgm:presLayoutVars>
      </dgm:prSet>
      <dgm:spPr/>
    </dgm:pt>
    <dgm:pt modelId="{D3DEECF9-42A9-48EF-A0C8-AF0D7F16E2EA}" type="pres">
      <dgm:prSet presAssocID="{1E46E158-B5CD-4F93-9646-8137B2D6040A}" presName="spacer" presStyleCnt="0"/>
      <dgm:spPr/>
    </dgm:pt>
    <dgm:pt modelId="{97E83598-7549-4D53-BBE1-0E6AEBC831C5}" type="pres">
      <dgm:prSet presAssocID="{59572103-8EAB-4A50-AB21-192D24EA143A}" presName="parentText" presStyleLbl="node1" presStyleIdx="3" presStyleCnt="7">
        <dgm:presLayoutVars>
          <dgm:chMax val="0"/>
          <dgm:bulletEnabled val="1"/>
        </dgm:presLayoutVars>
      </dgm:prSet>
      <dgm:spPr/>
    </dgm:pt>
    <dgm:pt modelId="{8D81D927-B2FA-4A4B-B2D0-10300F7337DE}" type="pres">
      <dgm:prSet presAssocID="{8E8FBB87-05BE-4819-88DE-3D62EAC3E751}" presName="spacer" presStyleCnt="0"/>
      <dgm:spPr/>
    </dgm:pt>
    <dgm:pt modelId="{ED8365DF-6489-4474-AD72-A519E8BD5BF3}" type="pres">
      <dgm:prSet presAssocID="{4B1E9948-2C1F-48C7-9BF9-20B8B7DAEB5F}" presName="parentText" presStyleLbl="node1" presStyleIdx="4" presStyleCnt="7">
        <dgm:presLayoutVars>
          <dgm:chMax val="0"/>
          <dgm:bulletEnabled val="1"/>
        </dgm:presLayoutVars>
      </dgm:prSet>
      <dgm:spPr/>
    </dgm:pt>
    <dgm:pt modelId="{0DA84FBE-DDCE-42A0-A858-D691D521C2ED}" type="pres">
      <dgm:prSet presAssocID="{E55ED0DF-D70F-4199-A2A4-04EB4B2367CB}" presName="spacer" presStyleCnt="0"/>
      <dgm:spPr/>
    </dgm:pt>
    <dgm:pt modelId="{4600E2F4-4816-42E1-84E1-9746CD5EE6E1}" type="pres">
      <dgm:prSet presAssocID="{A40C8A38-7AAB-4A1C-B39A-DBED66B60A11}" presName="parentText" presStyleLbl="node1" presStyleIdx="5" presStyleCnt="7">
        <dgm:presLayoutVars>
          <dgm:chMax val="0"/>
          <dgm:bulletEnabled val="1"/>
        </dgm:presLayoutVars>
      </dgm:prSet>
      <dgm:spPr/>
    </dgm:pt>
    <dgm:pt modelId="{166791EB-AD0F-434E-8229-A35C8F8D8F23}" type="pres">
      <dgm:prSet presAssocID="{30FCC906-E4C0-41AD-A5E6-88449F9BC921}" presName="spacer" presStyleCnt="0"/>
      <dgm:spPr/>
    </dgm:pt>
    <dgm:pt modelId="{3DD9623C-BD4B-4DD5-BA45-58C18A024881}" type="pres">
      <dgm:prSet presAssocID="{9C10C83C-4CC6-4F15-8AF1-7FD6A002DF74}" presName="parentText" presStyleLbl="node1" presStyleIdx="6" presStyleCnt="7">
        <dgm:presLayoutVars>
          <dgm:chMax val="0"/>
          <dgm:bulletEnabled val="1"/>
        </dgm:presLayoutVars>
      </dgm:prSet>
      <dgm:spPr/>
    </dgm:pt>
  </dgm:ptLst>
  <dgm:cxnLst>
    <dgm:cxn modelId="{1ECB5511-AEE1-4BBA-B91B-D516215FE7D6}" srcId="{72C74514-7E59-43DD-81F2-44D5759C1824}" destId="{A40C8A38-7AAB-4A1C-B39A-DBED66B60A11}" srcOrd="5" destOrd="0" parTransId="{E5A7B580-C647-42C1-94EA-2AD96FD66632}" sibTransId="{30FCC906-E4C0-41AD-A5E6-88449F9BC921}"/>
    <dgm:cxn modelId="{B039D11B-C065-4DB7-9C3F-9C1F1452DDD1}" srcId="{72C74514-7E59-43DD-81F2-44D5759C1824}" destId="{12C6A796-E05E-4109-83A5-CA6732F07DCC}" srcOrd="0" destOrd="0" parTransId="{A758E241-A4DE-442B-90CA-0C9C5F9396E7}" sibTransId="{13D06279-7FFC-4E91-975B-C5F631451C36}"/>
    <dgm:cxn modelId="{F3787362-5CE9-48E2-99AE-A2FA95701E60}" srcId="{72C74514-7E59-43DD-81F2-44D5759C1824}" destId="{7157FA5E-C5A4-4039-9621-57EE8A1E448F}" srcOrd="2" destOrd="0" parTransId="{874C9894-94B6-42CC-B8D0-400E1D54079E}" sibTransId="{1E46E158-B5CD-4F93-9646-8137B2D6040A}"/>
    <dgm:cxn modelId="{E5A2F242-6C0F-452E-9348-36AAA3844FB6}" type="presOf" srcId="{59572103-8EAB-4A50-AB21-192D24EA143A}" destId="{97E83598-7549-4D53-BBE1-0E6AEBC831C5}" srcOrd="0" destOrd="0" presId="urn:microsoft.com/office/officeart/2005/8/layout/vList2"/>
    <dgm:cxn modelId="{CE80F663-3A3B-4D24-B6E6-0C77D0FB47EC}" type="presOf" srcId="{A40C8A38-7AAB-4A1C-B39A-DBED66B60A11}" destId="{4600E2F4-4816-42E1-84E1-9746CD5EE6E1}" srcOrd="0" destOrd="0" presId="urn:microsoft.com/office/officeart/2005/8/layout/vList2"/>
    <dgm:cxn modelId="{95C9FA46-ECF1-4D14-8548-452CDC7D2175}" srcId="{72C74514-7E59-43DD-81F2-44D5759C1824}" destId="{41B0F318-681F-480C-ACBE-4C24B27636D0}" srcOrd="1" destOrd="0" parTransId="{0D659330-D588-4B5E-A5C6-35292AF1DC95}" sibTransId="{207A3D5B-4122-4CE8-B141-67DFCED8E158}"/>
    <dgm:cxn modelId="{E714E36B-BA29-4B1C-A5A6-DC818E048543}" type="presOf" srcId="{72C74514-7E59-43DD-81F2-44D5759C1824}" destId="{2DC07872-A69E-402A-96DD-C56028D57122}" srcOrd="0" destOrd="0" presId="urn:microsoft.com/office/officeart/2005/8/layout/vList2"/>
    <dgm:cxn modelId="{676CAB7E-46F8-4503-A039-13561D369C78}" type="presOf" srcId="{12C6A796-E05E-4109-83A5-CA6732F07DCC}" destId="{246B3F6D-7E01-4EA4-AD38-6D0AD826CB2B}" srcOrd="0" destOrd="0" presId="urn:microsoft.com/office/officeart/2005/8/layout/vList2"/>
    <dgm:cxn modelId="{98AFD998-7383-4817-8CB5-6E3ABE5884B8}" type="presOf" srcId="{7157FA5E-C5A4-4039-9621-57EE8A1E448F}" destId="{0226B3E9-17B7-42EC-B955-CDCAEF4B2B67}" srcOrd="0" destOrd="0" presId="urn:microsoft.com/office/officeart/2005/8/layout/vList2"/>
    <dgm:cxn modelId="{327CA09F-05CE-4202-9582-3D4D816260FB}" srcId="{72C74514-7E59-43DD-81F2-44D5759C1824}" destId="{4B1E9948-2C1F-48C7-9BF9-20B8B7DAEB5F}" srcOrd="4" destOrd="0" parTransId="{209C82A6-A847-4401-95BD-B70D8C180633}" sibTransId="{E55ED0DF-D70F-4199-A2A4-04EB4B2367CB}"/>
    <dgm:cxn modelId="{D1A120A2-3773-4B16-A081-9D5685568011}" type="presOf" srcId="{4B1E9948-2C1F-48C7-9BF9-20B8B7DAEB5F}" destId="{ED8365DF-6489-4474-AD72-A519E8BD5BF3}" srcOrd="0" destOrd="0" presId="urn:microsoft.com/office/officeart/2005/8/layout/vList2"/>
    <dgm:cxn modelId="{0CE97AC5-ABE1-4091-9C68-7930E305F93D}" type="presOf" srcId="{9C10C83C-4CC6-4F15-8AF1-7FD6A002DF74}" destId="{3DD9623C-BD4B-4DD5-BA45-58C18A024881}" srcOrd="0" destOrd="0" presId="urn:microsoft.com/office/officeart/2005/8/layout/vList2"/>
    <dgm:cxn modelId="{484203CC-9915-4598-B3DC-D317ECE99FF9}" type="presOf" srcId="{41B0F318-681F-480C-ACBE-4C24B27636D0}" destId="{1492B98B-63EB-43A1-8A5D-476D085DE6CB}" srcOrd="0" destOrd="0" presId="urn:microsoft.com/office/officeart/2005/8/layout/vList2"/>
    <dgm:cxn modelId="{2037D8ED-C68E-4416-A81A-988785FE4213}" srcId="{72C74514-7E59-43DD-81F2-44D5759C1824}" destId="{9C10C83C-4CC6-4F15-8AF1-7FD6A002DF74}" srcOrd="6" destOrd="0" parTransId="{94AAFD55-CB7E-4451-A6C0-1C474555A3A7}" sibTransId="{9D13E348-B2C6-429B-8C6A-041A56D697BD}"/>
    <dgm:cxn modelId="{8BEE4CFB-C7E5-4B83-9139-EA0C3E2FA37B}" srcId="{72C74514-7E59-43DD-81F2-44D5759C1824}" destId="{59572103-8EAB-4A50-AB21-192D24EA143A}" srcOrd="3" destOrd="0" parTransId="{B2F725CF-E266-4785-A60F-B2DFB20F05FF}" sibTransId="{8E8FBB87-05BE-4819-88DE-3D62EAC3E751}"/>
    <dgm:cxn modelId="{1C2DFA0A-42E7-4CFD-9079-26EDE112FEA2}" type="presParOf" srcId="{2DC07872-A69E-402A-96DD-C56028D57122}" destId="{246B3F6D-7E01-4EA4-AD38-6D0AD826CB2B}" srcOrd="0" destOrd="0" presId="urn:microsoft.com/office/officeart/2005/8/layout/vList2"/>
    <dgm:cxn modelId="{4E0527D0-2581-42EA-9113-11C15978913A}" type="presParOf" srcId="{2DC07872-A69E-402A-96DD-C56028D57122}" destId="{41FFD712-3018-4F8A-87A9-F9938E32B3BA}" srcOrd="1" destOrd="0" presId="urn:microsoft.com/office/officeart/2005/8/layout/vList2"/>
    <dgm:cxn modelId="{963CA133-4267-4FD0-9C33-9C1E2022D06D}" type="presParOf" srcId="{2DC07872-A69E-402A-96DD-C56028D57122}" destId="{1492B98B-63EB-43A1-8A5D-476D085DE6CB}" srcOrd="2" destOrd="0" presId="urn:microsoft.com/office/officeart/2005/8/layout/vList2"/>
    <dgm:cxn modelId="{C8B643D3-18B9-47A7-BE97-FE6696DDB36C}" type="presParOf" srcId="{2DC07872-A69E-402A-96DD-C56028D57122}" destId="{98513353-E4E7-475B-B9F1-9C2D00380F56}" srcOrd="3" destOrd="0" presId="urn:microsoft.com/office/officeart/2005/8/layout/vList2"/>
    <dgm:cxn modelId="{D9871862-C74D-4C10-A979-8065D7835294}" type="presParOf" srcId="{2DC07872-A69E-402A-96DD-C56028D57122}" destId="{0226B3E9-17B7-42EC-B955-CDCAEF4B2B67}" srcOrd="4" destOrd="0" presId="urn:microsoft.com/office/officeart/2005/8/layout/vList2"/>
    <dgm:cxn modelId="{E1658604-B125-4EAB-9524-0467F3D418E9}" type="presParOf" srcId="{2DC07872-A69E-402A-96DD-C56028D57122}" destId="{D3DEECF9-42A9-48EF-A0C8-AF0D7F16E2EA}" srcOrd="5" destOrd="0" presId="urn:microsoft.com/office/officeart/2005/8/layout/vList2"/>
    <dgm:cxn modelId="{48513E78-8140-4294-818F-12E544F4AA28}" type="presParOf" srcId="{2DC07872-A69E-402A-96DD-C56028D57122}" destId="{97E83598-7549-4D53-BBE1-0E6AEBC831C5}" srcOrd="6" destOrd="0" presId="urn:microsoft.com/office/officeart/2005/8/layout/vList2"/>
    <dgm:cxn modelId="{55AE8177-46A0-4C10-8236-B1CEABEDF7E5}" type="presParOf" srcId="{2DC07872-A69E-402A-96DD-C56028D57122}" destId="{8D81D927-B2FA-4A4B-B2D0-10300F7337DE}" srcOrd="7" destOrd="0" presId="urn:microsoft.com/office/officeart/2005/8/layout/vList2"/>
    <dgm:cxn modelId="{AD8B4F1F-C96C-49B9-9064-ED74B11306E1}" type="presParOf" srcId="{2DC07872-A69E-402A-96DD-C56028D57122}" destId="{ED8365DF-6489-4474-AD72-A519E8BD5BF3}" srcOrd="8" destOrd="0" presId="urn:microsoft.com/office/officeart/2005/8/layout/vList2"/>
    <dgm:cxn modelId="{DA08E024-C7EE-4C11-8FD6-87761953B78B}" type="presParOf" srcId="{2DC07872-A69E-402A-96DD-C56028D57122}" destId="{0DA84FBE-DDCE-42A0-A858-D691D521C2ED}" srcOrd="9" destOrd="0" presId="urn:microsoft.com/office/officeart/2005/8/layout/vList2"/>
    <dgm:cxn modelId="{ABCCB9E7-5916-40CA-A657-8E7447B7116B}" type="presParOf" srcId="{2DC07872-A69E-402A-96DD-C56028D57122}" destId="{4600E2F4-4816-42E1-84E1-9746CD5EE6E1}" srcOrd="10" destOrd="0" presId="urn:microsoft.com/office/officeart/2005/8/layout/vList2"/>
    <dgm:cxn modelId="{5A4F766A-DDAC-4755-85EA-69D89DCF6A19}" type="presParOf" srcId="{2DC07872-A69E-402A-96DD-C56028D57122}" destId="{166791EB-AD0F-434E-8229-A35C8F8D8F23}" srcOrd="11" destOrd="0" presId="urn:microsoft.com/office/officeart/2005/8/layout/vList2"/>
    <dgm:cxn modelId="{34D42594-0F56-4F41-AD6C-AF86F21609E7}" type="presParOf" srcId="{2DC07872-A69E-402A-96DD-C56028D57122}" destId="{3DD9623C-BD4B-4DD5-BA45-58C18A024881}" srcOrd="1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6B3F6D-7E01-4EA4-AD38-6D0AD826CB2B}">
      <dsp:nvSpPr>
        <dsp:cNvPr id="0" name=""/>
        <dsp:cNvSpPr/>
      </dsp:nvSpPr>
      <dsp:spPr>
        <a:xfrm>
          <a:off x="0" y="3160"/>
          <a:ext cx="10515600" cy="61215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a:t>Collection of data of  </a:t>
          </a:r>
          <a:r>
            <a:rPr lang="fr-CH" sz="2000" kern="1200" dirty="0" err="1"/>
            <a:t>trajectory</a:t>
          </a:r>
          <a:r>
            <a:rPr lang="fr-CH" sz="2000" kern="1200" dirty="0"/>
            <a:t>  (google </a:t>
          </a:r>
          <a:r>
            <a:rPr lang="fr-CH" sz="2000" kern="1200" dirty="0" err="1"/>
            <a:t>maps</a:t>
          </a:r>
          <a:r>
            <a:rPr lang="fr-CH" sz="2000" kern="1200" dirty="0"/>
            <a:t>) </a:t>
          </a:r>
          <a:endParaRPr lang="en-US" sz="2000" kern="1200" dirty="0"/>
        </a:p>
      </dsp:txBody>
      <dsp:txXfrm>
        <a:off x="29883" y="33043"/>
        <a:ext cx="10455834" cy="552384"/>
      </dsp:txXfrm>
    </dsp:sp>
    <dsp:sp modelId="{1492B98B-63EB-43A1-8A5D-476D085DE6CB}">
      <dsp:nvSpPr>
        <dsp:cNvPr id="0" name=""/>
        <dsp:cNvSpPr/>
      </dsp:nvSpPr>
      <dsp:spPr>
        <a:xfrm>
          <a:off x="0" y="623214"/>
          <a:ext cx="10515600" cy="61215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Creation</a:t>
          </a:r>
          <a:r>
            <a:rPr lang="fr-CH" sz="2000" kern="1200" dirty="0"/>
            <a:t> of isochrones (15-minute </a:t>
          </a:r>
          <a:r>
            <a:rPr lang="fr-CH" sz="2000" kern="1200" dirty="0" err="1"/>
            <a:t>accesibility</a:t>
          </a:r>
          <a:r>
            <a:rPr lang="fr-CH" sz="2000" kern="1200" dirty="0"/>
            <a:t> zones)</a:t>
          </a:r>
          <a:endParaRPr lang="en-US" sz="2000" kern="1200" dirty="0"/>
        </a:p>
      </dsp:txBody>
      <dsp:txXfrm>
        <a:off x="29883" y="653097"/>
        <a:ext cx="10455834" cy="552384"/>
      </dsp:txXfrm>
    </dsp:sp>
    <dsp:sp modelId="{0226B3E9-17B7-42EC-B955-CDCAEF4B2B67}">
      <dsp:nvSpPr>
        <dsp:cNvPr id="0" name=""/>
        <dsp:cNvSpPr/>
      </dsp:nvSpPr>
      <dsp:spPr>
        <a:xfrm>
          <a:off x="0" y="1246404"/>
          <a:ext cx="10515600" cy="61215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Detection</a:t>
          </a:r>
          <a:r>
            <a:rPr lang="fr-CH" sz="2000" kern="1200" dirty="0"/>
            <a:t> of point of </a:t>
          </a:r>
          <a:r>
            <a:rPr lang="fr-CH" sz="2000" kern="1200" dirty="0" err="1"/>
            <a:t>interests</a:t>
          </a:r>
          <a:r>
            <a:rPr lang="fr-CH" sz="2000" kern="1200" dirty="0"/>
            <a:t> (POI) </a:t>
          </a:r>
          <a:endParaRPr lang="en-US" sz="2000" kern="1200" dirty="0"/>
        </a:p>
      </dsp:txBody>
      <dsp:txXfrm>
        <a:off x="29883" y="1276287"/>
        <a:ext cx="10455834" cy="552384"/>
      </dsp:txXfrm>
    </dsp:sp>
    <dsp:sp modelId="{97E83598-7549-4D53-BBE1-0E6AEBC831C5}">
      <dsp:nvSpPr>
        <dsp:cNvPr id="0" name=""/>
        <dsp:cNvSpPr/>
      </dsp:nvSpPr>
      <dsp:spPr>
        <a:xfrm>
          <a:off x="0" y="1869593"/>
          <a:ext cx="10515600" cy="61215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Preprocessing</a:t>
          </a:r>
          <a:r>
            <a:rPr lang="fr-CH" sz="2000" kern="1200" dirty="0"/>
            <a:t> of </a:t>
          </a:r>
          <a:r>
            <a:rPr lang="fr-CH" sz="2000" kern="1200" dirty="0" err="1"/>
            <a:t>collected</a:t>
          </a:r>
          <a:r>
            <a:rPr lang="fr-CH" sz="2000" kern="1200" dirty="0"/>
            <a:t> data (segmentation, </a:t>
          </a:r>
          <a:r>
            <a:rPr lang="fr-CH" sz="2000" kern="1200" dirty="0" err="1"/>
            <a:t>categorization</a:t>
          </a:r>
          <a:r>
            <a:rPr lang="fr-CH" sz="2000" kern="1200" dirty="0"/>
            <a:t> of </a:t>
          </a:r>
          <a:r>
            <a:rPr lang="fr-CH" sz="2000" kern="1200" dirty="0" err="1"/>
            <a:t>visited</a:t>
          </a:r>
          <a:r>
            <a:rPr lang="fr-CH" sz="2000" kern="1200" dirty="0"/>
            <a:t> points, </a:t>
          </a:r>
          <a:r>
            <a:rPr lang="fr-CH" sz="2000" kern="1200" dirty="0" err="1"/>
            <a:t>mobility</a:t>
          </a:r>
          <a:r>
            <a:rPr lang="fr-CH" sz="2000" kern="1200" dirty="0"/>
            <a:t> </a:t>
          </a:r>
          <a:r>
            <a:rPr lang="fr-CH" sz="2000" kern="1200" dirty="0" err="1"/>
            <a:t>shapes</a:t>
          </a:r>
          <a:r>
            <a:rPr lang="fr-CH" sz="2000" kern="1200" dirty="0"/>
            <a:t>)</a:t>
          </a:r>
          <a:endParaRPr lang="en-US" sz="2000" kern="1200" dirty="0"/>
        </a:p>
      </dsp:txBody>
      <dsp:txXfrm>
        <a:off x="29883" y="1899476"/>
        <a:ext cx="10455834" cy="552384"/>
      </dsp:txXfrm>
    </dsp:sp>
    <dsp:sp modelId="{ED8365DF-6489-4474-AD72-A519E8BD5BF3}">
      <dsp:nvSpPr>
        <dsp:cNvPr id="0" name=""/>
        <dsp:cNvSpPr/>
      </dsp:nvSpPr>
      <dsp:spPr>
        <a:xfrm>
          <a:off x="0" y="2492783"/>
          <a:ext cx="10515600" cy="61215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Join</a:t>
          </a:r>
          <a:r>
            <a:rPr lang="fr-CH" sz="2000" kern="1200" dirty="0"/>
            <a:t> </a:t>
          </a:r>
          <a:r>
            <a:rPr lang="fr-CH" sz="2000" kern="1200" dirty="0" err="1"/>
            <a:t>both</a:t>
          </a:r>
          <a:r>
            <a:rPr lang="fr-CH" sz="2000" kern="1200" dirty="0"/>
            <a:t> </a:t>
          </a:r>
          <a:r>
            <a:rPr lang="fr-CH" sz="2000" kern="1200" dirty="0" err="1"/>
            <a:t>datasets</a:t>
          </a:r>
          <a:r>
            <a:rPr lang="fr-CH" sz="2000" kern="1200" dirty="0"/>
            <a:t> </a:t>
          </a:r>
          <a:endParaRPr lang="en-US" sz="2000" kern="1200" dirty="0"/>
        </a:p>
      </dsp:txBody>
      <dsp:txXfrm>
        <a:off x="29883" y="2522666"/>
        <a:ext cx="10455834" cy="552384"/>
      </dsp:txXfrm>
    </dsp:sp>
    <dsp:sp modelId="{4600E2F4-4816-42E1-84E1-9746CD5EE6E1}">
      <dsp:nvSpPr>
        <dsp:cNvPr id="0" name=""/>
        <dsp:cNvSpPr/>
      </dsp:nvSpPr>
      <dsp:spPr>
        <a:xfrm>
          <a:off x="0" y="3115972"/>
          <a:ext cx="10515600" cy="61215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Analysis</a:t>
          </a:r>
          <a:r>
            <a:rPr lang="fr-CH" sz="2000" kern="1200" dirty="0"/>
            <a:t> and computation of </a:t>
          </a:r>
          <a:r>
            <a:rPr lang="fr-CH" sz="2000" kern="1200" dirty="0" err="1"/>
            <a:t>theoretical</a:t>
          </a:r>
          <a:r>
            <a:rPr lang="fr-CH" sz="2000" kern="1200" dirty="0"/>
            <a:t> </a:t>
          </a:r>
          <a:r>
            <a:rPr lang="fr-CH" sz="2000" kern="1200" dirty="0" err="1"/>
            <a:t>accessibility</a:t>
          </a:r>
          <a:r>
            <a:rPr lang="fr-CH" sz="2000" kern="1200" dirty="0"/>
            <a:t> and </a:t>
          </a:r>
          <a:r>
            <a:rPr lang="fr-CH" sz="2000" kern="1200" dirty="0" err="1"/>
            <a:t>practical</a:t>
          </a:r>
          <a:r>
            <a:rPr lang="fr-CH" sz="2000" kern="1200" dirty="0"/>
            <a:t> </a:t>
          </a:r>
          <a:r>
            <a:rPr lang="fr-CH" sz="2000" kern="1200" dirty="0" err="1"/>
            <a:t>mobility</a:t>
          </a:r>
          <a:endParaRPr lang="en-US" sz="2000" kern="1200" dirty="0"/>
        </a:p>
      </dsp:txBody>
      <dsp:txXfrm>
        <a:off x="29883" y="3145855"/>
        <a:ext cx="10455834" cy="552384"/>
      </dsp:txXfrm>
    </dsp:sp>
    <dsp:sp modelId="{3DD9623C-BD4B-4DD5-BA45-58C18A024881}">
      <dsp:nvSpPr>
        <dsp:cNvPr id="0" name=""/>
        <dsp:cNvSpPr/>
      </dsp:nvSpPr>
      <dsp:spPr>
        <a:xfrm>
          <a:off x="0" y="3739162"/>
          <a:ext cx="10515600" cy="61215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Results</a:t>
          </a:r>
          <a:r>
            <a:rPr lang="fr-CH" sz="2000" kern="1200" dirty="0"/>
            <a:t> visualisation</a:t>
          </a:r>
          <a:endParaRPr lang="en-US" sz="2000" kern="1200" dirty="0"/>
        </a:p>
      </dsp:txBody>
      <dsp:txXfrm>
        <a:off x="29883" y="3769045"/>
        <a:ext cx="10455834" cy="55238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5DE65-3C02-ACB7-84CB-6679445174D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fr-CH"/>
          </a:p>
        </p:txBody>
      </p:sp>
      <p:sp>
        <p:nvSpPr>
          <p:cNvPr id="3" name="Subtitle 2">
            <a:extLst>
              <a:ext uri="{FF2B5EF4-FFF2-40B4-BE49-F238E27FC236}">
                <a16:creationId xmlns:a16="http://schemas.microsoft.com/office/drawing/2014/main" id="{85B91BA7-428F-AC76-4503-EB039D1311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fr-CH"/>
          </a:p>
        </p:txBody>
      </p:sp>
      <p:sp>
        <p:nvSpPr>
          <p:cNvPr id="4" name="Date Placeholder 3">
            <a:extLst>
              <a:ext uri="{FF2B5EF4-FFF2-40B4-BE49-F238E27FC236}">
                <a16:creationId xmlns:a16="http://schemas.microsoft.com/office/drawing/2014/main" id="{482333F7-75C4-0A69-336E-1FE89614A68C}"/>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F8F56C23-E522-0422-DCE1-98F990755DF5}"/>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1CAABE4-B81A-4329-1B2A-1482D9AB2E27}"/>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46499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A01A-0CA4-B54A-D8C3-46788D45D5FB}"/>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9421174B-95BA-E488-5679-FC07502A37A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17AA41B-8A38-2628-1D4E-FCB8AC88FE4F}"/>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4A699C63-D822-9BAD-4952-47AA00CAED6F}"/>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95E69B8-DC76-3165-296B-2FC7B2066FA6}"/>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45044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12A6E-7DB6-55FD-EA8B-38155DCFCAC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fr-CH"/>
          </a:p>
        </p:txBody>
      </p:sp>
      <p:sp>
        <p:nvSpPr>
          <p:cNvPr id="3" name="Text Placeholder 2">
            <a:extLst>
              <a:ext uri="{FF2B5EF4-FFF2-40B4-BE49-F238E27FC236}">
                <a16:creationId xmlns:a16="http://schemas.microsoft.com/office/drawing/2014/main" id="{66F2F25E-6139-FEB0-3827-0A73A86B6E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6B52E1E-67BA-83CA-CB28-13247FAB576C}"/>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2A00FAD4-1957-BC3C-937B-9FE0441688E6}"/>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E40A9E41-CD99-8F89-640E-F95FC0D25C8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161508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CACA-1ECE-818D-21B6-1B396DF9D5EA}"/>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E5E124A1-7879-DF5D-E21A-E7D8094076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Content Placeholder 3">
            <a:extLst>
              <a:ext uri="{FF2B5EF4-FFF2-40B4-BE49-F238E27FC236}">
                <a16:creationId xmlns:a16="http://schemas.microsoft.com/office/drawing/2014/main" id="{F7B9DF7C-EE99-81B1-E2C7-4275AAED81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Date Placeholder 4">
            <a:extLst>
              <a:ext uri="{FF2B5EF4-FFF2-40B4-BE49-F238E27FC236}">
                <a16:creationId xmlns:a16="http://schemas.microsoft.com/office/drawing/2014/main" id="{9CE07D51-6C22-0FC7-F634-4C356F954231}"/>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6" name="Footer Placeholder 5">
            <a:extLst>
              <a:ext uri="{FF2B5EF4-FFF2-40B4-BE49-F238E27FC236}">
                <a16:creationId xmlns:a16="http://schemas.microsoft.com/office/drawing/2014/main" id="{A5C5EED7-74D9-2837-72B8-1CF695C65630}"/>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90BA67FB-28BF-9CCB-E6C3-A62F05D2E9A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24162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64B9-ABAD-9C95-D918-24C1AD14718C}"/>
              </a:ext>
            </a:extLst>
          </p:cNvPr>
          <p:cNvSpPr>
            <a:spLocks noGrp="1"/>
          </p:cNvSpPr>
          <p:nvPr>
            <p:ph type="title"/>
          </p:nvPr>
        </p:nvSpPr>
        <p:spPr>
          <a:xfrm>
            <a:off x="839788" y="365125"/>
            <a:ext cx="10515600" cy="1325563"/>
          </a:xfrm>
        </p:spPr>
        <p:txBody>
          <a:bodyPr/>
          <a:lstStyle/>
          <a:p>
            <a:r>
              <a:rPr lang="en-GB"/>
              <a:t>Click to edit Master title style</a:t>
            </a:r>
            <a:endParaRPr lang="fr-CH"/>
          </a:p>
        </p:txBody>
      </p:sp>
      <p:sp>
        <p:nvSpPr>
          <p:cNvPr id="3" name="Text Placeholder 2">
            <a:extLst>
              <a:ext uri="{FF2B5EF4-FFF2-40B4-BE49-F238E27FC236}">
                <a16:creationId xmlns:a16="http://schemas.microsoft.com/office/drawing/2014/main" id="{7EF2D5C3-1961-010A-AB60-2D257B9A3B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2E7A39-375E-A78E-4CF6-A8AC463DB59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Text Placeholder 4">
            <a:extLst>
              <a:ext uri="{FF2B5EF4-FFF2-40B4-BE49-F238E27FC236}">
                <a16:creationId xmlns:a16="http://schemas.microsoft.com/office/drawing/2014/main" id="{DC1113D9-9CC8-BB5E-8DB7-F3E5528E9D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52DAFC1-F3F9-BA2E-78C2-C903313C8D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7" name="Date Placeholder 6">
            <a:extLst>
              <a:ext uri="{FF2B5EF4-FFF2-40B4-BE49-F238E27FC236}">
                <a16:creationId xmlns:a16="http://schemas.microsoft.com/office/drawing/2014/main" id="{07D488F3-FEAE-092E-85B4-2968CEE1F256}"/>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8" name="Footer Placeholder 7">
            <a:extLst>
              <a:ext uri="{FF2B5EF4-FFF2-40B4-BE49-F238E27FC236}">
                <a16:creationId xmlns:a16="http://schemas.microsoft.com/office/drawing/2014/main" id="{435876B3-B4D9-16B3-87F3-063E9B92A476}"/>
              </a:ext>
            </a:extLst>
          </p:cNvPr>
          <p:cNvSpPr>
            <a:spLocks noGrp="1"/>
          </p:cNvSpPr>
          <p:nvPr>
            <p:ph type="ftr" sz="quarter" idx="11"/>
          </p:nvPr>
        </p:nvSpPr>
        <p:spPr/>
        <p:txBody>
          <a:bodyPr/>
          <a:lstStyle/>
          <a:p>
            <a:endParaRPr lang="fr-CH"/>
          </a:p>
        </p:txBody>
      </p:sp>
      <p:sp>
        <p:nvSpPr>
          <p:cNvPr id="9" name="Slide Number Placeholder 8">
            <a:extLst>
              <a:ext uri="{FF2B5EF4-FFF2-40B4-BE49-F238E27FC236}">
                <a16:creationId xmlns:a16="http://schemas.microsoft.com/office/drawing/2014/main" id="{63160D13-615C-598D-F0BA-2A4F62E6CFCC}"/>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44701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B490-9F6B-2B0F-52F9-1CB627207310}"/>
              </a:ext>
            </a:extLst>
          </p:cNvPr>
          <p:cNvSpPr>
            <a:spLocks noGrp="1"/>
          </p:cNvSpPr>
          <p:nvPr>
            <p:ph type="title"/>
          </p:nvPr>
        </p:nvSpPr>
        <p:spPr/>
        <p:txBody>
          <a:bodyPr/>
          <a:lstStyle/>
          <a:p>
            <a:r>
              <a:rPr lang="en-GB"/>
              <a:t>Click to edit Master title style</a:t>
            </a:r>
            <a:endParaRPr lang="fr-CH"/>
          </a:p>
        </p:txBody>
      </p:sp>
      <p:sp>
        <p:nvSpPr>
          <p:cNvPr id="3" name="Date Placeholder 2">
            <a:extLst>
              <a:ext uri="{FF2B5EF4-FFF2-40B4-BE49-F238E27FC236}">
                <a16:creationId xmlns:a16="http://schemas.microsoft.com/office/drawing/2014/main" id="{D903F62A-09C4-DAEF-1658-9981A22E1E58}"/>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4" name="Footer Placeholder 3">
            <a:extLst>
              <a:ext uri="{FF2B5EF4-FFF2-40B4-BE49-F238E27FC236}">
                <a16:creationId xmlns:a16="http://schemas.microsoft.com/office/drawing/2014/main" id="{41D7F2CD-A8DB-B371-FA1A-3F26DC536AE6}"/>
              </a:ext>
            </a:extLst>
          </p:cNvPr>
          <p:cNvSpPr>
            <a:spLocks noGrp="1"/>
          </p:cNvSpPr>
          <p:nvPr>
            <p:ph type="ftr" sz="quarter" idx="11"/>
          </p:nvPr>
        </p:nvSpPr>
        <p:spPr/>
        <p:txBody>
          <a:bodyPr/>
          <a:lstStyle/>
          <a:p>
            <a:endParaRPr lang="fr-CH"/>
          </a:p>
        </p:txBody>
      </p:sp>
      <p:sp>
        <p:nvSpPr>
          <p:cNvPr id="5" name="Slide Number Placeholder 4">
            <a:extLst>
              <a:ext uri="{FF2B5EF4-FFF2-40B4-BE49-F238E27FC236}">
                <a16:creationId xmlns:a16="http://schemas.microsoft.com/office/drawing/2014/main" id="{BF2260BB-DDC7-146F-DE68-1D0917B94581}"/>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096166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4FE9B6-9034-FCCA-F58C-EBF8DF97FCDA}"/>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3" name="Footer Placeholder 2">
            <a:extLst>
              <a:ext uri="{FF2B5EF4-FFF2-40B4-BE49-F238E27FC236}">
                <a16:creationId xmlns:a16="http://schemas.microsoft.com/office/drawing/2014/main" id="{13CC75D7-CEF5-D8A2-4056-74FD8647EDBC}"/>
              </a:ext>
            </a:extLst>
          </p:cNvPr>
          <p:cNvSpPr>
            <a:spLocks noGrp="1"/>
          </p:cNvSpPr>
          <p:nvPr>
            <p:ph type="ftr" sz="quarter" idx="11"/>
          </p:nvPr>
        </p:nvSpPr>
        <p:spPr/>
        <p:txBody>
          <a:bodyPr/>
          <a:lstStyle/>
          <a:p>
            <a:endParaRPr lang="fr-CH"/>
          </a:p>
        </p:txBody>
      </p:sp>
      <p:sp>
        <p:nvSpPr>
          <p:cNvPr id="4" name="Slide Number Placeholder 3">
            <a:extLst>
              <a:ext uri="{FF2B5EF4-FFF2-40B4-BE49-F238E27FC236}">
                <a16:creationId xmlns:a16="http://schemas.microsoft.com/office/drawing/2014/main" id="{614F97B9-6CF7-7BDA-6533-331941D97709}"/>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274916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C59F7-C169-4149-2624-366B13BCE9D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Content Placeholder 2">
            <a:extLst>
              <a:ext uri="{FF2B5EF4-FFF2-40B4-BE49-F238E27FC236}">
                <a16:creationId xmlns:a16="http://schemas.microsoft.com/office/drawing/2014/main" id="{8E559975-E51A-DBA4-CDBA-396A29F231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Text Placeholder 3">
            <a:extLst>
              <a:ext uri="{FF2B5EF4-FFF2-40B4-BE49-F238E27FC236}">
                <a16:creationId xmlns:a16="http://schemas.microsoft.com/office/drawing/2014/main" id="{5D08576E-5CF4-6FB1-D72F-3381A2BA2E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48F4847-E872-9D0F-000C-5215F528F409}"/>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6" name="Footer Placeholder 5">
            <a:extLst>
              <a:ext uri="{FF2B5EF4-FFF2-40B4-BE49-F238E27FC236}">
                <a16:creationId xmlns:a16="http://schemas.microsoft.com/office/drawing/2014/main" id="{E06DA340-3352-E4AF-5ADB-7382F53B7C5D}"/>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490F3877-B3F0-4515-28A6-7F46FDCB480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3106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44EF9-FBBD-B425-C646-B88262D1E28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Picture Placeholder 2">
            <a:extLst>
              <a:ext uri="{FF2B5EF4-FFF2-40B4-BE49-F238E27FC236}">
                <a16:creationId xmlns:a16="http://schemas.microsoft.com/office/drawing/2014/main" id="{2208ED01-7441-6949-510E-76E8AC726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H"/>
          </a:p>
        </p:txBody>
      </p:sp>
      <p:sp>
        <p:nvSpPr>
          <p:cNvPr id="4" name="Text Placeholder 3">
            <a:extLst>
              <a:ext uri="{FF2B5EF4-FFF2-40B4-BE49-F238E27FC236}">
                <a16:creationId xmlns:a16="http://schemas.microsoft.com/office/drawing/2014/main" id="{27178E83-B28B-FE3F-0119-414B6AF23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2A6C379-A531-029A-A562-E667CDD067EC}"/>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6" name="Footer Placeholder 5">
            <a:extLst>
              <a:ext uri="{FF2B5EF4-FFF2-40B4-BE49-F238E27FC236}">
                <a16:creationId xmlns:a16="http://schemas.microsoft.com/office/drawing/2014/main" id="{E9414E93-65B1-48AF-96D9-38861FED8A76}"/>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E5F31FDD-528C-49E4-AEE1-C50451C9CA2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76997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11C74-9D8D-DE98-0723-6DC65A418EFC}"/>
              </a:ext>
            </a:extLst>
          </p:cNvPr>
          <p:cNvSpPr>
            <a:spLocks noGrp="1"/>
          </p:cNvSpPr>
          <p:nvPr>
            <p:ph type="title"/>
          </p:nvPr>
        </p:nvSpPr>
        <p:spPr/>
        <p:txBody>
          <a:bodyPr/>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074F581F-E34C-2941-4726-5FC0E457653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6992D6AE-9898-AC59-4CAC-291AD9A4EF8A}"/>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73F78BDD-FF4E-EFA5-B933-327F67A096C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321A00A4-1D65-C22F-D2B6-7D9075AC2CA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463188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B400BF-0E65-9B41-23DC-839A4446DE7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9706F129-1721-10B9-8696-4FFE2DDAC6F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B55CCBF-20F6-54F7-4979-35F3703557C1}"/>
              </a:ext>
            </a:extLst>
          </p:cNvPr>
          <p:cNvSpPr>
            <a:spLocks noGrp="1"/>
          </p:cNvSpPr>
          <p:nvPr>
            <p:ph type="dt" sz="half" idx="10"/>
          </p:nvPr>
        </p:nvSpPr>
        <p:spPr/>
        <p:txBody>
          <a:body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02047357-F77E-E268-BF7A-2CB049D79F3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16541460-8E5A-5E35-DE2D-F7536723F750}"/>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350959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2E08E9-B939-4B48-C4F1-79E64A3A47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fr-CH"/>
          </a:p>
        </p:txBody>
      </p:sp>
      <p:sp>
        <p:nvSpPr>
          <p:cNvPr id="3" name="Text Placeholder 2">
            <a:extLst>
              <a:ext uri="{FF2B5EF4-FFF2-40B4-BE49-F238E27FC236}">
                <a16:creationId xmlns:a16="http://schemas.microsoft.com/office/drawing/2014/main" id="{DC79B699-95E5-9505-0EBA-F19E5E86D6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C0A91060-D0E6-D496-B2FD-0F5DDAFDFE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ABDDBB-0918-4A38-BFF3-738DBDB6A6F7}" type="datetimeFigureOut">
              <a:rPr lang="fr-CH" smtClean="0"/>
              <a:t>02.06.2026</a:t>
            </a:fld>
            <a:endParaRPr lang="fr-CH"/>
          </a:p>
        </p:txBody>
      </p:sp>
      <p:sp>
        <p:nvSpPr>
          <p:cNvPr id="5" name="Footer Placeholder 4">
            <a:extLst>
              <a:ext uri="{FF2B5EF4-FFF2-40B4-BE49-F238E27FC236}">
                <a16:creationId xmlns:a16="http://schemas.microsoft.com/office/drawing/2014/main" id="{903E92E0-1C09-9852-EAF6-57E5F84C2A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H"/>
          </a:p>
        </p:txBody>
      </p:sp>
      <p:sp>
        <p:nvSpPr>
          <p:cNvPr id="6" name="Slide Number Placeholder 5">
            <a:extLst>
              <a:ext uri="{FF2B5EF4-FFF2-40B4-BE49-F238E27FC236}">
                <a16:creationId xmlns:a16="http://schemas.microsoft.com/office/drawing/2014/main" id="{504E2E05-3017-F6F1-3B26-55E48E26FC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1A7BC33-3344-4283-8D2A-FA384F602BEB}" type="slidenum">
              <a:rPr lang="fr-CH" smtClean="0"/>
              <a:t>‹#›</a:t>
            </a:fld>
            <a:endParaRPr lang="fr-CH"/>
          </a:p>
        </p:txBody>
      </p:sp>
    </p:spTree>
    <p:extLst>
      <p:ext uri="{BB962C8B-B14F-4D97-AF65-F5344CB8AC3E}">
        <p14:creationId xmlns:p14="http://schemas.microsoft.com/office/powerpoint/2010/main" val="1687827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00_C83A13B9.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2_88E6931F.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A_7D0C916.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269C2F-6BFD-EFC2-398D-9FE490AB97CC}"/>
              </a:ext>
            </a:extLst>
          </p:cNvPr>
          <p:cNvSpPr>
            <a:spLocks noGrp="1"/>
          </p:cNvSpPr>
          <p:nvPr>
            <p:ph type="ctrTitle"/>
          </p:nvPr>
        </p:nvSpPr>
        <p:spPr>
          <a:xfrm>
            <a:off x="643468" y="643467"/>
            <a:ext cx="4908246" cy="4567137"/>
          </a:xfrm>
        </p:spPr>
        <p:txBody>
          <a:bodyPr>
            <a:normAutofit/>
          </a:bodyPr>
          <a:lstStyle/>
          <a:p>
            <a:pPr algn="l"/>
            <a:r>
              <a:rPr lang="fr-CH" sz="4400" dirty="0"/>
              <a:t>The 15-Minute City in Practice</a:t>
            </a:r>
            <a:br>
              <a:rPr lang="fr-CH" sz="4400" dirty="0"/>
            </a:br>
            <a:br>
              <a:rPr lang="fr-CH" sz="4400" dirty="0"/>
            </a:br>
            <a:r>
              <a:rPr lang="fr-CH" sz="4000" dirty="0" err="1"/>
              <a:t>Comparing</a:t>
            </a:r>
            <a:r>
              <a:rPr lang="fr-CH" sz="4000" dirty="0"/>
              <a:t> </a:t>
            </a:r>
            <a:r>
              <a:rPr lang="fr-CH" sz="4000" dirty="0" err="1"/>
              <a:t>theoretical</a:t>
            </a:r>
            <a:r>
              <a:rPr lang="fr-CH" sz="4000" dirty="0"/>
              <a:t> </a:t>
            </a:r>
            <a:r>
              <a:rPr lang="fr-CH" sz="4000" dirty="0" err="1"/>
              <a:t>accessibility</a:t>
            </a:r>
            <a:r>
              <a:rPr lang="fr-CH" sz="4000" dirty="0"/>
              <a:t> and real </a:t>
            </a:r>
            <a:r>
              <a:rPr lang="fr-CH" sz="4000" dirty="0" err="1"/>
              <a:t>mobility</a:t>
            </a:r>
            <a:r>
              <a:rPr lang="fr-CH" sz="4000" dirty="0"/>
              <a:t> patterns in Zurich</a:t>
            </a:r>
          </a:p>
        </p:txBody>
      </p:sp>
      <p:sp>
        <p:nvSpPr>
          <p:cNvPr id="3" name="Subtitle 2">
            <a:extLst>
              <a:ext uri="{FF2B5EF4-FFF2-40B4-BE49-F238E27FC236}">
                <a16:creationId xmlns:a16="http://schemas.microsoft.com/office/drawing/2014/main" id="{F45A3335-A6F0-3BBD-83BD-6F6034AF78D0}"/>
              </a:ext>
            </a:extLst>
          </p:cNvPr>
          <p:cNvSpPr>
            <a:spLocks noGrp="1"/>
          </p:cNvSpPr>
          <p:nvPr>
            <p:ph type="subTitle" idx="1"/>
          </p:nvPr>
        </p:nvSpPr>
        <p:spPr>
          <a:xfrm>
            <a:off x="643467" y="5277684"/>
            <a:ext cx="4620584" cy="775494"/>
          </a:xfrm>
        </p:spPr>
        <p:txBody>
          <a:bodyPr>
            <a:normAutofit fontScale="92500" lnSpcReduction="10000"/>
          </a:bodyPr>
          <a:lstStyle/>
          <a:p>
            <a:pPr algn="l"/>
            <a:r>
              <a:rPr lang="fr-CH" sz="1200" dirty="0"/>
              <a:t>Lucie Kern and Noémie Simon </a:t>
            </a:r>
          </a:p>
          <a:p>
            <a:pPr algn="l"/>
            <a:r>
              <a:rPr lang="fr-CH" sz="1200" dirty="0"/>
              <a:t>Patterns and Trends in </a:t>
            </a:r>
            <a:r>
              <a:rPr lang="fr-CH" sz="1200" dirty="0" err="1"/>
              <a:t>Environmental</a:t>
            </a:r>
            <a:r>
              <a:rPr lang="fr-CH" sz="1200" dirty="0"/>
              <a:t> Data</a:t>
            </a:r>
          </a:p>
          <a:p>
            <a:pPr algn="l"/>
            <a:r>
              <a:rPr lang="fr-CH" sz="1200" dirty="0"/>
              <a:t>03.06.2026</a:t>
            </a:r>
          </a:p>
        </p:txBody>
      </p:sp>
      <p:pic>
        <p:nvPicPr>
          <p:cNvPr id="1026" name="Picture 2" descr="Google Maps Zürich Stadtplan – Google Maps Italia – OVMN">
            <a:extLst>
              <a:ext uri="{FF2B5EF4-FFF2-40B4-BE49-F238E27FC236}">
                <a16:creationId xmlns:a16="http://schemas.microsoft.com/office/drawing/2014/main" id="{CD7F0A5B-B055-F6EE-B9F3-822F30A089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054"/>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24933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25CAFF8-284D-397B-D783-884EB45FFFFB}"/>
              </a:ext>
            </a:extLst>
          </p:cNvPr>
          <p:cNvSpPr/>
          <p:nvPr/>
        </p:nvSpPr>
        <p:spPr>
          <a:xfrm>
            <a:off x="-798286" y="5544457"/>
            <a:ext cx="14427200" cy="8128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691DDAAE-2B35-42E0-7B02-6460B37FCB88}"/>
              </a:ext>
            </a:extLst>
          </p:cNvPr>
          <p:cNvSpPr>
            <a:spLocks noGrp="1"/>
          </p:cNvSpPr>
          <p:nvPr>
            <p:ph type="title"/>
          </p:nvPr>
        </p:nvSpPr>
        <p:spPr>
          <a:xfrm>
            <a:off x="838200" y="365125"/>
            <a:ext cx="4221480" cy="1325563"/>
          </a:xfrm>
        </p:spPr>
        <p:txBody>
          <a:bodyPr/>
          <a:lstStyle/>
          <a:p>
            <a:r>
              <a:rPr lang="fr-CH" dirty="0" err="1"/>
              <a:t>Context</a:t>
            </a:r>
            <a:r>
              <a:rPr lang="fr-CH" dirty="0"/>
              <a:t> </a:t>
            </a:r>
          </a:p>
        </p:txBody>
      </p:sp>
      <p:sp>
        <p:nvSpPr>
          <p:cNvPr id="3" name="Content Placeholder 2">
            <a:extLst>
              <a:ext uri="{FF2B5EF4-FFF2-40B4-BE49-F238E27FC236}">
                <a16:creationId xmlns:a16="http://schemas.microsoft.com/office/drawing/2014/main" id="{FFD8EEBF-806F-63F6-BEF0-7ECC5BC92C92}"/>
              </a:ext>
            </a:extLst>
          </p:cNvPr>
          <p:cNvSpPr>
            <a:spLocks noGrp="1"/>
          </p:cNvSpPr>
          <p:nvPr>
            <p:ph idx="1"/>
          </p:nvPr>
        </p:nvSpPr>
        <p:spPr>
          <a:xfrm>
            <a:off x="620486" y="3841749"/>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8F17A50C-4B6B-BB7A-B7F8-811966543622}"/>
              </a:ext>
            </a:extLst>
          </p:cNvPr>
          <p:cNvSpPr txBox="1">
            <a:spLocks/>
          </p:cNvSpPr>
          <p:nvPr/>
        </p:nvSpPr>
        <p:spPr>
          <a:xfrm>
            <a:off x="3617686" y="3841749"/>
            <a:ext cx="3305629" cy="1325563"/>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Activity Space</a:t>
            </a:r>
          </a:p>
          <a:p>
            <a:r>
              <a:rPr lang="en-001" dirty="0"/>
              <a:t>Space - Time Prism </a:t>
            </a:r>
          </a:p>
          <a:p>
            <a:endParaRPr lang="fr-CH" dirty="0"/>
          </a:p>
        </p:txBody>
      </p:sp>
      <p:sp>
        <p:nvSpPr>
          <p:cNvPr id="7" name="Content Placeholder 2">
            <a:extLst>
              <a:ext uri="{FF2B5EF4-FFF2-40B4-BE49-F238E27FC236}">
                <a16:creationId xmlns:a16="http://schemas.microsoft.com/office/drawing/2014/main" id="{E3304064-5C43-872E-EC72-D291FDAAB208}"/>
              </a:ext>
            </a:extLst>
          </p:cNvPr>
          <p:cNvSpPr txBox="1">
            <a:spLocks/>
          </p:cNvSpPr>
          <p:nvPr/>
        </p:nvSpPr>
        <p:spPr>
          <a:xfrm>
            <a:off x="620486" y="1574936"/>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What is a 15-minute city ? </a:t>
            </a:r>
          </a:p>
        </p:txBody>
      </p:sp>
      <p:sp>
        <p:nvSpPr>
          <p:cNvPr id="9" name="TextBox 8">
            <a:extLst>
              <a:ext uri="{FF2B5EF4-FFF2-40B4-BE49-F238E27FC236}">
                <a16:creationId xmlns:a16="http://schemas.microsoft.com/office/drawing/2014/main" id="{CB528F5E-CAB4-ACCF-A3C1-CA0902706B8C}"/>
              </a:ext>
            </a:extLst>
          </p:cNvPr>
          <p:cNvSpPr txBox="1"/>
          <p:nvPr/>
        </p:nvSpPr>
        <p:spPr>
          <a:xfrm>
            <a:off x="602343" y="5663095"/>
            <a:ext cx="11056257" cy="584775"/>
          </a:xfrm>
          <a:prstGeom prst="rect">
            <a:avLst/>
          </a:prstGeom>
          <a:noFill/>
        </p:spPr>
        <p:txBody>
          <a:bodyPr wrap="square">
            <a:spAutoFit/>
          </a:bodyPr>
          <a:lstStyle/>
          <a:p>
            <a:r>
              <a:rPr lang="en-001" sz="1600" dirty="0"/>
              <a:t>Moreno, C., Allam, Z., Chabaud, D., Gall, C., &amp; Pratlong, F. (2021). Introducing the “15-Minute City”: Sustainability, resilience and place identity in future post-pandemic cities. </a:t>
            </a:r>
            <a:r>
              <a:rPr lang="en-001" sz="1600" i="1" dirty="0"/>
              <a:t>Smart Cities, 4</a:t>
            </a:r>
            <a:r>
              <a:rPr lang="en-001" sz="1600" dirty="0"/>
              <a:t>(1), 93–111. </a:t>
            </a:r>
            <a:r>
              <a:rPr lang="en-001" sz="1600" dirty="0">
                <a:hlinkClick r:id="rId3"/>
              </a:rPr>
              <a:t>https://doi.org/10.3390/smartcities4010006</a:t>
            </a:r>
            <a:endParaRPr lang="en-001" sz="1600" dirty="0"/>
          </a:p>
        </p:txBody>
      </p:sp>
      <p:sp>
        <p:nvSpPr>
          <p:cNvPr id="10" name="Content Placeholder 2">
            <a:extLst>
              <a:ext uri="{FF2B5EF4-FFF2-40B4-BE49-F238E27FC236}">
                <a16:creationId xmlns:a16="http://schemas.microsoft.com/office/drawing/2014/main" id="{915FE583-7C3C-9CF1-0E8F-21011874179B}"/>
              </a:ext>
            </a:extLst>
          </p:cNvPr>
          <p:cNvSpPr txBox="1">
            <a:spLocks/>
          </p:cNvSpPr>
          <p:nvPr/>
        </p:nvSpPr>
        <p:spPr>
          <a:xfrm>
            <a:off x="620486" y="2069681"/>
            <a:ext cx="10969171"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CCA93583-4939-AC40-A60F-37B5F7DB288E}"/>
              </a:ext>
            </a:extLst>
          </p:cNvPr>
          <p:cNvSpPr txBox="1">
            <a:spLocks/>
          </p:cNvSpPr>
          <p:nvPr/>
        </p:nvSpPr>
        <p:spPr>
          <a:xfrm>
            <a:off x="602343" y="3187654"/>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Application Area</a:t>
            </a:r>
          </a:p>
        </p:txBody>
      </p:sp>
      <p:sp>
        <p:nvSpPr>
          <p:cNvPr id="13" name="Content Placeholder 2">
            <a:extLst>
              <a:ext uri="{FF2B5EF4-FFF2-40B4-BE49-F238E27FC236}">
                <a16:creationId xmlns:a16="http://schemas.microsoft.com/office/drawing/2014/main" id="{4644C598-C82E-CEBD-C9E8-A04B079A8484}"/>
              </a:ext>
            </a:extLst>
          </p:cNvPr>
          <p:cNvSpPr txBox="1">
            <a:spLocks/>
          </p:cNvSpPr>
          <p:nvPr/>
        </p:nvSpPr>
        <p:spPr>
          <a:xfrm>
            <a:off x="3661229" y="3195883"/>
            <a:ext cx="330562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Conceptual Model</a:t>
            </a:r>
          </a:p>
        </p:txBody>
      </p:sp>
      <p:sp>
        <p:nvSpPr>
          <p:cNvPr id="15" name="Content Placeholder 2">
            <a:extLst>
              <a:ext uri="{FF2B5EF4-FFF2-40B4-BE49-F238E27FC236}">
                <a16:creationId xmlns:a16="http://schemas.microsoft.com/office/drawing/2014/main" id="{92AF249F-0D57-F629-B590-655159CD6D7F}"/>
              </a:ext>
            </a:extLst>
          </p:cNvPr>
          <p:cNvSpPr txBox="1">
            <a:spLocks/>
          </p:cNvSpPr>
          <p:nvPr/>
        </p:nvSpPr>
        <p:spPr>
          <a:xfrm>
            <a:off x="6966857" y="3191230"/>
            <a:ext cx="5083953"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Data Structure and Availability</a:t>
            </a:r>
          </a:p>
        </p:txBody>
      </p:sp>
      <p:sp>
        <p:nvSpPr>
          <p:cNvPr id="18" name="Content Placeholder 2">
            <a:extLst>
              <a:ext uri="{FF2B5EF4-FFF2-40B4-BE49-F238E27FC236}">
                <a16:creationId xmlns:a16="http://schemas.microsoft.com/office/drawing/2014/main" id="{B5319FEE-07F5-C94C-6D34-66DCEFBAC18C}"/>
              </a:ext>
            </a:extLst>
          </p:cNvPr>
          <p:cNvSpPr txBox="1">
            <a:spLocks/>
          </p:cNvSpPr>
          <p:nvPr/>
        </p:nvSpPr>
        <p:spPr>
          <a:xfrm>
            <a:off x="6966857" y="3841748"/>
            <a:ext cx="4622800" cy="1325563"/>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Individual Mobility Data</a:t>
            </a:r>
          </a:p>
          <a:p>
            <a:pPr lvl="1"/>
            <a:r>
              <a:rPr lang="en-US" sz="2200" dirty="0"/>
              <a:t>G</a:t>
            </a:r>
            <a:r>
              <a:rPr lang="en-001" sz="2200" dirty="0"/>
              <a:t>oogle timeline</a:t>
            </a:r>
          </a:p>
          <a:p>
            <a:r>
              <a:rPr lang="en-001" dirty="0"/>
              <a:t>Urban context Data</a:t>
            </a:r>
          </a:p>
          <a:p>
            <a:pPr lvl="1"/>
            <a:r>
              <a:rPr lang="en-001" sz="2200" dirty="0"/>
              <a:t>OpenStreetMap</a:t>
            </a:r>
          </a:p>
        </p:txBody>
      </p:sp>
      <p:sp>
        <p:nvSpPr>
          <p:cNvPr id="22" name="TextBox 21">
            <a:extLst>
              <a:ext uri="{FF2B5EF4-FFF2-40B4-BE49-F238E27FC236}">
                <a16:creationId xmlns:a16="http://schemas.microsoft.com/office/drawing/2014/main" id="{C047BF9C-7A29-B9BC-5A4E-64513C37ED3E}"/>
              </a:ext>
            </a:extLst>
          </p:cNvPr>
          <p:cNvSpPr txBox="1"/>
          <p:nvPr/>
        </p:nvSpPr>
        <p:spPr>
          <a:xfrm>
            <a:off x="5730982" y="1759118"/>
            <a:ext cx="3179554" cy="369332"/>
          </a:xfrm>
          <a:prstGeom prst="rect">
            <a:avLst/>
          </a:prstGeom>
          <a:noFill/>
        </p:spPr>
        <p:txBody>
          <a:bodyPr wrap="square" rtlCol="0">
            <a:spAutoFit/>
          </a:bodyPr>
          <a:lstStyle/>
          <a:p>
            <a:r>
              <a:rPr lang="en-001" dirty="0"/>
              <a:t>🏠 🛒🎓 💼🌳 🍽️ 🚉  🏥</a:t>
            </a:r>
          </a:p>
        </p:txBody>
      </p:sp>
    </p:spTree>
    <p:extLst>
      <p:ext uri="{BB962C8B-B14F-4D97-AF65-F5344CB8AC3E}">
        <p14:creationId xmlns:p14="http://schemas.microsoft.com/office/powerpoint/2010/main" val="229681231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13FC2779-AD61-AFF4-CEE5-9F53C2E97AC6}"/>
              </a:ext>
            </a:extLst>
          </p:cNvPr>
          <p:cNvSpPr>
            <a:spLocks noGrp="1"/>
          </p:cNvSpPr>
          <p:nvPr>
            <p:ph type="title"/>
          </p:nvPr>
        </p:nvSpPr>
        <p:spPr>
          <a:xfrm>
            <a:off x="838200" y="713312"/>
            <a:ext cx="4038600" cy="5431376"/>
          </a:xfrm>
        </p:spPr>
        <p:txBody>
          <a:bodyPr>
            <a:normAutofit/>
          </a:bodyPr>
          <a:lstStyle/>
          <a:p>
            <a:r>
              <a:rPr lang="fr-CH" dirty="0" err="1"/>
              <a:t>Presentation</a:t>
            </a:r>
            <a:r>
              <a:rPr lang="fr-CH" dirty="0"/>
              <a:t> </a:t>
            </a:r>
            <a:r>
              <a:rPr lang="fr-CH" dirty="0" err="1"/>
              <a:t>general</a:t>
            </a:r>
            <a:r>
              <a:rPr lang="fr-CH" dirty="0"/>
              <a:t> of the </a:t>
            </a:r>
            <a:r>
              <a:rPr lang="fr-CH" dirty="0" err="1"/>
              <a:t>project</a:t>
            </a:r>
            <a:endParaRPr lang="fr-CH" dirty="0"/>
          </a:p>
        </p:txBody>
      </p:sp>
      <p:sp>
        <p:nvSpPr>
          <p:cNvPr id="3" name="Content Placeholder 2">
            <a:extLst>
              <a:ext uri="{FF2B5EF4-FFF2-40B4-BE49-F238E27FC236}">
                <a16:creationId xmlns:a16="http://schemas.microsoft.com/office/drawing/2014/main" id="{8935F94C-1BC8-885B-BEF5-2A25234FC7EF}"/>
              </a:ext>
            </a:extLst>
          </p:cNvPr>
          <p:cNvSpPr>
            <a:spLocks noGrp="1"/>
          </p:cNvSpPr>
          <p:nvPr>
            <p:ph idx="1"/>
          </p:nvPr>
        </p:nvSpPr>
        <p:spPr>
          <a:xfrm>
            <a:off x="6095999" y="713313"/>
            <a:ext cx="5257801" cy="5431376"/>
          </a:xfrm>
        </p:spPr>
        <p:txBody>
          <a:bodyPr anchor="ctr">
            <a:normAutofit/>
          </a:bodyPr>
          <a:lstStyle/>
          <a:p>
            <a:r>
              <a:rPr lang="fr-CH" sz="1900" dirty="0" err="1"/>
              <a:t>We</a:t>
            </a:r>
            <a:r>
              <a:rPr lang="fr-CH" sz="1900" dirty="0"/>
              <a:t> compare </a:t>
            </a:r>
            <a:r>
              <a:rPr lang="fr-CH" sz="1900" b="1" dirty="0" err="1"/>
              <a:t>theoretical</a:t>
            </a:r>
            <a:r>
              <a:rPr lang="fr-CH" sz="1900" b="1" dirty="0"/>
              <a:t> </a:t>
            </a:r>
            <a:r>
              <a:rPr lang="fr-CH" sz="1900" b="1" dirty="0" err="1"/>
              <a:t>accessibility</a:t>
            </a:r>
            <a:r>
              <a:rPr lang="fr-CH" sz="1900" dirty="0"/>
              <a:t> </a:t>
            </a:r>
            <a:r>
              <a:rPr lang="fr-CH" sz="1900" dirty="0" err="1"/>
              <a:t>with</a:t>
            </a:r>
            <a:r>
              <a:rPr lang="fr-CH" sz="1900" dirty="0"/>
              <a:t> </a:t>
            </a:r>
            <a:r>
              <a:rPr lang="fr-CH" sz="1900" b="1" dirty="0" err="1"/>
              <a:t>actual</a:t>
            </a:r>
            <a:r>
              <a:rPr lang="fr-CH" sz="1900" b="1" dirty="0"/>
              <a:t> </a:t>
            </a:r>
            <a:r>
              <a:rPr lang="fr-CH" sz="1900" b="1" dirty="0" err="1"/>
              <a:t>mobility</a:t>
            </a:r>
            <a:r>
              <a:rPr lang="fr-CH" sz="1900" b="1" dirty="0"/>
              <a:t> </a:t>
            </a:r>
            <a:r>
              <a:rPr lang="fr-CH" sz="1900" b="1" dirty="0" err="1"/>
              <a:t>behavior</a:t>
            </a:r>
            <a:endParaRPr lang="fr-CH" sz="1900" dirty="0"/>
          </a:p>
          <a:p>
            <a:r>
              <a:rPr lang="fr-CH" sz="1900" dirty="0"/>
              <a:t>Case </a:t>
            </a:r>
            <a:r>
              <a:rPr lang="fr-CH" sz="1900" dirty="0" err="1"/>
              <a:t>study</a:t>
            </a:r>
            <a:r>
              <a:rPr lang="fr-CH" sz="1900" dirty="0"/>
              <a:t>: </a:t>
            </a:r>
            <a:r>
              <a:rPr lang="fr-CH" sz="1900" b="1" dirty="0"/>
              <a:t>one </a:t>
            </a:r>
            <a:r>
              <a:rPr lang="fr-CH" sz="1900" b="1" dirty="0" err="1"/>
              <a:t>individual</a:t>
            </a:r>
            <a:r>
              <a:rPr lang="fr-CH" sz="1900" b="1" dirty="0"/>
              <a:t> living in Zurich</a:t>
            </a:r>
            <a:endParaRPr lang="fr-CH" sz="1900" dirty="0"/>
          </a:p>
          <a:p>
            <a:r>
              <a:rPr lang="fr-CH" sz="1900" dirty="0"/>
              <a:t>Data: </a:t>
            </a:r>
            <a:r>
              <a:rPr lang="fr-CH" sz="1900" b="1" dirty="0"/>
              <a:t>Google Timeline GPS </a:t>
            </a:r>
            <a:r>
              <a:rPr lang="fr-CH" sz="1900" b="1" dirty="0" err="1"/>
              <a:t>trajectories</a:t>
            </a:r>
            <a:r>
              <a:rPr lang="fr-CH" sz="1900" b="1" dirty="0"/>
              <a:t> over 3 </a:t>
            </a:r>
            <a:r>
              <a:rPr lang="fr-CH" sz="1900" b="1" dirty="0" err="1"/>
              <a:t>months</a:t>
            </a:r>
            <a:endParaRPr lang="fr-CH" sz="1900" dirty="0"/>
          </a:p>
          <a:p>
            <a:r>
              <a:rPr lang="fr-CH" sz="1900" dirty="0" err="1"/>
              <a:t>Context</a:t>
            </a:r>
            <a:r>
              <a:rPr lang="fr-CH" sz="1900" dirty="0"/>
              <a:t> data: </a:t>
            </a:r>
            <a:r>
              <a:rPr lang="fr-CH" sz="1900" b="1" dirty="0"/>
              <a:t>Points of </a:t>
            </a:r>
            <a:r>
              <a:rPr lang="fr-CH" sz="1900" b="1" dirty="0" err="1"/>
              <a:t>Interest</a:t>
            </a:r>
            <a:r>
              <a:rPr lang="fr-CH" sz="1900" b="1" dirty="0"/>
              <a:t> and transport infrastructure</a:t>
            </a:r>
            <a:endParaRPr lang="fr-CH" sz="1900" dirty="0"/>
          </a:p>
          <a:p>
            <a:r>
              <a:rPr lang="fr-CH" sz="1900" dirty="0"/>
              <a:t>Main focus: </a:t>
            </a:r>
            <a:r>
              <a:rPr lang="fr-CH" sz="1900" dirty="0" err="1"/>
              <a:t>identifying</a:t>
            </a:r>
            <a:r>
              <a:rPr lang="fr-CH" sz="1900" dirty="0"/>
              <a:t> </a:t>
            </a:r>
            <a:r>
              <a:rPr lang="fr-CH" sz="1900" dirty="0" err="1"/>
              <a:t>mismatches</a:t>
            </a:r>
            <a:r>
              <a:rPr lang="fr-CH" sz="1900" dirty="0"/>
              <a:t> </a:t>
            </a:r>
            <a:r>
              <a:rPr lang="fr-CH" sz="1900" dirty="0" err="1"/>
              <a:t>between</a:t>
            </a:r>
            <a:r>
              <a:rPr lang="fr-CH" sz="1900" dirty="0"/>
              <a:t>:</a:t>
            </a:r>
          </a:p>
          <a:p>
            <a:pPr lvl="1"/>
            <a:r>
              <a:rPr lang="fr-CH" sz="1900" dirty="0" err="1"/>
              <a:t>nearby</a:t>
            </a:r>
            <a:r>
              <a:rPr lang="fr-CH" sz="1900" dirty="0"/>
              <a:t> </a:t>
            </a:r>
            <a:r>
              <a:rPr lang="fr-CH" sz="1900" dirty="0" err="1"/>
              <a:t>available</a:t>
            </a:r>
            <a:r>
              <a:rPr lang="fr-CH" sz="1900" dirty="0"/>
              <a:t> services</a:t>
            </a:r>
          </a:p>
          <a:p>
            <a:pPr lvl="1"/>
            <a:r>
              <a:rPr lang="fr-CH" sz="1900" dirty="0"/>
              <a:t>15-minute </a:t>
            </a:r>
            <a:r>
              <a:rPr lang="fr-CH" sz="1900" dirty="0" err="1"/>
              <a:t>accessibility</a:t>
            </a:r>
            <a:r>
              <a:rPr lang="fr-CH" sz="1900" dirty="0"/>
              <a:t> areas</a:t>
            </a:r>
          </a:p>
          <a:p>
            <a:pPr lvl="1"/>
            <a:r>
              <a:rPr lang="fr-CH" sz="1900" dirty="0" err="1"/>
              <a:t>daily</a:t>
            </a:r>
            <a:r>
              <a:rPr lang="fr-CH" sz="1900" dirty="0"/>
              <a:t> </a:t>
            </a:r>
            <a:r>
              <a:rPr lang="fr-CH" sz="1900" dirty="0" err="1"/>
              <a:t>travel</a:t>
            </a:r>
            <a:r>
              <a:rPr lang="fr-CH" sz="1900" dirty="0"/>
              <a:t> patterns</a:t>
            </a:r>
          </a:p>
          <a:p>
            <a:r>
              <a:rPr lang="fr-CH" sz="1900" b="1" dirty="0"/>
              <a:t>Goal:</a:t>
            </a:r>
            <a:r>
              <a:rPr lang="fr-CH" sz="1900" dirty="0"/>
              <a:t> </a:t>
            </a:r>
            <a:r>
              <a:rPr lang="fr-CH" sz="1900" dirty="0" err="1"/>
              <a:t>understand</a:t>
            </a:r>
            <a:r>
              <a:rPr lang="fr-CH" sz="1900" dirty="0"/>
              <a:t> </a:t>
            </a:r>
            <a:r>
              <a:rPr lang="fr-CH" sz="1900" dirty="0" err="1"/>
              <a:t>whether</a:t>
            </a:r>
            <a:r>
              <a:rPr lang="fr-CH" sz="1900" dirty="0"/>
              <a:t> accessible infrastructure </a:t>
            </a:r>
            <a:r>
              <a:rPr lang="fr-CH" sz="1900" dirty="0" err="1"/>
              <a:t>is</a:t>
            </a:r>
            <a:r>
              <a:rPr lang="fr-CH" sz="1900" dirty="0"/>
              <a:t> </a:t>
            </a:r>
            <a:r>
              <a:rPr lang="fr-CH" sz="1900" dirty="0" err="1"/>
              <a:t>actually</a:t>
            </a:r>
            <a:r>
              <a:rPr lang="fr-CH" sz="1900" dirty="0"/>
              <a:t> </a:t>
            </a:r>
            <a:r>
              <a:rPr lang="fr-CH" sz="1900" dirty="0" err="1"/>
              <a:t>reflected</a:t>
            </a:r>
            <a:r>
              <a:rPr lang="fr-CH" sz="1900" dirty="0"/>
              <a:t> in </a:t>
            </a:r>
            <a:r>
              <a:rPr lang="fr-CH" sz="1900" dirty="0" err="1"/>
              <a:t>everyday</a:t>
            </a:r>
            <a:r>
              <a:rPr lang="fr-CH" sz="1900" dirty="0"/>
              <a:t> </a:t>
            </a:r>
            <a:r>
              <a:rPr lang="fr-CH" sz="1900" dirty="0" err="1"/>
              <a:t>mobility</a:t>
            </a:r>
            <a:r>
              <a:rPr lang="fr-CH" sz="1900" dirty="0"/>
              <a:t> </a:t>
            </a:r>
            <a:r>
              <a:rPr lang="fr-CH" sz="1900" dirty="0" err="1"/>
              <a:t>behavior</a:t>
            </a:r>
            <a:r>
              <a:rPr lang="fr-CH" sz="1900" dirty="0"/>
              <a:t>.</a:t>
            </a:r>
          </a:p>
          <a:p>
            <a:endParaRPr lang="fr-CH" sz="1900" dirty="0"/>
          </a:p>
          <a:p>
            <a:pPr marL="457200" lvl="1" indent="0">
              <a:buNone/>
            </a:pPr>
            <a:r>
              <a:rPr lang="fr-CH" sz="1900" dirty="0"/>
              <a:t> </a:t>
            </a:r>
          </a:p>
          <a:p>
            <a:pPr lvl="1"/>
            <a:endParaRPr lang="fr-CH" sz="1900" dirty="0"/>
          </a:p>
        </p:txBody>
      </p:sp>
    </p:spTree>
    <p:extLst>
      <p:ext uri="{BB962C8B-B14F-4D97-AF65-F5344CB8AC3E}">
        <p14:creationId xmlns:p14="http://schemas.microsoft.com/office/powerpoint/2010/main" val="35262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DA82-47D2-51C6-A3D6-11A74E9A9A07}"/>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DEFCDC17-11EB-2D2C-FFDB-30F3F578D798}"/>
              </a:ext>
            </a:extLst>
          </p:cNvPr>
          <p:cNvSpPr/>
          <p:nvPr/>
        </p:nvSpPr>
        <p:spPr>
          <a:xfrm>
            <a:off x="0" y="6098413"/>
            <a:ext cx="12192000" cy="75958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72FCEE1F-FE97-034F-EF16-9CE410CFD77C}"/>
              </a:ext>
            </a:extLst>
          </p:cNvPr>
          <p:cNvSpPr>
            <a:spLocks noGrp="1"/>
          </p:cNvSpPr>
          <p:nvPr>
            <p:ph type="title"/>
          </p:nvPr>
        </p:nvSpPr>
        <p:spPr>
          <a:xfrm>
            <a:off x="778198" y="281213"/>
            <a:ext cx="7333342" cy="1325563"/>
          </a:xfrm>
        </p:spPr>
        <p:txBody>
          <a:bodyPr/>
          <a:lstStyle/>
          <a:p>
            <a:r>
              <a:rPr lang="fr-CH" dirty="0" err="1"/>
              <a:t>Context</a:t>
            </a:r>
            <a:r>
              <a:rPr lang="fr-CH" dirty="0"/>
              <a:t> &amp; Project Intro</a:t>
            </a:r>
          </a:p>
        </p:txBody>
      </p:sp>
      <p:sp>
        <p:nvSpPr>
          <p:cNvPr id="3" name="Content Placeholder 2">
            <a:extLst>
              <a:ext uri="{FF2B5EF4-FFF2-40B4-BE49-F238E27FC236}">
                <a16:creationId xmlns:a16="http://schemas.microsoft.com/office/drawing/2014/main" id="{77CF91B7-20C0-64E3-3C39-24123B078096}"/>
              </a:ext>
            </a:extLst>
          </p:cNvPr>
          <p:cNvSpPr>
            <a:spLocks noGrp="1"/>
          </p:cNvSpPr>
          <p:nvPr>
            <p:ph idx="1"/>
          </p:nvPr>
        </p:nvSpPr>
        <p:spPr>
          <a:xfrm>
            <a:off x="367004" y="3429877"/>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1CB79621-C30B-B1DE-1D8B-A8B276FF255C}"/>
              </a:ext>
            </a:extLst>
          </p:cNvPr>
          <p:cNvSpPr txBox="1">
            <a:spLocks/>
          </p:cNvSpPr>
          <p:nvPr/>
        </p:nvSpPr>
        <p:spPr>
          <a:xfrm>
            <a:off x="3420446" y="3395637"/>
            <a:ext cx="4298044"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r>
              <a:rPr lang="fr-CH" dirty="0" err="1"/>
              <a:t>We</a:t>
            </a:r>
            <a:r>
              <a:rPr lang="fr-CH" dirty="0"/>
              <a:t>  use </a:t>
            </a:r>
            <a:r>
              <a:rPr lang="fr-CH" dirty="0" err="1"/>
              <a:t>activity</a:t>
            </a:r>
            <a:r>
              <a:rPr lang="fr-CH" dirty="0"/>
              <a:t> </a:t>
            </a:r>
            <a:r>
              <a:rPr lang="fr-CH" dirty="0" err="1"/>
              <a:t>space</a:t>
            </a:r>
            <a:r>
              <a:rPr lang="fr-CH" dirty="0"/>
              <a:t> to  compare </a:t>
            </a:r>
            <a:r>
              <a:rPr lang="fr-CH" dirty="0" err="1"/>
              <a:t>theoretical</a:t>
            </a:r>
            <a:r>
              <a:rPr lang="fr-CH" dirty="0"/>
              <a:t> </a:t>
            </a:r>
            <a:r>
              <a:rPr lang="fr-CH" dirty="0" err="1"/>
              <a:t>accessibility</a:t>
            </a:r>
            <a:r>
              <a:rPr lang="fr-CH" dirty="0"/>
              <a:t> </a:t>
            </a:r>
            <a:r>
              <a:rPr lang="fr-CH" dirty="0" err="1"/>
              <a:t>with</a:t>
            </a:r>
            <a:r>
              <a:rPr lang="fr-CH" dirty="0"/>
              <a:t> </a:t>
            </a:r>
            <a:r>
              <a:rPr lang="fr-CH" dirty="0" err="1"/>
              <a:t>actual</a:t>
            </a:r>
            <a:r>
              <a:rPr lang="fr-CH" dirty="0"/>
              <a:t> </a:t>
            </a:r>
            <a:r>
              <a:rPr lang="fr-CH" dirty="0" err="1"/>
              <a:t>mobility</a:t>
            </a:r>
            <a:r>
              <a:rPr lang="fr-CH" dirty="0"/>
              <a:t> </a:t>
            </a:r>
            <a:r>
              <a:rPr lang="fr-CH" dirty="0" err="1"/>
              <a:t>behavior</a:t>
            </a:r>
            <a:r>
              <a:rPr lang="fr-CH" dirty="0"/>
              <a:t> </a:t>
            </a:r>
            <a:r>
              <a:rPr lang="fr-CH" dirty="0" err="1"/>
              <a:t>based</a:t>
            </a:r>
            <a:r>
              <a:rPr lang="fr-CH" dirty="0"/>
              <a:t> on the data </a:t>
            </a:r>
            <a:r>
              <a:rPr lang="fr-CH" dirty="0" err="1"/>
              <a:t>collected</a:t>
            </a:r>
            <a:r>
              <a:rPr lang="fr-CH" dirty="0"/>
              <a:t> </a:t>
            </a:r>
            <a:r>
              <a:rPr lang="fr-CH" dirty="0" err="1"/>
              <a:t>from</a:t>
            </a:r>
            <a:r>
              <a:rPr lang="fr-CH" dirty="0"/>
              <a:t> one </a:t>
            </a:r>
            <a:r>
              <a:rPr lang="fr-CH" dirty="0" err="1"/>
              <a:t>individual</a:t>
            </a:r>
            <a:r>
              <a:rPr lang="fr-CH" dirty="0"/>
              <a:t> living in Zurich</a:t>
            </a:r>
          </a:p>
          <a:p>
            <a:endParaRPr lang="en-001" dirty="0"/>
          </a:p>
          <a:p>
            <a:endParaRPr lang="fr-CH" dirty="0"/>
          </a:p>
        </p:txBody>
      </p:sp>
      <p:sp>
        <p:nvSpPr>
          <p:cNvPr id="7" name="Content Placeholder 2">
            <a:extLst>
              <a:ext uri="{FF2B5EF4-FFF2-40B4-BE49-F238E27FC236}">
                <a16:creationId xmlns:a16="http://schemas.microsoft.com/office/drawing/2014/main" id="{C9A5FF8E-7674-3AE6-41C1-310DD46EEAF3}"/>
              </a:ext>
            </a:extLst>
          </p:cNvPr>
          <p:cNvSpPr txBox="1">
            <a:spLocks/>
          </p:cNvSpPr>
          <p:nvPr/>
        </p:nvSpPr>
        <p:spPr>
          <a:xfrm>
            <a:off x="367004" y="1398190"/>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What is a 15-minute city ? </a:t>
            </a:r>
          </a:p>
        </p:txBody>
      </p:sp>
      <p:sp>
        <p:nvSpPr>
          <p:cNvPr id="9" name="TextBox 8">
            <a:extLst>
              <a:ext uri="{FF2B5EF4-FFF2-40B4-BE49-F238E27FC236}">
                <a16:creationId xmlns:a16="http://schemas.microsoft.com/office/drawing/2014/main" id="{4AE62CEF-6E98-95BB-232D-F5395E72B50E}"/>
              </a:ext>
            </a:extLst>
          </p:cNvPr>
          <p:cNvSpPr txBox="1"/>
          <p:nvPr/>
        </p:nvSpPr>
        <p:spPr>
          <a:xfrm>
            <a:off x="567871" y="6185818"/>
            <a:ext cx="11056257" cy="523220"/>
          </a:xfrm>
          <a:prstGeom prst="rect">
            <a:avLst/>
          </a:prstGeom>
          <a:noFill/>
        </p:spPr>
        <p:txBody>
          <a:bodyPr wrap="square">
            <a:spAutoFit/>
          </a:bodyPr>
          <a:lstStyle/>
          <a:p>
            <a:r>
              <a:rPr lang="en-001" sz="1400" dirty="0"/>
              <a:t>Moreno, C., Allam, Z., Chabaud, D., Gall, C., &amp; Pratlong, F. (2021). Introducing the “15-Minute City”: Sustainability, resilience and place identity in future post-pandemic cities. </a:t>
            </a:r>
            <a:r>
              <a:rPr lang="en-001" sz="1400" i="1" dirty="0"/>
              <a:t>Smart Cities, 4</a:t>
            </a:r>
            <a:r>
              <a:rPr lang="en-001" sz="1400" dirty="0"/>
              <a:t>(1), 93–111. </a:t>
            </a:r>
            <a:r>
              <a:rPr lang="en-001" sz="1400" dirty="0">
                <a:hlinkClick r:id="rId3"/>
              </a:rPr>
              <a:t>https://doi.org/10.3390/smartcities4010006</a:t>
            </a:r>
            <a:endParaRPr lang="en-001" sz="1400" dirty="0"/>
          </a:p>
        </p:txBody>
      </p:sp>
      <p:sp>
        <p:nvSpPr>
          <p:cNvPr id="10" name="Content Placeholder 2">
            <a:extLst>
              <a:ext uri="{FF2B5EF4-FFF2-40B4-BE49-F238E27FC236}">
                <a16:creationId xmlns:a16="http://schemas.microsoft.com/office/drawing/2014/main" id="{7A66A455-70CD-000A-B3F6-D11802F3E145}"/>
              </a:ext>
            </a:extLst>
          </p:cNvPr>
          <p:cNvSpPr txBox="1">
            <a:spLocks/>
          </p:cNvSpPr>
          <p:nvPr/>
        </p:nvSpPr>
        <p:spPr>
          <a:xfrm>
            <a:off x="348213" y="1871007"/>
            <a:ext cx="11328529"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FBE16033-5143-5AF8-D8E5-E6C66C35CF34}"/>
              </a:ext>
            </a:extLst>
          </p:cNvPr>
          <p:cNvSpPr txBox="1">
            <a:spLocks/>
          </p:cNvSpPr>
          <p:nvPr/>
        </p:nvSpPr>
        <p:spPr>
          <a:xfrm>
            <a:off x="302710" y="2964574"/>
            <a:ext cx="313524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Application Area</a:t>
            </a:r>
          </a:p>
        </p:txBody>
      </p:sp>
      <p:sp>
        <p:nvSpPr>
          <p:cNvPr id="13" name="Content Placeholder 2">
            <a:extLst>
              <a:ext uri="{FF2B5EF4-FFF2-40B4-BE49-F238E27FC236}">
                <a16:creationId xmlns:a16="http://schemas.microsoft.com/office/drawing/2014/main" id="{E24C2CE8-7351-DBCA-1961-356E8BF63419}"/>
              </a:ext>
            </a:extLst>
          </p:cNvPr>
          <p:cNvSpPr txBox="1">
            <a:spLocks/>
          </p:cNvSpPr>
          <p:nvPr/>
        </p:nvSpPr>
        <p:spPr>
          <a:xfrm>
            <a:off x="3420446" y="2967270"/>
            <a:ext cx="3437076"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Conceptual Model</a:t>
            </a:r>
          </a:p>
        </p:txBody>
      </p:sp>
      <p:sp>
        <p:nvSpPr>
          <p:cNvPr id="15" name="Content Placeholder 2">
            <a:extLst>
              <a:ext uri="{FF2B5EF4-FFF2-40B4-BE49-F238E27FC236}">
                <a16:creationId xmlns:a16="http://schemas.microsoft.com/office/drawing/2014/main" id="{211A4EE2-6988-06E5-97B5-3583CEABF439}"/>
              </a:ext>
            </a:extLst>
          </p:cNvPr>
          <p:cNvSpPr txBox="1">
            <a:spLocks/>
          </p:cNvSpPr>
          <p:nvPr/>
        </p:nvSpPr>
        <p:spPr>
          <a:xfrm>
            <a:off x="7731189" y="2968951"/>
            <a:ext cx="2085716"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Data</a:t>
            </a:r>
          </a:p>
        </p:txBody>
      </p:sp>
      <p:sp>
        <p:nvSpPr>
          <p:cNvPr id="18" name="Content Placeholder 2">
            <a:extLst>
              <a:ext uri="{FF2B5EF4-FFF2-40B4-BE49-F238E27FC236}">
                <a16:creationId xmlns:a16="http://schemas.microsoft.com/office/drawing/2014/main" id="{214E7150-6D34-BA9C-1FC7-E2FD88FAB998}"/>
              </a:ext>
            </a:extLst>
          </p:cNvPr>
          <p:cNvSpPr txBox="1">
            <a:spLocks/>
          </p:cNvSpPr>
          <p:nvPr/>
        </p:nvSpPr>
        <p:spPr>
          <a:xfrm>
            <a:off x="7743890" y="3429877"/>
            <a:ext cx="4212771" cy="1821347"/>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200" dirty="0"/>
              <a:t>G</a:t>
            </a:r>
            <a:r>
              <a:rPr lang="en-001" sz="2200" dirty="0"/>
              <a:t>oogle timeline for individual mobility</a:t>
            </a:r>
          </a:p>
          <a:p>
            <a:r>
              <a:rPr lang="en-001" sz="2200" dirty="0"/>
              <a:t>OpenStreetMap for </a:t>
            </a:r>
            <a:r>
              <a:rPr lang="fr-CH" sz="2200" dirty="0"/>
              <a:t>road </a:t>
            </a:r>
            <a:r>
              <a:rPr lang="fr-CH" sz="2200" dirty="0" err="1"/>
              <a:t>networkt</a:t>
            </a:r>
            <a:r>
              <a:rPr lang="fr-CH" dirty="0"/>
              <a:t>, </a:t>
            </a:r>
            <a:r>
              <a:rPr lang="fr-CH" sz="2200" dirty="0"/>
              <a:t>transport infrastructure for </a:t>
            </a:r>
            <a:r>
              <a:rPr lang="fr-CH" sz="2200" dirty="0" err="1"/>
              <a:t>urban</a:t>
            </a:r>
            <a:r>
              <a:rPr lang="fr-CH" sz="2200" dirty="0"/>
              <a:t> </a:t>
            </a:r>
            <a:r>
              <a:rPr lang="fr-CH" sz="2200" dirty="0" err="1"/>
              <a:t>context</a:t>
            </a:r>
            <a:r>
              <a:rPr lang="fr-CH" sz="2200" dirty="0"/>
              <a:t> and Point of </a:t>
            </a:r>
            <a:r>
              <a:rPr lang="fr-CH" sz="2200" dirty="0" err="1"/>
              <a:t>Interest</a:t>
            </a:r>
            <a:r>
              <a:rPr lang="fr-CH" sz="2200" dirty="0"/>
              <a:t> </a:t>
            </a:r>
          </a:p>
          <a:p>
            <a:pPr lvl="1"/>
            <a:endParaRPr lang="en-001" sz="2200" dirty="0"/>
          </a:p>
        </p:txBody>
      </p:sp>
      <p:sp>
        <p:nvSpPr>
          <p:cNvPr id="22" name="TextBox 21">
            <a:extLst>
              <a:ext uri="{FF2B5EF4-FFF2-40B4-BE49-F238E27FC236}">
                <a16:creationId xmlns:a16="http://schemas.microsoft.com/office/drawing/2014/main" id="{4C50DE4D-9766-DAB7-AB84-B23FAE884ECD}"/>
              </a:ext>
            </a:extLst>
          </p:cNvPr>
          <p:cNvSpPr txBox="1"/>
          <p:nvPr/>
        </p:nvSpPr>
        <p:spPr>
          <a:xfrm>
            <a:off x="4551635" y="1418069"/>
            <a:ext cx="3179554" cy="369332"/>
          </a:xfrm>
          <a:prstGeom prst="rect">
            <a:avLst/>
          </a:prstGeom>
          <a:noFill/>
        </p:spPr>
        <p:txBody>
          <a:bodyPr wrap="square" rtlCol="0">
            <a:spAutoFit/>
          </a:bodyPr>
          <a:lstStyle/>
          <a:p>
            <a:r>
              <a:rPr lang="en-001" dirty="0"/>
              <a:t>🏠 🛒🎓 💼🌳 🍽️ 🚉  🏥</a:t>
            </a:r>
          </a:p>
        </p:txBody>
      </p:sp>
      <p:sp>
        <p:nvSpPr>
          <p:cNvPr id="5" name="Content Placeholder 2">
            <a:extLst>
              <a:ext uri="{FF2B5EF4-FFF2-40B4-BE49-F238E27FC236}">
                <a16:creationId xmlns:a16="http://schemas.microsoft.com/office/drawing/2014/main" id="{E0E1577B-0FC5-7ADD-8D00-CE43A480C513}"/>
              </a:ext>
            </a:extLst>
          </p:cNvPr>
          <p:cNvSpPr txBox="1">
            <a:spLocks/>
          </p:cNvSpPr>
          <p:nvPr/>
        </p:nvSpPr>
        <p:spPr>
          <a:xfrm>
            <a:off x="348213" y="5076912"/>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Goal</a:t>
            </a:r>
          </a:p>
        </p:txBody>
      </p:sp>
      <p:sp>
        <p:nvSpPr>
          <p:cNvPr id="6" name="Content Placeholder 2">
            <a:extLst>
              <a:ext uri="{FF2B5EF4-FFF2-40B4-BE49-F238E27FC236}">
                <a16:creationId xmlns:a16="http://schemas.microsoft.com/office/drawing/2014/main" id="{DC9BDEC1-11A3-FC9A-47DA-9997664BD104}"/>
              </a:ext>
            </a:extLst>
          </p:cNvPr>
          <p:cNvSpPr txBox="1">
            <a:spLocks/>
          </p:cNvSpPr>
          <p:nvPr/>
        </p:nvSpPr>
        <p:spPr>
          <a:xfrm>
            <a:off x="615042" y="5544529"/>
            <a:ext cx="3829021"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endParaRPr lang="fr-CH" sz="4600" dirty="0"/>
          </a:p>
          <a:p>
            <a:endParaRPr lang="en-001" dirty="0"/>
          </a:p>
          <a:p>
            <a:endParaRPr lang="fr-CH" dirty="0"/>
          </a:p>
        </p:txBody>
      </p:sp>
      <p:sp>
        <p:nvSpPr>
          <p:cNvPr id="11" name="TextBox 10">
            <a:extLst>
              <a:ext uri="{FF2B5EF4-FFF2-40B4-BE49-F238E27FC236}">
                <a16:creationId xmlns:a16="http://schemas.microsoft.com/office/drawing/2014/main" id="{1721DAEC-0A82-6021-A4E5-89B28C221F2F}"/>
              </a:ext>
            </a:extLst>
          </p:cNvPr>
          <p:cNvSpPr txBox="1"/>
          <p:nvPr/>
        </p:nvSpPr>
        <p:spPr>
          <a:xfrm>
            <a:off x="291322" y="5524491"/>
            <a:ext cx="11900678" cy="430887"/>
          </a:xfrm>
          <a:prstGeom prst="rect">
            <a:avLst/>
          </a:prstGeom>
          <a:noFill/>
        </p:spPr>
        <p:txBody>
          <a:bodyPr wrap="square">
            <a:spAutoFit/>
          </a:bodyPr>
          <a:lstStyle/>
          <a:p>
            <a:r>
              <a:rPr lang="fr-CH" sz="2200" dirty="0" err="1"/>
              <a:t>Understand</a:t>
            </a:r>
            <a:r>
              <a:rPr lang="fr-CH" sz="2200" dirty="0"/>
              <a:t> </a:t>
            </a:r>
            <a:r>
              <a:rPr lang="fr-CH" sz="2200" dirty="0" err="1"/>
              <a:t>whether</a:t>
            </a:r>
            <a:r>
              <a:rPr lang="fr-CH" sz="2200" dirty="0"/>
              <a:t> accessible infrastructure </a:t>
            </a:r>
            <a:r>
              <a:rPr lang="fr-CH" sz="2200" dirty="0" err="1"/>
              <a:t>is</a:t>
            </a:r>
            <a:r>
              <a:rPr lang="fr-CH" sz="2200" dirty="0"/>
              <a:t> </a:t>
            </a:r>
            <a:r>
              <a:rPr lang="fr-CH" sz="2200" dirty="0" err="1"/>
              <a:t>actually</a:t>
            </a:r>
            <a:r>
              <a:rPr lang="fr-CH" sz="2200" dirty="0"/>
              <a:t> </a:t>
            </a:r>
            <a:r>
              <a:rPr lang="fr-CH" sz="2200" dirty="0" err="1"/>
              <a:t>reflected</a:t>
            </a:r>
            <a:r>
              <a:rPr lang="fr-CH" sz="2200" dirty="0"/>
              <a:t> in </a:t>
            </a:r>
            <a:r>
              <a:rPr lang="fr-CH" sz="2200" dirty="0" err="1"/>
              <a:t>everyday</a:t>
            </a:r>
            <a:r>
              <a:rPr lang="fr-CH" sz="2200" dirty="0"/>
              <a:t> </a:t>
            </a:r>
            <a:r>
              <a:rPr lang="fr-CH" sz="2200" dirty="0" err="1"/>
              <a:t>mobility</a:t>
            </a:r>
            <a:r>
              <a:rPr lang="fr-CH" sz="2200" dirty="0"/>
              <a:t> </a:t>
            </a:r>
            <a:r>
              <a:rPr lang="fr-CH" sz="2200" dirty="0" err="1"/>
              <a:t>behavior</a:t>
            </a:r>
            <a:endParaRPr lang="fr-CH" sz="2200" dirty="0"/>
          </a:p>
        </p:txBody>
      </p:sp>
    </p:spTree>
    <p:extLst>
      <p:ext uri="{BB962C8B-B14F-4D97-AF65-F5344CB8AC3E}">
        <p14:creationId xmlns:p14="http://schemas.microsoft.com/office/powerpoint/2010/main" val="131123478"/>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3ED5FDDA-FB89-7C42-000C-DFB890DC4FCA}"/>
              </a:ext>
            </a:extLst>
          </p:cNvPr>
          <p:cNvSpPr>
            <a:spLocks noGrp="1"/>
          </p:cNvSpPr>
          <p:nvPr>
            <p:ph type="title"/>
          </p:nvPr>
        </p:nvSpPr>
        <p:spPr>
          <a:xfrm>
            <a:off x="838200" y="713312"/>
            <a:ext cx="4038600" cy="5431376"/>
          </a:xfrm>
        </p:spPr>
        <p:txBody>
          <a:bodyPr>
            <a:normAutofit/>
          </a:bodyPr>
          <a:lstStyle/>
          <a:p>
            <a:r>
              <a:rPr lang="fr-CH" dirty="0" err="1"/>
              <a:t>Research</a:t>
            </a:r>
            <a:r>
              <a:rPr lang="fr-CH" dirty="0"/>
              <a:t> questions </a:t>
            </a:r>
          </a:p>
        </p:txBody>
      </p:sp>
      <p:sp>
        <p:nvSpPr>
          <p:cNvPr id="24" name="Content Placeholder 2">
            <a:extLst>
              <a:ext uri="{FF2B5EF4-FFF2-40B4-BE49-F238E27FC236}">
                <a16:creationId xmlns:a16="http://schemas.microsoft.com/office/drawing/2014/main" id="{D7FDF29B-A281-F3CF-760D-321759BA8581}"/>
              </a:ext>
            </a:extLst>
          </p:cNvPr>
          <p:cNvSpPr>
            <a:spLocks noGrp="1"/>
          </p:cNvSpPr>
          <p:nvPr>
            <p:ph idx="1"/>
          </p:nvPr>
        </p:nvSpPr>
        <p:spPr>
          <a:xfrm>
            <a:off x="6095999" y="713313"/>
            <a:ext cx="5257801" cy="5431376"/>
          </a:xfrm>
        </p:spPr>
        <p:txBody>
          <a:bodyPr anchor="ctr">
            <a:normAutofit/>
          </a:bodyPr>
          <a:lstStyle/>
          <a:p>
            <a:pPr marL="0" indent="0">
              <a:buNone/>
            </a:pPr>
            <a:r>
              <a:rPr lang="fr-CH" sz="3200" dirty="0"/>
              <a:t>1. </a:t>
            </a:r>
            <a:r>
              <a:rPr lang="fr-CH" sz="3200" dirty="0" err="1"/>
              <a:t>What</a:t>
            </a:r>
            <a:r>
              <a:rPr lang="fr-CH" sz="3200" dirty="0"/>
              <a:t> </a:t>
            </a:r>
            <a:r>
              <a:rPr lang="fr-CH" sz="3200" dirty="0" err="1"/>
              <a:t>share</a:t>
            </a:r>
            <a:r>
              <a:rPr lang="fr-CH" sz="3200" dirty="0"/>
              <a:t> of </a:t>
            </a:r>
            <a:r>
              <a:rPr lang="fr-CH" sz="3200" dirty="0" err="1"/>
              <a:t>daily</a:t>
            </a:r>
            <a:r>
              <a:rPr lang="fr-CH" sz="3200" dirty="0"/>
              <a:t> </a:t>
            </a:r>
            <a:r>
              <a:rPr lang="fr-CH" sz="3200" dirty="0" err="1"/>
              <a:t>activities</a:t>
            </a:r>
            <a:r>
              <a:rPr lang="fr-CH" sz="3200" dirty="0"/>
              <a:t> </a:t>
            </a:r>
            <a:r>
              <a:rPr lang="fr-CH" sz="3200" dirty="0" err="1"/>
              <a:t>occurs</a:t>
            </a:r>
            <a:r>
              <a:rPr lang="fr-CH" sz="3200" dirty="0"/>
              <a:t> </a:t>
            </a:r>
            <a:r>
              <a:rPr lang="fr-CH" sz="3200" dirty="0" err="1"/>
              <a:t>within</a:t>
            </a:r>
            <a:r>
              <a:rPr lang="fr-CH" sz="3200" dirty="0"/>
              <a:t> 15 minutes </a:t>
            </a:r>
            <a:r>
              <a:rPr lang="fr-CH" sz="3200" dirty="0" err="1"/>
              <a:t>from</a:t>
            </a:r>
            <a:r>
              <a:rPr lang="fr-CH" sz="3200" dirty="0"/>
              <a:t> home ? (per </a:t>
            </a:r>
            <a:r>
              <a:rPr lang="fr-CH" sz="3200" dirty="0" err="1"/>
              <a:t>means</a:t>
            </a:r>
            <a:r>
              <a:rPr lang="fr-CH" sz="3200" dirty="0"/>
              <a:t> of transportation)</a:t>
            </a:r>
          </a:p>
          <a:p>
            <a:pPr marL="0" indent="0">
              <a:buNone/>
            </a:pPr>
            <a:r>
              <a:rPr lang="fr-CH" sz="3200" dirty="0"/>
              <a:t>2. How </a:t>
            </a:r>
            <a:r>
              <a:rPr lang="fr-CH" sz="3200" dirty="0" err="1"/>
              <a:t>does</a:t>
            </a:r>
            <a:r>
              <a:rPr lang="fr-CH" sz="3200" dirty="0"/>
              <a:t> </a:t>
            </a:r>
            <a:r>
              <a:rPr lang="fr-CH" sz="3200" dirty="0" err="1"/>
              <a:t>actual</a:t>
            </a:r>
            <a:r>
              <a:rPr lang="fr-CH" sz="3200" dirty="0"/>
              <a:t> </a:t>
            </a:r>
            <a:r>
              <a:rPr lang="fr-CH" sz="3200" dirty="0" err="1"/>
              <a:t>mobility</a:t>
            </a:r>
            <a:r>
              <a:rPr lang="fr-CH" sz="3200" dirty="0"/>
              <a:t> </a:t>
            </a:r>
            <a:r>
              <a:rPr lang="fr-CH" sz="3200" dirty="0" err="1"/>
              <a:t>differ</a:t>
            </a:r>
            <a:r>
              <a:rPr lang="fr-CH" sz="3200" dirty="0"/>
              <a:t> </a:t>
            </a:r>
            <a:r>
              <a:rPr lang="fr-CH" sz="3200" dirty="0" err="1"/>
              <a:t>from</a:t>
            </a:r>
            <a:r>
              <a:rPr lang="fr-CH" sz="3200" dirty="0"/>
              <a:t> the </a:t>
            </a:r>
            <a:r>
              <a:rPr lang="fr-CH" sz="3200" dirty="0" err="1"/>
              <a:t>theoretical</a:t>
            </a:r>
            <a:r>
              <a:rPr lang="fr-CH" sz="3200" dirty="0"/>
              <a:t> </a:t>
            </a:r>
            <a:r>
              <a:rPr lang="fr-CH" sz="3200" dirty="0" err="1"/>
              <a:t>accessibility</a:t>
            </a:r>
            <a:r>
              <a:rPr lang="fr-CH" sz="3200" dirty="0"/>
              <a:t>? </a:t>
            </a:r>
          </a:p>
          <a:p>
            <a:pPr marL="0" indent="0">
              <a:buNone/>
            </a:pPr>
            <a:r>
              <a:rPr lang="fr-CH" sz="3200" dirty="0"/>
              <a:t>3. </a:t>
            </a:r>
            <a:r>
              <a:rPr lang="fr-CH" sz="3200" dirty="0" err="1"/>
              <a:t>Which</a:t>
            </a:r>
            <a:r>
              <a:rPr lang="fr-CH" sz="3200" dirty="0"/>
              <a:t> types of </a:t>
            </a:r>
            <a:r>
              <a:rPr lang="fr-CH" sz="3200" dirty="0" err="1"/>
              <a:t>activities</a:t>
            </a:r>
            <a:r>
              <a:rPr lang="fr-CH" sz="3200" dirty="0"/>
              <a:t> </a:t>
            </a:r>
            <a:r>
              <a:rPr lang="fr-CH" sz="3200" dirty="0" err="1"/>
              <a:t>most</a:t>
            </a:r>
            <a:r>
              <a:rPr lang="fr-CH" sz="3200" dirty="0"/>
              <a:t> </a:t>
            </a:r>
            <a:r>
              <a:rPr lang="fr-CH" sz="3200" dirty="0" err="1"/>
              <a:t>often</a:t>
            </a:r>
            <a:r>
              <a:rPr lang="fr-CH" sz="3200" dirty="0"/>
              <a:t> </a:t>
            </a:r>
            <a:r>
              <a:rPr lang="fr-CH" sz="3200" dirty="0" err="1"/>
              <a:t>occur</a:t>
            </a:r>
            <a:r>
              <a:rPr lang="fr-CH" sz="3200" dirty="0"/>
              <a:t> </a:t>
            </a:r>
            <a:r>
              <a:rPr lang="fr-CH" sz="3200" dirty="0" err="1"/>
              <a:t>beyond</a:t>
            </a:r>
            <a:r>
              <a:rPr lang="fr-CH" sz="3200" dirty="0"/>
              <a:t> a 15‑minute radius?</a:t>
            </a:r>
          </a:p>
        </p:txBody>
      </p:sp>
    </p:spTree>
    <p:extLst>
      <p:ext uri="{BB962C8B-B14F-4D97-AF65-F5344CB8AC3E}">
        <p14:creationId xmlns:p14="http://schemas.microsoft.com/office/powerpoint/2010/main" val="3809305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23E1E-BDBE-7890-99F7-75EB4E250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8A396A-E78B-8B83-BCD1-2000A3ACC94E}"/>
              </a:ext>
            </a:extLst>
          </p:cNvPr>
          <p:cNvSpPr>
            <a:spLocks noGrp="1"/>
          </p:cNvSpPr>
          <p:nvPr>
            <p:ph type="title"/>
          </p:nvPr>
        </p:nvSpPr>
        <p:spPr>
          <a:xfrm>
            <a:off x="838200" y="713312"/>
            <a:ext cx="4038600" cy="3472607"/>
          </a:xfrm>
        </p:spPr>
        <p:txBody>
          <a:bodyPr>
            <a:normAutofit/>
          </a:bodyPr>
          <a:lstStyle/>
          <a:p>
            <a:r>
              <a:rPr lang="en-001" dirty="0"/>
              <a:t>Best Possible Outcome</a:t>
            </a:r>
          </a:p>
        </p:txBody>
      </p:sp>
      <p:sp>
        <p:nvSpPr>
          <p:cNvPr id="24" name="Content Placeholder 2">
            <a:extLst>
              <a:ext uri="{FF2B5EF4-FFF2-40B4-BE49-F238E27FC236}">
                <a16:creationId xmlns:a16="http://schemas.microsoft.com/office/drawing/2014/main" id="{220A022F-93D1-8C5A-87A5-E8C8242FA292}"/>
              </a:ext>
            </a:extLst>
          </p:cNvPr>
          <p:cNvSpPr>
            <a:spLocks noGrp="1"/>
          </p:cNvSpPr>
          <p:nvPr>
            <p:ph idx="1"/>
          </p:nvPr>
        </p:nvSpPr>
        <p:spPr>
          <a:xfrm>
            <a:off x="4876801" y="713313"/>
            <a:ext cx="6477000" cy="3472607"/>
          </a:xfrm>
        </p:spPr>
        <p:txBody>
          <a:bodyPr anchor="ctr">
            <a:normAutofit fontScale="92500" lnSpcReduction="10000"/>
          </a:bodyPr>
          <a:lstStyle/>
          <a:p>
            <a:pPr marL="0" indent="0">
              <a:buNone/>
            </a:pPr>
            <a:r>
              <a:rPr lang="en-001" sz="3200" dirty="0"/>
              <a:t>We expect to:</a:t>
            </a:r>
          </a:p>
          <a:p>
            <a:r>
              <a:rPr lang="en-001" sz="3200" dirty="0"/>
              <a:t>Quantify the proportion of local vs non-local activities </a:t>
            </a:r>
          </a:p>
          <a:p>
            <a:r>
              <a:rPr lang="en-001" sz="3200" dirty="0"/>
              <a:t>Identify activity types that exceed the 15-minute threshold </a:t>
            </a:r>
          </a:p>
          <a:p>
            <a:r>
              <a:rPr lang="en-001" sz="3200" dirty="0"/>
              <a:t>Evaluate whether mobility is driven more by accessibility or by personal preferences and habits</a:t>
            </a:r>
          </a:p>
        </p:txBody>
      </p:sp>
      <p:sp>
        <p:nvSpPr>
          <p:cNvPr id="3" name="Rectangle 2">
            <a:extLst>
              <a:ext uri="{FF2B5EF4-FFF2-40B4-BE49-F238E27FC236}">
                <a16:creationId xmlns:a16="http://schemas.microsoft.com/office/drawing/2014/main" id="{7054B78A-D08B-EF49-5DCE-3E78CEFBEEF3}"/>
              </a:ext>
            </a:extLst>
          </p:cNvPr>
          <p:cNvSpPr/>
          <p:nvPr/>
        </p:nvSpPr>
        <p:spPr>
          <a:xfrm>
            <a:off x="0" y="4795520"/>
            <a:ext cx="12192000" cy="156173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001" sz="2200" b="1" dirty="0">
                <a:solidFill>
                  <a:schemeClr val="tx1"/>
                </a:solidFill>
              </a:rPr>
              <a:t>Hypothesis:</a:t>
            </a:r>
            <a:r>
              <a:rPr lang="en-001" sz="2200" dirty="0">
                <a:solidFill>
                  <a:schemeClr val="tx1"/>
                </a:solidFill>
              </a:rPr>
              <a:t> Even in Zurich, many social and professional activities </a:t>
            </a:r>
          </a:p>
          <a:p>
            <a:pPr algn="ctr"/>
            <a:r>
              <a:rPr lang="en-001" sz="2200" dirty="0">
                <a:solidFill>
                  <a:schemeClr val="tx1"/>
                </a:solidFill>
              </a:rPr>
              <a:t>occur beyond the theoretically accessible area</a:t>
            </a:r>
          </a:p>
        </p:txBody>
      </p:sp>
    </p:spTree>
    <p:extLst>
      <p:ext uri="{BB962C8B-B14F-4D97-AF65-F5344CB8AC3E}">
        <p14:creationId xmlns:p14="http://schemas.microsoft.com/office/powerpoint/2010/main" val="2129016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E109C-6D34-3899-2236-59C7379E8D40}"/>
              </a:ext>
            </a:extLst>
          </p:cNvPr>
          <p:cNvSpPr>
            <a:spLocks noGrp="1"/>
          </p:cNvSpPr>
          <p:nvPr>
            <p:ph type="title"/>
          </p:nvPr>
        </p:nvSpPr>
        <p:spPr/>
        <p:txBody>
          <a:bodyPr/>
          <a:lstStyle/>
          <a:p>
            <a:r>
              <a:rPr lang="fr-CH" dirty="0" err="1"/>
              <a:t>Research</a:t>
            </a:r>
            <a:r>
              <a:rPr lang="fr-CH" dirty="0"/>
              <a:t> plan</a:t>
            </a:r>
          </a:p>
        </p:txBody>
      </p:sp>
      <p:graphicFrame>
        <p:nvGraphicFramePr>
          <p:cNvPr id="10" name="Content Placeholder 2">
            <a:extLst>
              <a:ext uri="{FF2B5EF4-FFF2-40B4-BE49-F238E27FC236}">
                <a16:creationId xmlns:a16="http://schemas.microsoft.com/office/drawing/2014/main" id="{F0AF24CE-C5D3-D1BD-30C2-C0EACACE23B1}"/>
              </a:ext>
            </a:extLst>
          </p:cNvPr>
          <p:cNvGraphicFramePr>
            <a:graphicFrameLocks noGrp="1"/>
          </p:cNvGraphicFramePr>
          <p:nvPr>
            <p:ph idx="1"/>
            <p:extLst>
              <p:ext uri="{D42A27DB-BD31-4B8C-83A1-F6EECF244321}">
                <p14:modId xmlns:p14="http://schemas.microsoft.com/office/powerpoint/2010/main" val="14347568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Graphic 11" descr="Checkbox Ticked with solid fill">
            <a:extLst>
              <a:ext uri="{FF2B5EF4-FFF2-40B4-BE49-F238E27FC236}">
                <a16:creationId xmlns:a16="http://schemas.microsoft.com/office/drawing/2014/main" id="{A3023F9A-E358-3DBF-913D-70EF311A15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370297"/>
            <a:ext cx="730038" cy="730038"/>
          </a:xfrm>
          <a:prstGeom prst="rect">
            <a:avLst/>
          </a:prstGeom>
        </p:spPr>
      </p:pic>
      <p:pic>
        <p:nvPicPr>
          <p:cNvPr id="4" name="Graphic 3" descr="Checkbox Ticked with solid fill">
            <a:extLst>
              <a:ext uri="{FF2B5EF4-FFF2-40B4-BE49-F238E27FC236}">
                <a16:creationId xmlns:a16="http://schemas.microsoft.com/office/drawing/2014/main" id="{38B915E9-9DD5-D0F4-8165-7A9E5BCA020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1783928"/>
            <a:ext cx="730038" cy="730038"/>
          </a:xfrm>
          <a:prstGeom prst="rect">
            <a:avLst/>
          </a:prstGeom>
        </p:spPr>
      </p:pic>
      <p:pic>
        <p:nvPicPr>
          <p:cNvPr id="5" name="Graphic 4" descr="Checkbox Ticked with solid fill">
            <a:extLst>
              <a:ext uri="{FF2B5EF4-FFF2-40B4-BE49-F238E27FC236}">
                <a16:creationId xmlns:a16="http://schemas.microsoft.com/office/drawing/2014/main" id="{65FA58BF-3231-B8D6-4E08-A8E836ED05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992583"/>
            <a:ext cx="730038" cy="730038"/>
          </a:xfrm>
          <a:prstGeom prst="rect">
            <a:avLst/>
          </a:prstGeom>
        </p:spPr>
      </p:pic>
      <p:pic>
        <p:nvPicPr>
          <p:cNvPr id="6" name="Graphic 5" descr="Checkbox Ticked with solid fill">
            <a:extLst>
              <a:ext uri="{FF2B5EF4-FFF2-40B4-BE49-F238E27FC236}">
                <a16:creationId xmlns:a16="http://schemas.microsoft.com/office/drawing/2014/main" id="{68B16695-A7DE-7F0A-7798-7A04FB9C77B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3614870"/>
            <a:ext cx="730038" cy="730038"/>
          </a:xfrm>
          <a:prstGeom prst="rect">
            <a:avLst/>
          </a:prstGeom>
        </p:spPr>
      </p:pic>
      <p:pic>
        <p:nvPicPr>
          <p:cNvPr id="3" name="Graphic 2" descr="Checkbox Ticked with solid fill">
            <a:extLst>
              <a:ext uri="{FF2B5EF4-FFF2-40B4-BE49-F238E27FC236}">
                <a16:creationId xmlns:a16="http://schemas.microsoft.com/office/drawing/2014/main" id="{FA2DE613-F1D5-2989-D88C-8E6AED6156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93653" y="4273073"/>
            <a:ext cx="730038" cy="730038"/>
          </a:xfrm>
          <a:prstGeom prst="rect">
            <a:avLst/>
          </a:prstGeom>
        </p:spPr>
      </p:pic>
      <p:pic>
        <p:nvPicPr>
          <p:cNvPr id="7" name="Graphic 6" descr="Checkbox Ticked with solid fill">
            <a:extLst>
              <a:ext uri="{FF2B5EF4-FFF2-40B4-BE49-F238E27FC236}">
                <a16:creationId xmlns:a16="http://schemas.microsoft.com/office/drawing/2014/main" id="{E1F16737-3E02-BFA5-BEF3-8E01D6A8980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4859999"/>
            <a:ext cx="730038" cy="730038"/>
          </a:xfrm>
          <a:prstGeom prst="rect">
            <a:avLst/>
          </a:prstGeom>
        </p:spPr>
      </p:pic>
      <p:pic>
        <p:nvPicPr>
          <p:cNvPr id="8" name="Graphic 7" descr="Checkbox Ticked with solid fill">
            <a:extLst>
              <a:ext uri="{FF2B5EF4-FFF2-40B4-BE49-F238E27FC236}">
                <a16:creationId xmlns:a16="http://schemas.microsoft.com/office/drawing/2014/main" id="{3E0A8CC6-3214-EF38-9053-422EFD396D2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5488622"/>
            <a:ext cx="730038" cy="730038"/>
          </a:xfrm>
          <a:prstGeom prst="rect">
            <a:avLst/>
          </a:prstGeom>
        </p:spPr>
      </p:pic>
    </p:spTree>
    <p:extLst>
      <p:ext uri="{BB962C8B-B14F-4D97-AF65-F5344CB8AC3E}">
        <p14:creationId xmlns:p14="http://schemas.microsoft.com/office/powerpoint/2010/main" val="1534447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F246B98-9AC8-1731-91BA-EC33F21B2854}"/>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Preliminary results</a:t>
            </a:r>
          </a:p>
        </p:txBody>
      </p:sp>
      <p:sp>
        <p:nvSpPr>
          <p:cNvPr id="3" name="Content Placeholder 2">
            <a:extLst>
              <a:ext uri="{FF2B5EF4-FFF2-40B4-BE49-F238E27FC236}">
                <a16:creationId xmlns:a16="http://schemas.microsoft.com/office/drawing/2014/main" id="{1FF8A667-72FF-F0DD-A8E9-3680D2ED163B}"/>
              </a:ext>
            </a:extLst>
          </p:cNvPr>
          <p:cNvSpPr>
            <a:spLocks noGrp="1"/>
          </p:cNvSpPr>
          <p:nvPr>
            <p:ph idx="1"/>
          </p:nvPr>
        </p:nvSpPr>
        <p:spPr>
          <a:xfrm>
            <a:off x="996287" y="4121253"/>
            <a:ext cx="3125337" cy="1136843"/>
          </a:xfrm>
        </p:spPr>
        <p:txBody>
          <a:bodyPr vert="horz" lIns="91440" tIns="45720" rIns="91440" bIns="45720" rtlCol="0">
            <a:normAutofit/>
          </a:bodyPr>
          <a:lstStyle/>
          <a:p>
            <a:pPr marL="0" indent="0" algn="ctr">
              <a:buNone/>
            </a:pPr>
            <a:r>
              <a:rPr lang="en-US" sz="1800" kern="1200">
                <a:solidFill>
                  <a:schemeClr val="tx1"/>
                </a:solidFill>
                <a:latin typeface="+mn-lt"/>
                <a:ea typeface="+mn-ea"/>
                <a:cs typeface="+mn-cs"/>
              </a:rPr>
              <a:t>What proportion of activities occur within 15 minutes?</a:t>
            </a:r>
          </a:p>
        </p:txBody>
      </p:sp>
      <p:pic>
        <p:nvPicPr>
          <p:cNvPr id="5" name="Picture 4">
            <a:extLst>
              <a:ext uri="{FF2B5EF4-FFF2-40B4-BE49-F238E27FC236}">
                <a16:creationId xmlns:a16="http://schemas.microsoft.com/office/drawing/2014/main" id="{628520E5-8B76-0B19-1B10-529E5F63A3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7443" y="877008"/>
            <a:ext cx="6726835" cy="4708783"/>
          </a:xfrm>
          <a:prstGeom prst="rect">
            <a:avLst/>
          </a:prstGeom>
        </p:spPr>
      </p:pic>
    </p:spTree>
    <p:extLst>
      <p:ext uri="{BB962C8B-B14F-4D97-AF65-F5344CB8AC3E}">
        <p14:creationId xmlns:p14="http://schemas.microsoft.com/office/powerpoint/2010/main" val="512293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B53E3-DD75-3FA3-4F10-61511F0AD0DD}"/>
              </a:ext>
            </a:extLst>
          </p:cNvPr>
          <p:cNvSpPr>
            <a:spLocks noGrp="1"/>
          </p:cNvSpPr>
          <p:nvPr>
            <p:ph type="title"/>
          </p:nvPr>
        </p:nvSpPr>
        <p:spPr>
          <a:xfrm rot="16200000">
            <a:off x="-4071730" y="91364"/>
            <a:ext cx="10515600" cy="1325563"/>
          </a:xfrm>
        </p:spPr>
        <p:txBody>
          <a:bodyPr>
            <a:normAutofit/>
          </a:bodyPr>
          <a:lstStyle/>
          <a:p>
            <a:r>
              <a:rPr lang="en-001" b="1" dirty="0"/>
              <a:t>Accessibility Gap</a:t>
            </a:r>
            <a:endParaRPr lang="en-001" dirty="0"/>
          </a:p>
        </p:txBody>
      </p:sp>
      <p:pic>
        <p:nvPicPr>
          <p:cNvPr id="8" name="Picture 7">
            <a:extLst>
              <a:ext uri="{FF2B5EF4-FFF2-40B4-BE49-F238E27FC236}">
                <a16:creationId xmlns:a16="http://schemas.microsoft.com/office/drawing/2014/main" id="{826849BE-0450-BC5F-269F-A7C9C7FCB8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48852" y="475849"/>
            <a:ext cx="8964922" cy="6133894"/>
          </a:xfrm>
          <a:prstGeom prst="rect">
            <a:avLst/>
          </a:prstGeom>
        </p:spPr>
      </p:pic>
    </p:spTree>
    <p:extLst>
      <p:ext uri="{BB962C8B-B14F-4D97-AF65-F5344CB8AC3E}">
        <p14:creationId xmlns:p14="http://schemas.microsoft.com/office/powerpoint/2010/main" val="1701537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FD0A6-936D-1217-2307-54883D928515}"/>
              </a:ext>
            </a:extLst>
          </p:cNvPr>
          <p:cNvSpPr>
            <a:spLocks noGrp="1"/>
          </p:cNvSpPr>
          <p:nvPr>
            <p:ph type="title"/>
          </p:nvPr>
        </p:nvSpPr>
        <p:spPr/>
        <p:txBody>
          <a:bodyPr>
            <a:normAutofit/>
          </a:bodyPr>
          <a:lstStyle/>
          <a:p>
            <a:r>
              <a:rPr lang="en-001" sz="4000" b="1" dirty="0"/>
              <a:t>Activities occurring beyond the 15-minute city</a:t>
            </a:r>
            <a:endParaRPr lang="en-001" sz="4000" dirty="0"/>
          </a:p>
        </p:txBody>
      </p:sp>
      <p:pic>
        <p:nvPicPr>
          <p:cNvPr id="5" name="Content Placeholder 4">
            <a:extLst>
              <a:ext uri="{FF2B5EF4-FFF2-40B4-BE49-F238E27FC236}">
                <a16:creationId xmlns:a16="http://schemas.microsoft.com/office/drawing/2014/main" id="{0A24CC37-D9A8-59DF-A14B-5BF03F157956}"/>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11781"/>
          <a:stretch>
            <a:fillRect/>
          </a:stretch>
        </p:blipFill>
        <p:spPr>
          <a:xfrm>
            <a:off x="1431183" y="1470991"/>
            <a:ext cx="8726608" cy="5281533"/>
          </a:xfrm>
          <a:prstGeom prst="rect">
            <a:avLst/>
          </a:prstGeom>
        </p:spPr>
      </p:pic>
    </p:spTree>
    <p:extLst>
      <p:ext uri="{BB962C8B-B14F-4D97-AF65-F5344CB8AC3E}">
        <p14:creationId xmlns:p14="http://schemas.microsoft.com/office/powerpoint/2010/main" val="38550544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9C5E-D113-F410-1D52-CFEDFDD68709}"/>
              </a:ext>
            </a:extLst>
          </p:cNvPr>
          <p:cNvSpPr>
            <a:spLocks noGrp="1"/>
          </p:cNvSpPr>
          <p:nvPr>
            <p:ph type="title"/>
          </p:nvPr>
        </p:nvSpPr>
        <p:spPr/>
        <p:txBody>
          <a:bodyPr/>
          <a:lstStyle/>
          <a:p>
            <a:r>
              <a:rPr lang="fr-CH" dirty="0"/>
              <a:t>Challenges and Plan B</a:t>
            </a:r>
          </a:p>
        </p:txBody>
      </p:sp>
      <p:sp>
        <p:nvSpPr>
          <p:cNvPr id="3" name="Content Placeholder 2">
            <a:extLst>
              <a:ext uri="{FF2B5EF4-FFF2-40B4-BE49-F238E27FC236}">
                <a16:creationId xmlns:a16="http://schemas.microsoft.com/office/drawing/2014/main" id="{DBAEEBF5-C3D9-FA63-1735-E9C2F5C42998}"/>
              </a:ext>
            </a:extLst>
          </p:cNvPr>
          <p:cNvSpPr>
            <a:spLocks noGrp="1"/>
          </p:cNvSpPr>
          <p:nvPr>
            <p:ph idx="1"/>
          </p:nvPr>
        </p:nvSpPr>
        <p:spPr/>
        <p:txBody>
          <a:bodyPr/>
          <a:lstStyle/>
          <a:p>
            <a:r>
              <a:rPr lang="fr-CH" dirty="0" err="1"/>
              <a:t>Integration</a:t>
            </a:r>
            <a:r>
              <a:rPr lang="fr-CH" dirty="0"/>
              <a:t> of the ZVV time plan </a:t>
            </a:r>
          </a:p>
          <a:p>
            <a:pPr lvl="1"/>
            <a:r>
              <a:rPr lang="fr-CH" dirty="0"/>
              <a:t>Heavy data set </a:t>
            </a:r>
          </a:p>
          <a:p>
            <a:pPr lvl="1"/>
            <a:r>
              <a:rPr lang="fr-CH" dirty="0"/>
              <a:t>Add </a:t>
            </a:r>
            <a:r>
              <a:rPr lang="fr-CH" dirty="0" err="1"/>
              <a:t>unusefull</a:t>
            </a:r>
            <a:r>
              <a:rPr lang="fr-CH" dirty="0"/>
              <a:t> complication</a:t>
            </a:r>
            <a:endParaRPr lang="fr-CH" dirty="0">
              <a:sym typeface="Wingdings" panose="05000000000000000000" pitchFamily="2" charset="2"/>
            </a:endParaRPr>
          </a:p>
          <a:p>
            <a:pPr>
              <a:buFont typeface="Wingdings" panose="05000000000000000000" pitchFamily="2" charset="2"/>
              <a:buChar char="à"/>
            </a:pPr>
            <a:r>
              <a:rPr lang="fr-CH" dirty="0">
                <a:sym typeface="Wingdings" panose="05000000000000000000" pitchFamily="2" charset="2"/>
              </a:rPr>
              <a:t> Use an estimation of the speed of the public transports (bus and tram) of 15 km/h </a:t>
            </a:r>
          </a:p>
          <a:p>
            <a:r>
              <a:rPr lang="fr-CH" dirty="0">
                <a:sym typeface="Wingdings" panose="05000000000000000000" pitchFamily="2" charset="2"/>
              </a:rPr>
              <a:t>Anonymisation of the data</a:t>
            </a:r>
          </a:p>
          <a:p>
            <a:pPr lvl="1"/>
            <a:r>
              <a:rPr lang="fr-CH" dirty="0">
                <a:sym typeface="Wingdings" panose="05000000000000000000" pitchFamily="2" charset="2"/>
              </a:rPr>
              <a:t>With </a:t>
            </a:r>
            <a:r>
              <a:rPr lang="fr-CH" dirty="0" err="1">
                <a:sym typeface="Wingdings" panose="05000000000000000000" pitchFamily="2" charset="2"/>
              </a:rPr>
              <a:t>only</a:t>
            </a:r>
            <a:r>
              <a:rPr lang="fr-CH" dirty="0">
                <a:sym typeface="Wingdings" panose="05000000000000000000" pitchFamily="2" charset="2"/>
              </a:rPr>
              <a:t> a few </a:t>
            </a:r>
            <a:r>
              <a:rPr lang="fr-CH" dirty="0" err="1">
                <a:sym typeface="Wingdings" panose="05000000000000000000" pitchFamily="2" charset="2"/>
              </a:rPr>
              <a:t>visited</a:t>
            </a:r>
            <a:r>
              <a:rPr lang="fr-CH" dirty="0">
                <a:sym typeface="Wingdings" panose="05000000000000000000" pitchFamily="2" charset="2"/>
              </a:rPr>
              <a:t> points, </a:t>
            </a:r>
            <a:r>
              <a:rPr lang="fr-CH" dirty="0" err="1">
                <a:sym typeface="Wingdings" panose="05000000000000000000" pitchFamily="2" charset="2"/>
              </a:rPr>
              <a:t>it</a:t>
            </a:r>
            <a:r>
              <a:rPr lang="fr-CH" dirty="0">
                <a:sym typeface="Wingdings" panose="05000000000000000000" pitchFamily="2" charset="2"/>
              </a:rPr>
              <a:t> </a:t>
            </a:r>
            <a:r>
              <a:rPr lang="fr-CH" dirty="0" err="1">
                <a:sym typeface="Wingdings" panose="05000000000000000000" pitchFamily="2" charset="2"/>
              </a:rPr>
              <a:t>is</a:t>
            </a:r>
            <a:r>
              <a:rPr lang="fr-CH" dirty="0">
                <a:sym typeface="Wingdings" panose="05000000000000000000" pitchFamily="2" charset="2"/>
              </a:rPr>
              <a:t> possible to </a:t>
            </a:r>
            <a:r>
              <a:rPr lang="fr-CH" dirty="0" err="1">
                <a:sym typeface="Wingdings" panose="05000000000000000000" pitchFamily="2" charset="2"/>
              </a:rPr>
              <a:t>find</a:t>
            </a:r>
            <a:r>
              <a:rPr lang="fr-CH" dirty="0">
                <a:sym typeface="Wingdings" panose="05000000000000000000" pitchFamily="2" charset="2"/>
              </a:rPr>
              <a:t> out </a:t>
            </a:r>
            <a:r>
              <a:rPr lang="fr-CH" dirty="0" err="1">
                <a:sym typeface="Wingdings" panose="05000000000000000000" pitchFamily="2" charset="2"/>
              </a:rPr>
              <a:t>where</a:t>
            </a:r>
            <a:r>
              <a:rPr lang="fr-CH" dirty="0">
                <a:sym typeface="Wingdings" panose="05000000000000000000" pitchFamily="2" charset="2"/>
              </a:rPr>
              <a:t> the </a:t>
            </a:r>
            <a:r>
              <a:rPr lang="fr-CH" dirty="0" err="1">
                <a:sym typeface="Wingdings" panose="05000000000000000000" pitchFamily="2" charset="2"/>
              </a:rPr>
              <a:t>person</a:t>
            </a:r>
            <a:r>
              <a:rPr lang="fr-CH" dirty="0">
                <a:sym typeface="Wingdings" panose="05000000000000000000" pitchFamily="2" charset="2"/>
              </a:rPr>
              <a:t> </a:t>
            </a:r>
            <a:r>
              <a:rPr lang="fr-CH" dirty="0" err="1">
                <a:sym typeface="Wingdings" panose="05000000000000000000" pitchFamily="2" charset="2"/>
              </a:rPr>
              <a:t>lives</a:t>
            </a:r>
            <a:r>
              <a:rPr lang="fr-CH" dirty="0">
                <a:sym typeface="Wingdings" panose="05000000000000000000" pitchFamily="2" charset="2"/>
              </a:rPr>
              <a:t>/</a:t>
            </a:r>
            <a:r>
              <a:rPr lang="fr-CH" dirty="0" err="1">
                <a:sym typeface="Wingdings" panose="05000000000000000000" pitchFamily="2" charset="2"/>
              </a:rPr>
              <a:t>who</a:t>
            </a:r>
            <a:r>
              <a:rPr lang="fr-CH" dirty="0">
                <a:sym typeface="Wingdings" panose="05000000000000000000" pitchFamily="2" charset="2"/>
              </a:rPr>
              <a:t> </a:t>
            </a:r>
            <a:r>
              <a:rPr lang="fr-CH" dirty="0" err="1">
                <a:sym typeface="Wingdings" panose="05000000000000000000" pitchFamily="2" charset="2"/>
              </a:rPr>
              <a:t>they</a:t>
            </a:r>
            <a:r>
              <a:rPr lang="fr-CH" dirty="0">
                <a:sym typeface="Wingdings" panose="05000000000000000000" pitchFamily="2" charset="2"/>
              </a:rPr>
              <a:t> are</a:t>
            </a:r>
          </a:p>
          <a:p>
            <a:pPr marL="0" indent="0">
              <a:buNone/>
            </a:pPr>
            <a:r>
              <a:rPr lang="fr-CH" dirty="0">
                <a:sym typeface="Wingdings" panose="05000000000000000000" pitchFamily="2" charset="2"/>
              </a:rPr>
              <a:t> Change the </a:t>
            </a:r>
            <a:r>
              <a:rPr lang="fr-CH" dirty="0" err="1">
                <a:sym typeface="Wingdings" panose="05000000000000000000" pitchFamily="2" charset="2"/>
              </a:rPr>
              <a:t>adress</a:t>
            </a:r>
            <a:r>
              <a:rPr lang="fr-CH" dirty="0">
                <a:sym typeface="Wingdings" panose="05000000000000000000" pitchFamily="2" charset="2"/>
              </a:rPr>
              <a:t> by a few blocks/</a:t>
            </a:r>
            <a:r>
              <a:rPr lang="fr-CH" dirty="0" err="1">
                <a:sym typeface="Wingdings" panose="05000000000000000000" pitchFamily="2" charset="2"/>
              </a:rPr>
              <a:t>streets</a:t>
            </a:r>
            <a:r>
              <a:rPr lang="fr-CH" dirty="0">
                <a:sym typeface="Wingdings" panose="05000000000000000000" pitchFamily="2" charset="2"/>
              </a:rPr>
              <a:t> (but </a:t>
            </a:r>
            <a:r>
              <a:rPr lang="fr-CH" dirty="0" err="1">
                <a:sym typeface="Wingdings" panose="05000000000000000000" pitchFamily="2" charset="2"/>
              </a:rPr>
              <a:t>still</a:t>
            </a:r>
            <a:r>
              <a:rPr lang="fr-CH" dirty="0">
                <a:sym typeface="Wingdings" panose="05000000000000000000" pitchFamily="2" charset="2"/>
              </a:rPr>
              <a:t> not </a:t>
            </a:r>
            <a:r>
              <a:rPr lang="fr-CH" dirty="0" err="1">
                <a:sym typeface="Wingdings" panose="05000000000000000000" pitchFamily="2" charset="2"/>
              </a:rPr>
              <a:t>ideal</a:t>
            </a:r>
            <a:r>
              <a:rPr lang="fr-CH" dirty="0">
                <a:sym typeface="Wingdings" panose="05000000000000000000" pitchFamily="2" charset="2"/>
              </a:rPr>
              <a:t>) </a:t>
            </a:r>
          </a:p>
          <a:p>
            <a:pPr marL="0" indent="0">
              <a:buNone/>
            </a:pPr>
            <a:endParaRPr lang="fr-CH" dirty="0"/>
          </a:p>
        </p:txBody>
      </p:sp>
    </p:spTree>
    <p:extLst>
      <p:ext uri="{BB962C8B-B14F-4D97-AF65-F5344CB8AC3E}">
        <p14:creationId xmlns:p14="http://schemas.microsoft.com/office/powerpoint/2010/main" val="23573053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1443</TotalTime>
  <Words>662</Words>
  <Application>Microsoft Office PowerPoint</Application>
  <PresentationFormat>Widescreen</PresentationFormat>
  <Paragraphs>81</Paragraphs>
  <Slides>11</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Wingdings</vt:lpstr>
      <vt:lpstr>Office Theme</vt:lpstr>
      <vt:lpstr>The 15-Minute City in Practice  Comparing theoretical accessibility and real mobility patterns in Zurich</vt:lpstr>
      <vt:lpstr>Context </vt:lpstr>
      <vt:lpstr>Presentation general of the project</vt:lpstr>
      <vt:lpstr>Context &amp; Project Intro</vt:lpstr>
      <vt:lpstr>Research questions </vt:lpstr>
      <vt:lpstr>Best Possible Outcome</vt:lpstr>
      <vt:lpstr>Research plan</vt:lpstr>
      <vt:lpstr>Preliminary results</vt:lpstr>
      <vt:lpstr>Accessibility Gap</vt:lpstr>
      <vt:lpstr>Activities occurring beyond the 15-minute city</vt:lpstr>
      <vt:lpstr>Challenges and Plan 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Noémie Simon</dc:creator>
  <cp:lastModifiedBy>Noémie Simon</cp:lastModifiedBy>
  <cp:revision>6</cp:revision>
  <dcterms:created xsi:type="dcterms:W3CDTF">2026-05-30T13:29:55Z</dcterms:created>
  <dcterms:modified xsi:type="dcterms:W3CDTF">2026-06-02T17:40:25Z</dcterms:modified>
</cp:coreProperties>
</file>