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omments/modernComment_102_88E6931F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70" r:id="rId4"/>
    <p:sldId id="263" r:id="rId5"/>
    <p:sldId id="269" r:id="rId6"/>
    <p:sldId id="271" r:id="rId7"/>
    <p:sldId id="261" r:id="rId8"/>
    <p:sldId id="267" r:id="rId9"/>
    <p:sldId id="268" r:id="rId10"/>
    <p:sldId id="262" r:id="rId11"/>
    <p:sldId id="258" r:id="rId12"/>
    <p:sldId id="257" r:id="rId13"/>
    <p:sldId id="265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3E4DB8-4E12-F18C-200B-095F2E882368}" name="Kern  Lucie" initials="KL" userId="S::kernlu@ethz.ch::73957d06-79f2-4001-a218-8bdcb8f96aaa" providerId="AD"/>
  <p188:author id="{C91F3CF6-149F-06F0-0291-18BB8A7035EF}" name="Noémie Simon" initials="NS" userId="bcf751ccc0c63cc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8B2CB"/>
    <a:srgbClr val="F4F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5A67-A6A9-4968-8E92-A1C96BA15CA7}" v="4" dt="2026-06-02T20:47:20.3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669" autoAdjust="0"/>
    <p:restoredTop sz="94663"/>
  </p:normalViewPr>
  <p:slideViewPr>
    <p:cSldViewPr snapToGrid="0">
      <p:cViewPr>
        <p:scale>
          <a:sx n="107" d="100"/>
          <a:sy n="107" d="100"/>
        </p:scale>
        <p:origin x="208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émie Simon" userId="bcf751ccc0c63cc4" providerId="LiveId" clId="{D8646A5F-B639-4467-90AE-53976C914447}"/>
    <pc:docChg chg="custSel addSld delSld modSld sldOrd">
      <pc:chgData name="Noémie Simon" userId="bcf751ccc0c63cc4" providerId="LiveId" clId="{D8646A5F-B639-4467-90AE-53976C914447}" dt="2026-06-02T20:55:29.016" v="158" actId="27614"/>
      <pc:docMkLst>
        <pc:docMk/>
      </pc:docMkLst>
      <pc:sldChg chg="modSp mod">
        <pc:chgData name="Noémie Simon" userId="bcf751ccc0c63cc4" providerId="LiveId" clId="{D8646A5F-B639-4467-90AE-53976C914447}" dt="2026-06-02T17:32:45.254" v="101" actId="20577"/>
        <pc:sldMkLst>
          <pc:docMk/>
          <pc:sldMk cId="3359249337" sldId="256"/>
        </pc:sldMkLst>
        <pc:spChg chg="mod">
          <ac:chgData name="Noémie Simon" userId="bcf751ccc0c63cc4" providerId="LiveId" clId="{D8646A5F-B639-4467-90AE-53976C914447}" dt="2026-06-02T17:32:45.254" v="101" actId="20577"/>
          <ac:spMkLst>
            <pc:docMk/>
            <pc:sldMk cId="3359249337" sldId="256"/>
            <ac:spMk id="2" creationId="{55269C2F-6BFD-EFC2-398D-9FE490AB97CC}"/>
          </ac:spMkLst>
        </pc:spChg>
      </pc:sldChg>
      <pc:sldChg chg="mod ord modShow">
        <pc:chgData name="Noémie Simon" userId="bcf751ccc0c63cc4" providerId="LiveId" clId="{D8646A5F-B639-4467-90AE-53976C914447}" dt="2026-06-02T20:48:46.207" v="147"/>
        <pc:sldMkLst>
          <pc:docMk/>
          <pc:sldMk cId="3526247385" sldId="257"/>
        </pc:sldMkLst>
      </pc:sldChg>
      <pc:sldChg chg="mod ord modShow">
        <pc:chgData name="Noémie Simon" userId="bcf751ccc0c63cc4" providerId="LiveId" clId="{D8646A5F-B639-4467-90AE-53976C914447}" dt="2026-06-02T20:48:39.632" v="145"/>
        <pc:sldMkLst>
          <pc:docMk/>
          <pc:sldMk cId="2296812319" sldId="258"/>
        </pc:sldMkLst>
      </pc:sldChg>
      <pc:sldChg chg="modSp del mod">
        <pc:chgData name="Noémie Simon" userId="bcf751ccc0c63cc4" providerId="LiveId" clId="{D8646A5F-B639-4467-90AE-53976C914447}" dt="2026-06-02T20:48:20.612" v="143" actId="2696"/>
        <pc:sldMkLst>
          <pc:docMk/>
          <pc:sldMk cId="3809305011" sldId="259"/>
        </pc:sldMkLst>
        <pc:spChg chg="mod">
          <ac:chgData name="Noémie Simon" userId="bcf751ccc0c63cc4" providerId="LiveId" clId="{D8646A5F-B639-4467-90AE-53976C914447}" dt="2026-06-02T20:46:41.495" v="121" actId="21"/>
          <ac:spMkLst>
            <pc:docMk/>
            <pc:sldMk cId="3809305011" sldId="259"/>
            <ac:spMk id="2" creationId="{3ED5FDDA-FB89-7C42-000C-DFB890DC4FCA}"/>
          </ac:spMkLst>
        </pc:spChg>
      </pc:sldChg>
      <pc:sldChg chg="mod ord modShow">
        <pc:chgData name="Noémie Simon" userId="bcf751ccc0c63cc4" providerId="LiveId" clId="{D8646A5F-B639-4467-90AE-53976C914447}" dt="2026-06-02T20:48:51.571" v="149"/>
        <pc:sldMkLst>
          <pc:docMk/>
          <pc:sldMk cId="2129016569" sldId="265"/>
        </pc:sldMkLst>
      </pc:sldChg>
      <pc:sldChg chg="modSp mod">
        <pc:chgData name="Noémie Simon" userId="bcf751ccc0c63cc4" providerId="LiveId" clId="{D8646A5F-B639-4467-90AE-53976C914447}" dt="2026-06-02T17:40:05.580" v="102" actId="1076"/>
        <pc:sldMkLst>
          <pc:docMk/>
          <pc:sldMk cId="131123478" sldId="266"/>
        </pc:sldMkLst>
        <pc:spChg chg="mod">
          <ac:chgData name="Noémie Simon" userId="bcf751ccc0c63cc4" providerId="LiveId" clId="{D8646A5F-B639-4467-90AE-53976C914447}" dt="2026-06-02T17:30:15.351" v="3" actId="20577"/>
          <ac:spMkLst>
            <pc:docMk/>
            <pc:sldMk cId="131123478" sldId="266"/>
            <ac:spMk id="11" creationId="{1721DAEC-0A82-6021-A4E5-89B28C221F2F}"/>
          </ac:spMkLst>
        </pc:spChg>
        <pc:spChg chg="mod">
          <ac:chgData name="Noémie Simon" userId="bcf751ccc0c63cc4" providerId="LiveId" clId="{D8646A5F-B639-4467-90AE-53976C914447}" dt="2026-06-02T17:30:59.299" v="64" actId="20577"/>
          <ac:spMkLst>
            <pc:docMk/>
            <pc:sldMk cId="131123478" sldId="266"/>
            <ac:spMk id="18" creationId="{214E7150-6D34-BA9C-1FC7-E2FD88FAB998}"/>
          </ac:spMkLst>
        </pc:spChg>
        <pc:spChg chg="mod">
          <ac:chgData name="Noémie Simon" userId="bcf751ccc0c63cc4" providerId="LiveId" clId="{D8646A5F-B639-4467-90AE-53976C914447}" dt="2026-06-02T17:40:05.580" v="102" actId="1076"/>
          <ac:spMkLst>
            <pc:docMk/>
            <pc:sldMk cId="131123478" sldId="266"/>
            <ac:spMk id="22" creationId="{4C50DE4D-9766-DAB7-AB84-B23FAE884ECD}"/>
          </ac:spMkLst>
        </pc:spChg>
      </pc:sldChg>
      <pc:sldChg chg="modSp mod">
        <pc:chgData name="Noémie Simon" userId="bcf751ccc0c63cc4" providerId="LiveId" clId="{D8646A5F-B639-4467-90AE-53976C914447}" dt="2026-06-02T20:54:09.362" v="155" actId="113"/>
        <pc:sldMkLst>
          <pc:docMk/>
          <pc:sldMk cId="3855054443" sldId="268"/>
        </pc:sldMkLst>
        <pc:spChg chg="mod">
          <ac:chgData name="Noémie Simon" userId="bcf751ccc0c63cc4" providerId="LiveId" clId="{D8646A5F-B639-4467-90AE-53976C914447}" dt="2026-06-02T20:54:09.362" v="155" actId="113"/>
          <ac:spMkLst>
            <pc:docMk/>
            <pc:sldMk cId="3855054443" sldId="268"/>
            <ac:spMk id="2" creationId="{8B6FD0A6-936D-1217-2307-54883D928515}"/>
          </ac:spMkLst>
        </pc:spChg>
      </pc:sldChg>
      <pc:sldChg chg="addSp delSp modSp new mod ord">
        <pc:chgData name="Noémie Simon" userId="bcf751ccc0c63cc4" providerId="LiveId" clId="{D8646A5F-B639-4467-90AE-53976C914447}" dt="2026-06-02T20:55:29.016" v="158" actId="27614"/>
        <pc:sldMkLst>
          <pc:docMk/>
          <pc:sldMk cId="2036194352" sldId="269"/>
        </pc:sldMkLst>
        <pc:spChg chg="del">
          <ac:chgData name="Noémie Simon" userId="bcf751ccc0c63cc4" providerId="LiveId" clId="{D8646A5F-B639-4467-90AE-53976C914447}" dt="2026-06-02T20:33:17.488" v="110" actId="22"/>
          <ac:spMkLst>
            <pc:docMk/>
            <pc:sldMk cId="2036194352" sldId="269"/>
            <ac:spMk id="3" creationId="{8DB6A4F9-AF71-296C-A992-91D54ED70030}"/>
          </ac:spMkLst>
        </pc:spChg>
        <pc:spChg chg="add mod">
          <ac:chgData name="Noémie Simon" userId="bcf751ccc0c63cc4" providerId="LiveId" clId="{D8646A5F-B639-4467-90AE-53976C914447}" dt="2026-06-02T20:55:16.629" v="156" actId="478"/>
          <ac:spMkLst>
            <pc:docMk/>
            <pc:sldMk cId="2036194352" sldId="269"/>
            <ac:spMk id="7" creationId="{DCCFBE5E-470E-8AAF-8F23-FDD7777AA6DC}"/>
          </ac:spMkLst>
        </pc:spChg>
        <pc:picChg chg="add del mod ord modCrop">
          <ac:chgData name="Noémie Simon" userId="bcf751ccc0c63cc4" providerId="LiveId" clId="{D8646A5F-B639-4467-90AE-53976C914447}" dt="2026-06-02T20:55:16.629" v="156" actId="478"/>
          <ac:picMkLst>
            <pc:docMk/>
            <pc:sldMk cId="2036194352" sldId="269"/>
            <ac:picMk id="5" creationId="{EAF7FBEC-6756-951E-C204-502EE64EC167}"/>
          </ac:picMkLst>
        </pc:picChg>
        <pc:picChg chg="add mod">
          <ac:chgData name="Noémie Simon" userId="bcf751ccc0c63cc4" providerId="LiveId" clId="{D8646A5F-B639-4467-90AE-53976C914447}" dt="2026-06-02T20:55:29.016" v="158" actId="27614"/>
          <ac:picMkLst>
            <pc:docMk/>
            <pc:sldMk cId="2036194352" sldId="269"/>
            <ac:picMk id="9" creationId="{2CAB6DAC-E835-6F5C-E5D4-339A9645C7BE}"/>
          </ac:picMkLst>
        </pc:picChg>
      </pc:sldChg>
      <pc:sldChg chg="addSp delSp modSp new mod modClrScheme chgLayout">
        <pc:chgData name="Noémie Simon" userId="bcf751ccc0c63cc4" providerId="LiveId" clId="{D8646A5F-B639-4467-90AE-53976C914447}" dt="2026-06-02T20:53:44.779" v="154" actId="207"/>
        <pc:sldMkLst>
          <pc:docMk/>
          <pc:sldMk cId="2745853101" sldId="270"/>
        </pc:sldMkLst>
        <pc:spChg chg="del mod ord">
          <ac:chgData name="Noémie Simon" userId="bcf751ccc0c63cc4" providerId="LiveId" clId="{D8646A5F-B639-4467-90AE-53976C914447}" dt="2026-06-02T20:46:36.389" v="120" actId="700"/>
          <ac:spMkLst>
            <pc:docMk/>
            <pc:sldMk cId="2745853101" sldId="270"/>
            <ac:spMk id="2" creationId="{358CB85D-264F-AA4D-DF2D-0738DFDDC6BC}"/>
          </ac:spMkLst>
        </pc:spChg>
        <pc:spChg chg="del mod ord">
          <ac:chgData name="Noémie Simon" userId="bcf751ccc0c63cc4" providerId="LiveId" clId="{D8646A5F-B639-4467-90AE-53976C914447}" dt="2026-06-02T20:46:36.389" v="120" actId="700"/>
          <ac:spMkLst>
            <pc:docMk/>
            <pc:sldMk cId="2745853101" sldId="270"/>
            <ac:spMk id="3" creationId="{F4598ED5-427D-7F34-541D-59507B9F33C2}"/>
          </ac:spMkLst>
        </pc:spChg>
        <pc:spChg chg="add del mod ord">
          <ac:chgData name="Noémie Simon" userId="bcf751ccc0c63cc4" providerId="LiveId" clId="{D8646A5F-B639-4467-90AE-53976C914447}" dt="2026-06-02T20:47:52.748" v="138" actId="478"/>
          <ac:spMkLst>
            <pc:docMk/>
            <pc:sldMk cId="2745853101" sldId="270"/>
            <ac:spMk id="4" creationId="{889D59ED-3880-CB75-910A-D8DD74D777B4}"/>
          </ac:spMkLst>
        </pc:spChg>
        <pc:spChg chg="add mod ord">
          <ac:chgData name="Noémie Simon" userId="bcf751ccc0c63cc4" providerId="LiveId" clId="{D8646A5F-B639-4467-90AE-53976C914447}" dt="2026-06-02T20:47:57.068" v="139" actId="1076"/>
          <ac:spMkLst>
            <pc:docMk/>
            <pc:sldMk cId="2745853101" sldId="270"/>
            <ac:spMk id="5" creationId="{E803951D-F116-DC10-6C43-19FFF7456671}"/>
          </ac:spMkLst>
        </pc:spChg>
        <pc:spChg chg="add mod ord">
          <ac:chgData name="Noémie Simon" userId="bcf751ccc0c63cc4" providerId="LiveId" clId="{D8646A5F-B639-4467-90AE-53976C914447}" dt="2026-06-02T20:53:44.779" v="154" actId="207"/>
          <ac:spMkLst>
            <pc:docMk/>
            <pc:sldMk cId="2745853101" sldId="270"/>
            <ac:spMk id="6" creationId="{B41B92A7-C4DD-19B5-4CEE-1DEFC7F961BB}"/>
          </ac:spMkLst>
        </pc:spChg>
      </pc:sldChg>
    </pc:docChg>
  </pc:docChgLst>
</pc:chgInfo>
</file>

<file path=ppt/comments/modernComment_102_88E6931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097FF87-0BEC-4AA8-BA89-1AD6E5BA5930}" authorId="{C91F3CF6-149F-06F0-0291-18BB8A7035EF}" status="resolved" created="2026-05-31T09:22:57.363" complete="100000">
    <pc:sldMkLst xmlns:pc="http://schemas.microsoft.com/office/powerpoint/2013/main/command">
      <pc:docMk/>
      <pc:sldMk cId="2296812319" sldId="258"/>
    </pc:sldMkLst>
    <p188:txBody>
      <a:bodyPr/>
      <a:lstStyle/>
      <a:p>
        <a:r>
          <a:rPr lang="fr-CH"/>
          <a:t>Not sure what we want to say about the context!?</a:t>
        </a:r>
      </a:p>
    </p188:txBody>
  </p188:cm>
</p188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C74514-7E59-43DD-81F2-44D5759C1824}" type="doc">
      <dgm:prSet loTypeId="urn:microsoft.com/office/officeart/2005/8/layout/v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2C6A796-E05E-4109-83A5-CA6732F07DCC}">
      <dgm:prSet custT="1"/>
      <dgm:spPr/>
      <dgm:t>
        <a:bodyPr/>
        <a:lstStyle/>
        <a:p>
          <a:r>
            <a:rPr lang="fr-CH" sz="2000" dirty="0"/>
            <a:t>Collection of data of  </a:t>
          </a:r>
          <a:r>
            <a:rPr lang="fr-CH" sz="2000" dirty="0" err="1"/>
            <a:t>trajectory</a:t>
          </a:r>
          <a:r>
            <a:rPr lang="fr-CH" sz="2000" dirty="0"/>
            <a:t>  (google </a:t>
          </a:r>
          <a:r>
            <a:rPr lang="fr-CH" sz="2000" dirty="0" err="1"/>
            <a:t>maps</a:t>
          </a:r>
          <a:r>
            <a:rPr lang="fr-CH" sz="2000" dirty="0"/>
            <a:t>) </a:t>
          </a:r>
          <a:endParaRPr lang="en-US" sz="2000" dirty="0"/>
        </a:p>
      </dgm:t>
    </dgm:pt>
    <dgm:pt modelId="{A758E241-A4DE-442B-90CA-0C9C5F9396E7}" type="parTrans" cxnId="{B039D11B-C065-4DB7-9C3F-9C1F1452DDD1}">
      <dgm:prSet/>
      <dgm:spPr/>
      <dgm:t>
        <a:bodyPr/>
        <a:lstStyle/>
        <a:p>
          <a:endParaRPr lang="en-US" sz="2000"/>
        </a:p>
      </dgm:t>
    </dgm:pt>
    <dgm:pt modelId="{13D06279-7FFC-4E91-975B-C5F631451C36}" type="sibTrans" cxnId="{B039D11B-C065-4DB7-9C3F-9C1F1452DDD1}">
      <dgm:prSet/>
      <dgm:spPr/>
      <dgm:t>
        <a:bodyPr/>
        <a:lstStyle/>
        <a:p>
          <a:endParaRPr lang="en-US" sz="2000"/>
        </a:p>
      </dgm:t>
    </dgm:pt>
    <dgm:pt modelId="{41B0F318-681F-480C-ACBE-4C24B27636D0}">
      <dgm:prSet custT="1"/>
      <dgm:spPr/>
      <dgm:t>
        <a:bodyPr/>
        <a:lstStyle/>
        <a:p>
          <a:r>
            <a:rPr lang="fr-CH" sz="2000" dirty="0" err="1"/>
            <a:t>Creation</a:t>
          </a:r>
          <a:r>
            <a:rPr lang="fr-CH" sz="2000" dirty="0"/>
            <a:t> of isochrones (15-minute </a:t>
          </a:r>
          <a:r>
            <a:rPr lang="fr-CH" sz="2000" dirty="0" err="1"/>
            <a:t>accesibility</a:t>
          </a:r>
          <a:r>
            <a:rPr lang="fr-CH" sz="2000" dirty="0"/>
            <a:t> zones)</a:t>
          </a:r>
          <a:endParaRPr lang="en-US" sz="2000" dirty="0"/>
        </a:p>
      </dgm:t>
    </dgm:pt>
    <dgm:pt modelId="{0D659330-D588-4B5E-A5C6-35292AF1DC95}" type="parTrans" cxnId="{95C9FA46-ECF1-4D14-8548-452CDC7D2175}">
      <dgm:prSet/>
      <dgm:spPr/>
      <dgm:t>
        <a:bodyPr/>
        <a:lstStyle/>
        <a:p>
          <a:endParaRPr lang="en-US" sz="2000"/>
        </a:p>
      </dgm:t>
    </dgm:pt>
    <dgm:pt modelId="{207A3D5B-4122-4CE8-B141-67DFCED8E158}" type="sibTrans" cxnId="{95C9FA46-ECF1-4D14-8548-452CDC7D2175}">
      <dgm:prSet/>
      <dgm:spPr/>
      <dgm:t>
        <a:bodyPr/>
        <a:lstStyle/>
        <a:p>
          <a:endParaRPr lang="en-US" sz="2000"/>
        </a:p>
      </dgm:t>
    </dgm:pt>
    <dgm:pt modelId="{7157FA5E-C5A4-4039-9621-57EE8A1E448F}">
      <dgm:prSet custT="1"/>
      <dgm:spPr/>
      <dgm:t>
        <a:bodyPr/>
        <a:lstStyle/>
        <a:p>
          <a:r>
            <a:rPr lang="fr-CH" sz="2000" dirty="0" err="1"/>
            <a:t>Detection</a:t>
          </a:r>
          <a:r>
            <a:rPr lang="fr-CH" sz="2000" dirty="0"/>
            <a:t> of point of </a:t>
          </a:r>
          <a:r>
            <a:rPr lang="fr-CH" sz="2000" dirty="0" err="1"/>
            <a:t>interests</a:t>
          </a:r>
          <a:r>
            <a:rPr lang="fr-CH" sz="2000" dirty="0"/>
            <a:t> (POI) </a:t>
          </a:r>
          <a:endParaRPr lang="en-US" sz="2000" dirty="0"/>
        </a:p>
      </dgm:t>
    </dgm:pt>
    <dgm:pt modelId="{874C9894-94B6-42CC-B8D0-400E1D54079E}" type="parTrans" cxnId="{F3787362-5CE9-48E2-99AE-A2FA95701E60}">
      <dgm:prSet/>
      <dgm:spPr/>
      <dgm:t>
        <a:bodyPr/>
        <a:lstStyle/>
        <a:p>
          <a:endParaRPr lang="en-US" sz="2000"/>
        </a:p>
      </dgm:t>
    </dgm:pt>
    <dgm:pt modelId="{1E46E158-B5CD-4F93-9646-8137B2D6040A}" type="sibTrans" cxnId="{F3787362-5CE9-48E2-99AE-A2FA95701E60}">
      <dgm:prSet/>
      <dgm:spPr/>
      <dgm:t>
        <a:bodyPr/>
        <a:lstStyle/>
        <a:p>
          <a:endParaRPr lang="en-US" sz="2000"/>
        </a:p>
      </dgm:t>
    </dgm:pt>
    <dgm:pt modelId="{59572103-8EAB-4A50-AB21-192D24EA143A}">
      <dgm:prSet custT="1"/>
      <dgm:spPr/>
      <dgm:t>
        <a:bodyPr/>
        <a:lstStyle/>
        <a:p>
          <a:r>
            <a:rPr lang="fr-CH" sz="2000" dirty="0" err="1"/>
            <a:t>Preprocessing</a:t>
          </a:r>
          <a:r>
            <a:rPr lang="fr-CH" sz="2000" dirty="0"/>
            <a:t> of </a:t>
          </a:r>
          <a:r>
            <a:rPr lang="fr-CH" sz="2000" dirty="0" err="1"/>
            <a:t>collected</a:t>
          </a:r>
          <a:r>
            <a:rPr lang="fr-CH" sz="2000" dirty="0"/>
            <a:t> data (segmentation, </a:t>
          </a:r>
          <a:r>
            <a:rPr lang="fr-CH" sz="2000" dirty="0" err="1"/>
            <a:t>categorization</a:t>
          </a:r>
          <a:r>
            <a:rPr lang="fr-CH" sz="2000" dirty="0"/>
            <a:t> of </a:t>
          </a:r>
          <a:r>
            <a:rPr lang="fr-CH" sz="2000" dirty="0" err="1"/>
            <a:t>visited</a:t>
          </a:r>
          <a:r>
            <a:rPr lang="fr-CH" sz="2000" dirty="0"/>
            <a:t> points, </a:t>
          </a:r>
          <a:r>
            <a:rPr lang="fr-CH" sz="2000" dirty="0" err="1"/>
            <a:t>mobility</a:t>
          </a:r>
          <a:r>
            <a:rPr lang="fr-CH" sz="2000" dirty="0"/>
            <a:t> </a:t>
          </a:r>
          <a:r>
            <a:rPr lang="fr-CH" sz="2000" dirty="0" err="1"/>
            <a:t>shapes</a:t>
          </a:r>
          <a:r>
            <a:rPr lang="fr-CH" sz="2000" dirty="0"/>
            <a:t>)</a:t>
          </a:r>
          <a:endParaRPr lang="en-US" sz="2000" dirty="0"/>
        </a:p>
      </dgm:t>
    </dgm:pt>
    <dgm:pt modelId="{B2F725CF-E266-4785-A60F-B2DFB20F05FF}" type="parTrans" cxnId="{8BEE4CFB-C7E5-4B83-9139-EA0C3E2FA37B}">
      <dgm:prSet/>
      <dgm:spPr/>
      <dgm:t>
        <a:bodyPr/>
        <a:lstStyle/>
        <a:p>
          <a:endParaRPr lang="en-US" sz="2000"/>
        </a:p>
      </dgm:t>
    </dgm:pt>
    <dgm:pt modelId="{8E8FBB87-05BE-4819-88DE-3D62EAC3E751}" type="sibTrans" cxnId="{8BEE4CFB-C7E5-4B83-9139-EA0C3E2FA37B}">
      <dgm:prSet/>
      <dgm:spPr/>
      <dgm:t>
        <a:bodyPr/>
        <a:lstStyle/>
        <a:p>
          <a:endParaRPr lang="en-US" sz="2000"/>
        </a:p>
      </dgm:t>
    </dgm:pt>
    <dgm:pt modelId="{4B1E9948-2C1F-48C7-9BF9-20B8B7DAEB5F}">
      <dgm:prSet custT="1"/>
      <dgm:spPr/>
      <dgm:t>
        <a:bodyPr/>
        <a:lstStyle/>
        <a:p>
          <a:r>
            <a:rPr lang="fr-CH" sz="2000" dirty="0" err="1"/>
            <a:t>Join</a:t>
          </a:r>
          <a:r>
            <a:rPr lang="fr-CH" sz="2000" dirty="0"/>
            <a:t> </a:t>
          </a:r>
          <a:r>
            <a:rPr lang="fr-CH" sz="2000" dirty="0" err="1"/>
            <a:t>both</a:t>
          </a:r>
          <a:r>
            <a:rPr lang="fr-CH" sz="2000" dirty="0"/>
            <a:t> </a:t>
          </a:r>
          <a:r>
            <a:rPr lang="fr-CH" sz="2000" dirty="0" err="1"/>
            <a:t>datasets</a:t>
          </a:r>
          <a:r>
            <a:rPr lang="fr-CH" sz="2000" dirty="0"/>
            <a:t> </a:t>
          </a:r>
          <a:endParaRPr lang="en-US" sz="2000" dirty="0"/>
        </a:p>
      </dgm:t>
    </dgm:pt>
    <dgm:pt modelId="{209C82A6-A847-4401-95BD-B70D8C180633}" type="parTrans" cxnId="{327CA09F-05CE-4202-9582-3D4D816260FB}">
      <dgm:prSet/>
      <dgm:spPr/>
      <dgm:t>
        <a:bodyPr/>
        <a:lstStyle/>
        <a:p>
          <a:endParaRPr lang="en-US" sz="2000"/>
        </a:p>
      </dgm:t>
    </dgm:pt>
    <dgm:pt modelId="{E55ED0DF-D70F-4199-A2A4-04EB4B2367CB}" type="sibTrans" cxnId="{327CA09F-05CE-4202-9582-3D4D816260FB}">
      <dgm:prSet/>
      <dgm:spPr/>
      <dgm:t>
        <a:bodyPr/>
        <a:lstStyle/>
        <a:p>
          <a:endParaRPr lang="en-US" sz="2000"/>
        </a:p>
      </dgm:t>
    </dgm:pt>
    <dgm:pt modelId="{A40C8A38-7AAB-4A1C-B39A-DBED66B60A11}">
      <dgm:prSet custT="1"/>
      <dgm:spPr/>
      <dgm:t>
        <a:bodyPr/>
        <a:lstStyle/>
        <a:p>
          <a:r>
            <a:rPr lang="fr-CH" sz="2000" dirty="0" err="1"/>
            <a:t>Analysis</a:t>
          </a:r>
          <a:r>
            <a:rPr lang="fr-CH" sz="2000" dirty="0"/>
            <a:t> and computation of </a:t>
          </a:r>
          <a:r>
            <a:rPr lang="fr-CH" sz="2000" dirty="0" err="1"/>
            <a:t>theoretical</a:t>
          </a:r>
          <a:r>
            <a:rPr lang="fr-CH" sz="2000" dirty="0"/>
            <a:t> </a:t>
          </a:r>
          <a:r>
            <a:rPr lang="fr-CH" sz="2000" dirty="0" err="1"/>
            <a:t>accessibility</a:t>
          </a:r>
          <a:r>
            <a:rPr lang="fr-CH" sz="2000" dirty="0"/>
            <a:t> and </a:t>
          </a:r>
          <a:r>
            <a:rPr lang="fr-CH" sz="2000" dirty="0" err="1"/>
            <a:t>practical</a:t>
          </a:r>
          <a:r>
            <a:rPr lang="fr-CH" sz="2000" dirty="0"/>
            <a:t> </a:t>
          </a:r>
          <a:r>
            <a:rPr lang="fr-CH" sz="2000" dirty="0" err="1"/>
            <a:t>mobility</a:t>
          </a:r>
          <a:endParaRPr lang="en-US" sz="2000" dirty="0"/>
        </a:p>
      </dgm:t>
    </dgm:pt>
    <dgm:pt modelId="{E5A7B580-C647-42C1-94EA-2AD96FD66632}" type="parTrans" cxnId="{1ECB5511-AEE1-4BBA-B91B-D516215FE7D6}">
      <dgm:prSet/>
      <dgm:spPr/>
      <dgm:t>
        <a:bodyPr/>
        <a:lstStyle/>
        <a:p>
          <a:endParaRPr lang="en-US" sz="2000"/>
        </a:p>
      </dgm:t>
    </dgm:pt>
    <dgm:pt modelId="{30FCC906-E4C0-41AD-A5E6-88449F9BC921}" type="sibTrans" cxnId="{1ECB5511-AEE1-4BBA-B91B-D516215FE7D6}">
      <dgm:prSet/>
      <dgm:spPr/>
      <dgm:t>
        <a:bodyPr/>
        <a:lstStyle/>
        <a:p>
          <a:endParaRPr lang="en-US" sz="2000"/>
        </a:p>
      </dgm:t>
    </dgm:pt>
    <dgm:pt modelId="{9C10C83C-4CC6-4F15-8AF1-7FD6A002DF74}">
      <dgm:prSet custT="1"/>
      <dgm:spPr/>
      <dgm:t>
        <a:bodyPr/>
        <a:lstStyle/>
        <a:p>
          <a:r>
            <a:rPr lang="fr-CH" sz="2000" dirty="0" err="1"/>
            <a:t>Results</a:t>
          </a:r>
          <a:r>
            <a:rPr lang="fr-CH" sz="2000" dirty="0"/>
            <a:t> visualisation</a:t>
          </a:r>
          <a:endParaRPr lang="en-US" sz="2000" dirty="0"/>
        </a:p>
      </dgm:t>
    </dgm:pt>
    <dgm:pt modelId="{94AAFD55-CB7E-4451-A6C0-1C474555A3A7}" type="parTrans" cxnId="{2037D8ED-C68E-4416-A81A-988785FE4213}">
      <dgm:prSet/>
      <dgm:spPr/>
      <dgm:t>
        <a:bodyPr/>
        <a:lstStyle/>
        <a:p>
          <a:endParaRPr lang="en-US" sz="2000"/>
        </a:p>
      </dgm:t>
    </dgm:pt>
    <dgm:pt modelId="{9D13E348-B2C6-429B-8C6A-041A56D697BD}" type="sibTrans" cxnId="{2037D8ED-C68E-4416-A81A-988785FE4213}">
      <dgm:prSet/>
      <dgm:spPr/>
      <dgm:t>
        <a:bodyPr/>
        <a:lstStyle/>
        <a:p>
          <a:endParaRPr lang="en-US" sz="2000"/>
        </a:p>
      </dgm:t>
    </dgm:pt>
    <dgm:pt modelId="{71B775CA-F13C-7340-ABCF-22506AE4849F}">
      <dgm:prSet custT="1"/>
      <dgm:spPr/>
      <dgm:t>
        <a:bodyPr/>
        <a:lstStyle/>
        <a:p>
          <a:r>
            <a:rPr lang="en-US" sz="2000" dirty="0"/>
            <a:t>Activity Classification Model - ground truth</a:t>
          </a:r>
        </a:p>
      </dgm:t>
    </dgm:pt>
    <dgm:pt modelId="{CB70B5DD-8FAB-0B48-9150-B598DB007B62}" type="parTrans" cxnId="{BEE2BFC1-235B-3C4D-974E-5B9B26E3F54B}">
      <dgm:prSet/>
      <dgm:spPr/>
      <dgm:t>
        <a:bodyPr/>
        <a:lstStyle/>
        <a:p>
          <a:endParaRPr lang="en-US"/>
        </a:p>
      </dgm:t>
    </dgm:pt>
    <dgm:pt modelId="{47A69B99-4CDE-2F4D-9AA0-2FBDA88A9EE3}" type="sibTrans" cxnId="{BEE2BFC1-235B-3C4D-974E-5B9B26E3F54B}">
      <dgm:prSet/>
      <dgm:spPr/>
      <dgm:t>
        <a:bodyPr/>
        <a:lstStyle/>
        <a:p>
          <a:endParaRPr lang="en-US"/>
        </a:p>
      </dgm:t>
    </dgm:pt>
    <dgm:pt modelId="{B6047393-ED44-B540-9E08-5BD8BA526CAA}">
      <dgm:prSet custT="1"/>
      <dgm:spPr/>
      <dgm:t>
        <a:bodyPr/>
        <a:lstStyle/>
        <a:p>
          <a:r>
            <a:rPr lang="en-US" sz="2000" dirty="0"/>
            <a:t>Eventually add an isochrone with different speed</a:t>
          </a:r>
        </a:p>
      </dgm:t>
    </dgm:pt>
    <dgm:pt modelId="{B08BF4FD-C5FE-5845-824F-2141B1C98759}" type="parTrans" cxnId="{D9C9CEB5-9B77-FB46-BE23-01550C850EA4}">
      <dgm:prSet/>
      <dgm:spPr/>
      <dgm:t>
        <a:bodyPr/>
        <a:lstStyle/>
        <a:p>
          <a:endParaRPr lang="en-US"/>
        </a:p>
      </dgm:t>
    </dgm:pt>
    <dgm:pt modelId="{2D99C50B-6557-C946-8937-D85E69C5B5B5}" type="sibTrans" cxnId="{D9C9CEB5-9B77-FB46-BE23-01550C850EA4}">
      <dgm:prSet/>
      <dgm:spPr/>
      <dgm:t>
        <a:bodyPr/>
        <a:lstStyle/>
        <a:p>
          <a:endParaRPr lang="en-US"/>
        </a:p>
      </dgm:t>
    </dgm:pt>
    <dgm:pt modelId="{E27D3E73-9AE1-6C47-BAD3-BF0CFC501738}">
      <dgm:prSet phldrT="[Text]" custT="1"/>
      <dgm:spPr/>
      <dgm:t>
        <a:bodyPr/>
        <a:lstStyle/>
        <a:p>
          <a:r>
            <a:rPr lang="en-US" sz="2000" dirty="0"/>
            <a:t>Processing of the POI (KDE)</a:t>
          </a:r>
        </a:p>
      </dgm:t>
    </dgm:pt>
    <dgm:pt modelId="{A210493B-3982-9440-87DC-195EBDD2ED0B}" type="parTrans" cxnId="{90A815D3-AFC3-A445-84C3-F6174DA6B35A}">
      <dgm:prSet/>
      <dgm:spPr/>
      <dgm:t>
        <a:bodyPr/>
        <a:lstStyle/>
        <a:p>
          <a:endParaRPr lang="en-US"/>
        </a:p>
      </dgm:t>
    </dgm:pt>
    <dgm:pt modelId="{7CAAB2BB-E0C5-194E-BEC4-E75D02848448}" type="sibTrans" cxnId="{90A815D3-AFC3-A445-84C3-F6174DA6B35A}">
      <dgm:prSet/>
      <dgm:spPr/>
      <dgm:t>
        <a:bodyPr/>
        <a:lstStyle/>
        <a:p>
          <a:endParaRPr lang="en-US"/>
        </a:p>
      </dgm:t>
    </dgm:pt>
    <dgm:pt modelId="{2DC07872-A69E-402A-96DD-C56028D57122}" type="pres">
      <dgm:prSet presAssocID="{72C74514-7E59-43DD-81F2-44D5759C1824}" presName="linear" presStyleCnt="0">
        <dgm:presLayoutVars>
          <dgm:animLvl val="lvl"/>
          <dgm:resizeHandles val="exact"/>
        </dgm:presLayoutVars>
      </dgm:prSet>
      <dgm:spPr/>
    </dgm:pt>
    <dgm:pt modelId="{246B3F6D-7E01-4EA4-AD38-6D0AD826CB2B}" type="pres">
      <dgm:prSet presAssocID="{12C6A796-E05E-4109-83A5-CA6732F07DCC}" presName="parentText" presStyleLbl="node1" presStyleIdx="0" presStyleCnt="10" custLinFactY="-28812" custLinFactNeighborX="-2617" custLinFactNeighborY="-100000">
        <dgm:presLayoutVars>
          <dgm:chMax val="0"/>
          <dgm:bulletEnabled val="1"/>
        </dgm:presLayoutVars>
      </dgm:prSet>
      <dgm:spPr/>
    </dgm:pt>
    <dgm:pt modelId="{41FFD712-3018-4F8A-87A9-F9938E32B3BA}" type="pres">
      <dgm:prSet presAssocID="{13D06279-7FFC-4E91-975B-C5F631451C36}" presName="spacer" presStyleCnt="0"/>
      <dgm:spPr/>
    </dgm:pt>
    <dgm:pt modelId="{1492B98B-63EB-43A1-8A5D-476D085DE6CB}" type="pres">
      <dgm:prSet presAssocID="{41B0F318-681F-480C-ACBE-4C24B27636D0}" presName="parentText" presStyleLbl="node1" presStyleIdx="1" presStyleCnt="10">
        <dgm:presLayoutVars>
          <dgm:chMax val="0"/>
          <dgm:bulletEnabled val="1"/>
        </dgm:presLayoutVars>
      </dgm:prSet>
      <dgm:spPr/>
    </dgm:pt>
    <dgm:pt modelId="{98513353-E4E7-475B-B9F1-9C2D00380F56}" type="pres">
      <dgm:prSet presAssocID="{207A3D5B-4122-4CE8-B141-67DFCED8E158}" presName="spacer" presStyleCnt="0"/>
      <dgm:spPr/>
    </dgm:pt>
    <dgm:pt modelId="{0226B3E9-17B7-42EC-B955-CDCAEF4B2B67}" type="pres">
      <dgm:prSet presAssocID="{7157FA5E-C5A4-4039-9621-57EE8A1E448F}" presName="parentText" presStyleLbl="node1" presStyleIdx="2" presStyleCnt="10">
        <dgm:presLayoutVars>
          <dgm:chMax val="0"/>
          <dgm:bulletEnabled val="1"/>
        </dgm:presLayoutVars>
      </dgm:prSet>
      <dgm:spPr/>
    </dgm:pt>
    <dgm:pt modelId="{D3DEECF9-42A9-48EF-A0C8-AF0D7F16E2EA}" type="pres">
      <dgm:prSet presAssocID="{1E46E158-B5CD-4F93-9646-8137B2D6040A}" presName="spacer" presStyleCnt="0"/>
      <dgm:spPr/>
    </dgm:pt>
    <dgm:pt modelId="{924973F7-934D-8F47-94DA-08F7A44621FE}" type="pres">
      <dgm:prSet presAssocID="{E27D3E73-9AE1-6C47-BAD3-BF0CFC501738}" presName="parentText" presStyleLbl="node1" presStyleIdx="3" presStyleCnt="10">
        <dgm:presLayoutVars>
          <dgm:chMax val="0"/>
          <dgm:bulletEnabled val="1"/>
        </dgm:presLayoutVars>
      </dgm:prSet>
      <dgm:spPr/>
    </dgm:pt>
    <dgm:pt modelId="{595DCBCB-55EB-824A-969B-8B5CA54CB345}" type="pres">
      <dgm:prSet presAssocID="{7CAAB2BB-E0C5-194E-BEC4-E75D02848448}" presName="spacer" presStyleCnt="0"/>
      <dgm:spPr/>
    </dgm:pt>
    <dgm:pt modelId="{97E83598-7549-4D53-BBE1-0E6AEBC831C5}" type="pres">
      <dgm:prSet presAssocID="{59572103-8EAB-4A50-AB21-192D24EA143A}" presName="parentText" presStyleLbl="node1" presStyleIdx="4" presStyleCnt="10">
        <dgm:presLayoutVars>
          <dgm:chMax val="0"/>
          <dgm:bulletEnabled val="1"/>
        </dgm:presLayoutVars>
      </dgm:prSet>
      <dgm:spPr/>
    </dgm:pt>
    <dgm:pt modelId="{8D81D927-B2FA-4A4B-B2D0-10300F7337DE}" type="pres">
      <dgm:prSet presAssocID="{8E8FBB87-05BE-4819-88DE-3D62EAC3E751}" presName="spacer" presStyleCnt="0"/>
      <dgm:spPr/>
    </dgm:pt>
    <dgm:pt modelId="{A25B77B8-1FA0-264E-8C79-E12498181616}" type="pres">
      <dgm:prSet presAssocID="{71B775CA-F13C-7340-ABCF-22506AE4849F}" presName="parentText" presStyleLbl="node1" presStyleIdx="5" presStyleCnt="10">
        <dgm:presLayoutVars>
          <dgm:chMax val="0"/>
          <dgm:bulletEnabled val="1"/>
        </dgm:presLayoutVars>
      </dgm:prSet>
      <dgm:spPr/>
    </dgm:pt>
    <dgm:pt modelId="{DC809B77-B6AF-8946-A167-E05E337134F9}" type="pres">
      <dgm:prSet presAssocID="{47A69B99-4CDE-2F4D-9AA0-2FBDA88A9EE3}" presName="spacer" presStyleCnt="0"/>
      <dgm:spPr/>
    </dgm:pt>
    <dgm:pt modelId="{ED8365DF-6489-4474-AD72-A519E8BD5BF3}" type="pres">
      <dgm:prSet presAssocID="{4B1E9948-2C1F-48C7-9BF9-20B8B7DAEB5F}" presName="parentText" presStyleLbl="node1" presStyleIdx="6" presStyleCnt="10">
        <dgm:presLayoutVars>
          <dgm:chMax val="0"/>
          <dgm:bulletEnabled val="1"/>
        </dgm:presLayoutVars>
      </dgm:prSet>
      <dgm:spPr/>
    </dgm:pt>
    <dgm:pt modelId="{0DA84FBE-DDCE-42A0-A858-D691D521C2ED}" type="pres">
      <dgm:prSet presAssocID="{E55ED0DF-D70F-4199-A2A4-04EB4B2367CB}" presName="spacer" presStyleCnt="0"/>
      <dgm:spPr/>
    </dgm:pt>
    <dgm:pt modelId="{4600E2F4-4816-42E1-84E1-9746CD5EE6E1}" type="pres">
      <dgm:prSet presAssocID="{A40C8A38-7AAB-4A1C-B39A-DBED66B60A11}" presName="parentText" presStyleLbl="node1" presStyleIdx="7" presStyleCnt="10">
        <dgm:presLayoutVars>
          <dgm:chMax val="0"/>
          <dgm:bulletEnabled val="1"/>
        </dgm:presLayoutVars>
      </dgm:prSet>
      <dgm:spPr/>
    </dgm:pt>
    <dgm:pt modelId="{166791EB-AD0F-434E-8229-A35C8F8D8F23}" type="pres">
      <dgm:prSet presAssocID="{30FCC906-E4C0-41AD-A5E6-88449F9BC921}" presName="spacer" presStyleCnt="0"/>
      <dgm:spPr/>
    </dgm:pt>
    <dgm:pt modelId="{3DD9623C-BD4B-4DD5-BA45-58C18A024881}" type="pres">
      <dgm:prSet presAssocID="{9C10C83C-4CC6-4F15-8AF1-7FD6A002DF74}" presName="parentText" presStyleLbl="node1" presStyleIdx="8" presStyleCnt="10">
        <dgm:presLayoutVars>
          <dgm:chMax val="0"/>
          <dgm:bulletEnabled val="1"/>
        </dgm:presLayoutVars>
      </dgm:prSet>
      <dgm:spPr/>
    </dgm:pt>
    <dgm:pt modelId="{18D79174-C840-9B4D-AC32-09D4BC63B51F}" type="pres">
      <dgm:prSet presAssocID="{9D13E348-B2C6-429B-8C6A-041A56D697BD}" presName="spacer" presStyleCnt="0"/>
      <dgm:spPr/>
    </dgm:pt>
    <dgm:pt modelId="{47EF09D4-BA96-8E4E-9C02-848C91969397}" type="pres">
      <dgm:prSet presAssocID="{B6047393-ED44-B540-9E08-5BD8BA526CAA}" presName="parentText" presStyleLbl="node1" presStyleIdx="9" presStyleCnt="10">
        <dgm:presLayoutVars>
          <dgm:chMax val="0"/>
          <dgm:bulletEnabled val="1"/>
        </dgm:presLayoutVars>
      </dgm:prSet>
      <dgm:spPr/>
    </dgm:pt>
  </dgm:ptLst>
  <dgm:cxnLst>
    <dgm:cxn modelId="{A8E50C03-6576-244E-ADDE-A889F885F89B}" type="presOf" srcId="{12C6A796-E05E-4109-83A5-CA6732F07DCC}" destId="{246B3F6D-7E01-4EA4-AD38-6D0AD826CB2B}" srcOrd="0" destOrd="0" presId="urn:microsoft.com/office/officeart/2005/8/layout/vList2"/>
    <dgm:cxn modelId="{1ECB5511-AEE1-4BBA-B91B-D516215FE7D6}" srcId="{72C74514-7E59-43DD-81F2-44D5759C1824}" destId="{A40C8A38-7AAB-4A1C-B39A-DBED66B60A11}" srcOrd="7" destOrd="0" parTransId="{E5A7B580-C647-42C1-94EA-2AD96FD66632}" sibTransId="{30FCC906-E4C0-41AD-A5E6-88449F9BC921}"/>
    <dgm:cxn modelId="{B039D11B-C065-4DB7-9C3F-9C1F1452DDD1}" srcId="{72C74514-7E59-43DD-81F2-44D5759C1824}" destId="{12C6A796-E05E-4109-83A5-CA6732F07DCC}" srcOrd="0" destOrd="0" parTransId="{A758E241-A4DE-442B-90CA-0C9C5F9396E7}" sibTransId="{13D06279-7FFC-4E91-975B-C5F631451C36}"/>
    <dgm:cxn modelId="{95C9FA46-ECF1-4D14-8548-452CDC7D2175}" srcId="{72C74514-7E59-43DD-81F2-44D5759C1824}" destId="{41B0F318-681F-480C-ACBE-4C24B27636D0}" srcOrd="1" destOrd="0" parTransId="{0D659330-D588-4B5E-A5C6-35292AF1DC95}" sibTransId="{207A3D5B-4122-4CE8-B141-67DFCED8E158}"/>
    <dgm:cxn modelId="{DB0B575B-38EC-9E4B-AA78-FAEA8F6ED7A4}" type="presOf" srcId="{A40C8A38-7AAB-4A1C-B39A-DBED66B60A11}" destId="{4600E2F4-4816-42E1-84E1-9746CD5EE6E1}" srcOrd="0" destOrd="0" presId="urn:microsoft.com/office/officeart/2005/8/layout/vList2"/>
    <dgm:cxn modelId="{F3787362-5CE9-48E2-99AE-A2FA95701E60}" srcId="{72C74514-7E59-43DD-81F2-44D5759C1824}" destId="{7157FA5E-C5A4-4039-9621-57EE8A1E448F}" srcOrd="2" destOrd="0" parTransId="{874C9894-94B6-42CC-B8D0-400E1D54079E}" sibTransId="{1E46E158-B5CD-4F93-9646-8137B2D6040A}"/>
    <dgm:cxn modelId="{735CFF62-1B1A-4748-9F22-EAA80AE47065}" type="presOf" srcId="{E27D3E73-9AE1-6C47-BAD3-BF0CFC501738}" destId="{924973F7-934D-8F47-94DA-08F7A44621FE}" srcOrd="0" destOrd="0" presId="urn:microsoft.com/office/officeart/2005/8/layout/vList2"/>
    <dgm:cxn modelId="{AA027D6A-3333-A445-9BBD-E27C58DF0311}" type="presOf" srcId="{B6047393-ED44-B540-9E08-5BD8BA526CAA}" destId="{47EF09D4-BA96-8E4E-9C02-848C91969397}" srcOrd="0" destOrd="0" presId="urn:microsoft.com/office/officeart/2005/8/layout/vList2"/>
    <dgm:cxn modelId="{E714E36B-BA29-4B1C-A5A6-DC818E048543}" type="presOf" srcId="{72C74514-7E59-43DD-81F2-44D5759C1824}" destId="{2DC07872-A69E-402A-96DD-C56028D57122}" srcOrd="0" destOrd="0" presId="urn:microsoft.com/office/officeart/2005/8/layout/vList2"/>
    <dgm:cxn modelId="{5147CD80-432B-8D48-A913-2878ACEA3B1C}" type="presOf" srcId="{4B1E9948-2C1F-48C7-9BF9-20B8B7DAEB5F}" destId="{ED8365DF-6489-4474-AD72-A519E8BD5BF3}" srcOrd="0" destOrd="0" presId="urn:microsoft.com/office/officeart/2005/8/layout/vList2"/>
    <dgm:cxn modelId="{D4955F99-B932-3F40-8BA7-7308DD0903CB}" type="presOf" srcId="{59572103-8EAB-4A50-AB21-192D24EA143A}" destId="{97E83598-7549-4D53-BBE1-0E6AEBC831C5}" srcOrd="0" destOrd="0" presId="urn:microsoft.com/office/officeart/2005/8/layout/vList2"/>
    <dgm:cxn modelId="{327CA09F-05CE-4202-9582-3D4D816260FB}" srcId="{72C74514-7E59-43DD-81F2-44D5759C1824}" destId="{4B1E9948-2C1F-48C7-9BF9-20B8B7DAEB5F}" srcOrd="6" destOrd="0" parTransId="{209C82A6-A847-4401-95BD-B70D8C180633}" sibTransId="{E55ED0DF-D70F-4199-A2A4-04EB4B2367CB}"/>
    <dgm:cxn modelId="{8977B2A9-2C79-1B47-B674-3329529502EC}" type="presOf" srcId="{71B775CA-F13C-7340-ABCF-22506AE4849F}" destId="{A25B77B8-1FA0-264E-8C79-E12498181616}" srcOrd="0" destOrd="0" presId="urn:microsoft.com/office/officeart/2005/8/layout/vList2"/>
    <dgm:cxn modelId="{D9C9CEB5-9B77-FB46-BE23-01550C850EA4}" srcId="{72C74514-7E59-43DD-81F2-44D5759C1824}" destId="{B6047393-ED44-B540-9E08-5BD8BA526CAA}" srcOrd="9" destOrd="0" parTransId="{B08BF4FD-C5FE-5845-824F-2141B1C98759}" sibTransId="{2D99C50B-6557-C946-8937-D85E69C5B5B5}"/>
    <dgm:cxn modelId="{BEE2BFC1-235B-3C4D-974E-5B9B26E3F54B}" srcId="{72C74514-7E59-43DD-81F2-44D5759C1824}" destId="{71B775CA-F13C-7340-ABCF-22506AE4849F}" srcOrd="5" destOrd="0" parTransId="{CB70B5DD-8FAB-0B48-9150-B598DB007B62}" sibTransId="{47A69B99-4CDE-2F4D-9AA0-2FBDA88A9EE3}"/>
    <dgm:cxn modelId="{90A815D3-AFC3-A445-84C3-F6174DA6B35A}" srcId="{72C74514-7E59-43DD-81F2-44D5759C1824}" destId="{E27D3E73-9AE1-6C47-BAD3-BF0CFC501738}" srcOrd="3" destOrd="0" parTransId="{A210493B-3982-9440-87DC-195EBDD2ED0B}" sibTransId="{7CAAB2BB-E0C5-194E-BEC4-E75D02848448}"/>
    <dgm:cxn modelId="{2CE692DE-5701-8A41-BFC5-847B67CA208C}" type="presOf" srcId="{7157FA5E-C5A4-4039-9621-57EE8A1E448F}" destId="{0226B3E9-17B7-42EC-B955-CDCAEF4B2B67}" srcOrd="0" destOrd="0" presId="urn:microsoft.com/office/officeart/2005/8/layout/vList2"/>
    <dgm:cxn modelId="{2A004FDF-9DD2-7149-9B7C-C0908A9CA191}" type="presOf" srcId="{9C10C83C-4CC6-4F15-8AF1-7FD6A002DF74}" destId="{3DD9623C-BD4B-4DD5-BA45-58C18A024881}" srcOrd="0" destOrd="0" presId="urn:microsoft.com/office/officeart/2005/8/layout/vList2"/>
    <dgm:cxn modelId="{2037D8ED-C68E-4416-A81A-988785FE4213}" srcId="{72C74514-7E59-43DD-81F2-44D5759C1824}" destId="{9C10C83C-4CC6-4F15-8AF1-7FD6A002DF74}" srcOrd="8" destOrd="0" parTransId="{94AAFD55-CB7E-4451-A6C0-1C474555A3A7}" sibTransId="{9D13E348-B2C6-429B-8C6A-041A56D697BD}"/>
    <dgm:cxn modelId="{8BEE4CFB-C7E5-4B83-9139-EA0C3E2FA37B}" srcId="{72C74514-7E59-43DD-81F2-44D5759C1824}" destId="{59572103-8EAB-4A50-AB21-192D24EA143A}" srcOrd="4" destOrd="0" parTransId="{B2F725CF-E266-4785-A60F-B2DFB20F05FF}" sibTransId="{8E8FBB87-05BE-4819-88DE-3D62EAC3E751}"/>
    <dgm:cxn modelId="{B1C6C8FB-8675-4041-B002-56D8F33C465E}" type="presOf" srcId="{41B0F318-681F-480C-ACBE-4C24B27636D0}" destId="{1492B98B-63EB-43A1-8A5D-476D085DE6CB}" srcOrd="0" destOrd="0" presId="urn:microsoft.com/office/officeart/2005/8/layout/vList2"/>
    <dgm:cxn modelId="{57347091-4787-8541-9232-EF2646FF29F6}" type="presParOf" srcId="{2DC07872-A69E-402A-96DD-C56028D57122}" destId="{246B3F6D-7E01-4EA4-AD38-6D0AD826CB2B}" srcOrd="0" destOrd="0" presId="urn:microsoft.com/office/officeart/2005/8/layout/vList2"/>
    <dgm:cxn modelId="{98447257-939B-9544-A610-1B88BC57E629}" type="presParOf" srcId="{2DC07872-A69E-402A-96DD-C56028D57122}" destId="{41FFD712-3018-4F8A-87A9-F9938E32B3BA}" srcOrd="1" destOrd="0" presId="urn:microsoft.com/office/officeart/2005/8/layout/vList2"/>
    <dgm:cxn modelId="{D4B1A4E7-D81D-3C46-9B89-64109DEE4807}" type="presParOf" srcId="{2DC07872-A69E-402A-96DD-C56028D57122}" destId="{1492B98B-63EB-43A1-8A5D-476D085DE6CB}" srcOrd="2" destOrd="0" presId="urn:microsoft.com/office/officeart/2005/8/layout/vList2"/>
    <dgm:cxn modelId="{F3E3A71A-19B5-D941-AA1B-4FDACDAE17AA}" type="presParOf" srcId="{2DC07872-A69E-402A-96DD-C56028D57122}" destId="{98513353-E4E7-475B-B9F1-9C2D00380F56}" srcOrd="3" destOrd="0" presId="urn:microsoft.com/office/officeart/2005/8/layout/vList2"/>
    <dgm:cxn modelId="{4409C388-253E-B245-86BE-E10720E4C928}" type="presParOf" srcId="{2DC07872-A69E-402A-96DD-C56028D57122}" destId="{0226B3E9-17B7-42EC-B955-CDCAEF4B2B67}" srcOrd="4" destOrd="0" presId="urn:microsoft.com/office/officeart/2005/8/layout/vList2"/>
    <dgm:cxn modelId="{21B2337E-2DFE-BB4C-B1F7-B3A390786CE5}" type="presParOf" srcId="{2DC07872-A69E-402A-96DD-C56028D57122}" destId="{D3DEECF9-42A9-48EF-A0C8-AF0D7F16E2EA}" srcOrd="5" destOrd="0" presId="urn:microsoft.com/office/officeart/2005/8/layout/vList2"/>
    <dgm:cxn modelId="{BCA3A538-3C65-8F4C-9B68-C8C186D11FF8}" type="presParOf" srcId="{2DC07872-A69E-402A-96DD-C56028D57122}" destId="{924973F7-934D-8F47-94DA-08F7A44621FE}" srcOrd="6" destOrd="0" presId="urn:microsoft.com/office/officeart/2005/8/layout/vList2"/>
    <dgm:cxn modelId="{77886754-CE25-A748-B740-C4194E284654}" type="presParOf" srcId="{2DC07872-A69E-402A-96DD-C56028D57122}" destId="{595DCBCB-55EB-824A-969B-8B5CA54CB345}" srcOrd="7" destOrd="0" presId="urn:microsoft.com/office/officeart/2005/8/layout/vList2"/>
    <dgm:cxn modelId="{6D7B46EB-AFD1-544F-8178-B972C0448FE3}" type="presParOf" srcId="{2DC07872-A69E-402A-96DD-C56028D57122}" destId="{97E83598-7549-4D53-BBE1-0E6AEBC831C5}" srcOrd="8" destOrd="0" presId="urn:microsoft.com/office/officeart/2005/8/layout/vList2"/>
    <dgm:cxn modelId="{5989C136-2C8B-FB48-84FE-45CF8DDD2863}" type="presParOf" srcId="{2DC07872-A69E-402A-96DD-C56028D57122}" destId="{8D81D927-B2FA-4A4B-B2D0-10300F7337DE}" srcOrd="9" destOrd="0" presId="urn:microsoft.com/office/officeart/2005/8/layout/vList2"/>
    <dgm:cxn modelId="{0C32E564-D526-E740-894C-0F7F063B1EED}" type="presParOf" srcId="{2DC07872-A69E-402A-96DD-C56028D57122}" destId="{A25B77B8-1FA0-264E-8C79-E12498181616}" srcOrd="10" destOrd="0" presId="urn:microsoft.com/office/officeart/2005/8/layout/vList2"/>
    <dgm:cxn modelId="{83514BDE-BA7D-4E45-A596-BF1852ADA6FB}" type="presParOf" srcId="{2DC07872-A69E-402A-96DD-C56028D57122}" destId="{DC809B77-B6AF-8946-A167-E05E337134F9}" srcOrd="11" destOrd="0" presId="urn:microsoft.com/office/officeart/2005/8/layout/vList2"/>
    <dgm:cxn modelId="{502191B6-68ED-1E49-9A93-D863143D14F4}" type="presParOf" srcId="{2DC07872-A69E-402A-96DD-C56028D57122}" destId="{ED8365DF-6489-4474-AD72-A519E8BD5BF3}" srcOrd="12" destOrd="0" presId="urn:microsoft.com/office/officeart/2005/8/layout/vList2"/>
    <dgm:cxn modelId="{0FE1C878-2870-054D-9802-AA09EC6DE038}" type="presParOf" srcId="{2DC07872-A69E-402A-96DD-C56028D57122}" destId="{0DA84FBE-DDCE-42A0-A858-D691D521C2ED}" srcOrd="13" destOrd="0" presId="urn:microsoft.com/office/officeart/2005/8/layout/vList2"/>
    <dgm:cxn modelId="{7174D82C-EA10-4E47-BE07-6CBCF9322FD8}" type="presParOf" srcId="{2DC07872-A69E-402A-96DD-C56028D57122}" destId="{4600E2F4-4816-42E1-84E1-9746CD5EE6E1}" srcOrd="14" destOrd="0" presId="urn:microsoft.com/office/officeart/2005/8/layout/vList2"/>
    <dgm:cxn modelId="{11A00048-ECF4-EE4E-B29C-E76DC21981E5}" type="presParOf" srcId="{2DC07872-A69E-402A-96DD-C56028D57122}" destId="{166791EB-AD0F-434E-8229-A35C8F8D8F23}" srcOrd="15" destOrd="0" presId="urn:microsoft.com/office/officeart/2005/8/layout/vList2"/>
    <dgm:cxn modelId="{EBBD8A04-3B19-5041-BAC9-C71491CD17A0}" type="presParOf" srcId="{2DC07872-A69E-402A-96DD-C56028D57122}" destId="{3DD9623C-BD4B-4DD5-BA45-58C18A024881}" srcOrd="16" destOrd="0" presId="urn:microsoft.com/office/officeart/2005/8/layout/vList2"/>
    <dgm:cxn modelId="{F13E6725-BD65-FC46-BBB1-9E209636569F}" type="presParOf" srcId="{2DC07872-A69E-402A-96DD-C56028D57122}" destId="{18D79174-C840-9B4D-AC32-09D4BC63B51F}" srcOrd="17" destOrd="0" presId="urn:microsoft.com/office/officeart/2005/8/layout/vList2"/>
    <dgm:cxn modelId="{58A7D36F-1795-884D-ADBD-E243368B0979}" type="presParOf" srcId="{2DC07872-A69E-402A-96DD-C56028D57122}" destId="{47EF09D4-BA96-8E4E-9C02-848C91969397}" srcOrd="1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6B3F6D-7E01-4EA4-AD38-6D0AD826CB2B}">
      <dsp:nvSpPr>
        <dsp:cNvPr id="0" name=""/>
        <dsp:cNvSpPr/>
      </dsp:nvSpPr>
      <dsp:spPr>
        <a:xfrm>
          <a:off x="0" y="0"/>
          <a:ext cx="11487396" cy="4237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/>
            <a:t>Collection of data of  </a:t>
          </a:r>
          <a:r>
            <a:rPr lang="fr-CH" sz="2000" kern="1200" dirty="0" err="1"/>
            <a:t>trajectory</a:t>
          </a:r>
          <a:r>
            <a:rPr lang="fr-CH" sz="2000" kern="1200" dirty="0"/>
            <a:t>  (google </a:t>
          </a:r>
          <a:r>
            <a:rPr lang="fr-CH" sz="2000" kern="1200" dirty="0" err="1"/>
            <a:t>maps</a:t>
          </a:r>
          <a:r>
            <a:rPr lang="fr-CH" sz="2000" kern="1200" dirty="0"/>
            <a:t>) </a:t>
          </a:r>
          <a:endParaRPr lang="en-US" sz="2000" kern="1200" dirty="0"/>
        </a:p>
      </dsp:txBody>
      <dsp:txXfrm>
        <a:off x="20686" y="20686"/>
        <a:ext cx="11446024" cy="382385"/>
      </dsp:txXfrm>
    </dsp:sp>
    <dsp:sp modelId="{1492B98B-63EB-43A1-8A5D-476D085DE6CB}">
      <dsp:nvSpPr>
        <dsp:cNvPr id="0" name=""/>
        <dsp:cNvSpPr/>
      </dsp:nvSpPr>
      <dsp:spPr>
        <a:xfrm>
          <a:off x="0" y="436783"/>
          <a:ext cx="11487396" cy="42375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Creation</a:t>
          </a:r>
          <a:r>
            <a:rPr lang="fr-CH" sz="2000" kern="1200" dirty="0"/>
            <a:t> of isochrones (15-minute </a:t>
          </a:r>
          <a:r>
            <a:rPr lang="fr-CH" sz="2000" kern="1200" dirty="0" err="1"/>
            <a:t>accesibility</a:t>
          </a:r>
          <a:r>
            <a:rPr lang="fr-CH" sz="2000" kern="1200" dirty="0"/>
            <a:t> zones)</a:t>
          </a:r>
          <a:endParaRPr lang="en-US" sz="2000" kern="1200" dirty="0"/>
        </a:p>
      </dsp:txBody>
      <dsp:txXfrm>
        <a:off x="20686" y="457469"/>
        <a:ext cx="11446024" cy="382385"/>
      </dsp:txXfrm>
    </dsp:sp>
    <dsp:sp modelId="{0226B3E9-17B7-42EC-B955-CDCAEF4B2B67}">
      <dsp:nvSpPr>
        <dsp:cNvPr id="0" name=""/>
        <dsp:cNvSpPr/>
      </dsp:nvSpPr>
      <dsp:spPr>
        <a:xfrm>
          <a:off x="0" y="873070"/>
          <a:ext cx="11487396" cy="42375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Detection</a:t>
          </a:r>
          <a:r>
            <a:rPr lang="fr-CH" sz="2000" kern="1200" dirty="0"/>
            <a:t> of point of </a:t>
          </a:r>
          <a:r>
            <a:rPr lang="fr-CH" sz="2000" kern="1200" dirty="0" err="1"/>
            <a:t>interests</a:t>
          </a:r>
          <a:r>
            <a:rPr lang="fr-CH" sz="2000" kern="1200" dirty="0"/>
            <a:t> (POI) </a:t>
          </a:r>
          <a:endParaRPr lang="en-US" sz="2000" kern="1200" dirty="0"/>
        </a:p>
      </dsp:txBody>
      <dsp:txXfrm>
        <a:off x="20686" y="893756"/>
        <a:ext cx="11446024" cy="382385"/>
      </dsp:txXfrm>
    </dsp:sp>
    <dsp:sp modelId="{924973F7-934D-8F47-94DA-08F7A44621FE}">
      <dsp:nvSpPr>
        <dsp:cNvPr id="0" name=""/>
        <dsp:cNvSpPr/>
      </dsp:nvSpPr>
      <dsp:spPr>
        <a:xfrm>
          <a:off x="0" y="1309358"/>
          <a:ext cx="11487396" cy="42375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Processing of the POI (KDE)</a:t>
          </a:r>
        </a:p>
      </dsp:txBody>
      <dsp:txXfrm>
        <a:off x="20686" y="1330044"/>
        <a:ext cx="11446024" cy="382385"/>
      </dsp:txXfrm>
    </dsp:sp>
    <dsp:sp modelId="{97E83598-7549-4D53-BBE1-0E6AEBC831C5}">
      <dsp:nvSpPr>
        <dsp:cNvPr id="0" name=""/>
        <dsp:cNvSpPr/>
      </dsp:nvSpPr>
      <dsp:spPr>
        <a:xfrm>
          <a:off x="0" y="1745646"/>
          <a:ext cx="11487396" cy="423757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Preprocessing</a:t>
          </a:r>
          <a:r>
            <a:rPr lang="fr-CH" sz="2000" kern="1200" dirty="0"/>
            <a:t> of </a:t>
          </a:r>
          <a:r>
            <a:rPr lang="fr-CH" sz="2000" kern="1200" dirty="0" err="1"/>
            <a:t>collected</a:t>
          </a:r>
          <a:r>
            <a:rPr lang="fr-CH" sz="2000" kern="1200" dirty="0"/>
            <a:t> data (segmentation, </a:t>
          </a:r>
          <a:r>
            <a:rPr lang="fr-CH" sz="2000" kern="1200" dirty="0" err="1"/>
            <a:t>categorization</a:t>
          </a:r>
          <a:r>
            <a:rPr lang="fr-CH" sz="2000" kern="1200" dirty="0"/>
            <a:t> of </a:t>
          </a:r>
          <a:r>
            <a:rPr lang="fr-CH" sz="2000" kern="1200" dirty="0" err="1"/>
            <a:t>visited</a:t>
          </a:r>
          <a:r>
            <a:rPr lang="fr-CH" sz="2000" kern="1200" dirty="0"/>
            <a:t> points, </a:t>
          </a:r>
          <a:r>
            <a:rPr lang="fr-CH" sz="2000" kern="1200" dirty="0" err="1"/>
            <a:t>mobility</a:t>
          </a:r>
          <a:r>
            <a:rPr lang="fr-CH" sz="2000" kern="1200" dirty="0"/>
            <a:t> </a:t>
          </a:r>
          <a:r>
            <a:rPr lang="fr-CH" sz="2000" kern="1200" dirty="0" err="1"/>
            <a:t>shapes</a:t>
          </a:r>
          <a:r>
            <a:rPr lang="fr-CH" sz="2000" kern="1200" dirty="0"/>
            <a:t>)</a:t>
          </a:r>
          <a:endParaRPr lang="en-US" sz="2000" kern="1200" dirty="0"/>
        </a:p>
      </dsp:txBody>
      <dsp:txXfrm>
        <a:off x="20686" y="1766332"/>
        <a:ext cx="11446024" cy="382385"/>
      </dsp:txXfrm>
    </dsp:sp>
    <dsp:sp modelId="{A25B77B8-1FA0-264E-8C79-E12498181616}">
      <dsp:nvSpPr>
        <dsp:cNvPr id="0" name=""/>
        <dsp:cNvSpPr/>
      </dsp:nvSpPr>
      <dsp:spPr>
        <a:xfrm>
          <a:off x="0" y="2181933"/>
          <a:ext cx="11487396" cy="4237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Activity Classification Model - ground truth</a:t>
          </a:r>
        </a:p>
      </dsp:txBody>
      <dsp:txXfrm>
        <a:off x="20686" y="2202619"/>
        <a:ext cx="11446024" cy="382385"/>
      </dsp:txXfrm>
    </dsp:sp>
    <dsp:sp modelId="{ED8365DF-6489-4474-AD72-A519E8BD5BF3}">
      <dsp:nvSpPr>
        <dsp:cNvPr id="0" name=""/>
        <dsp:cNvSpPr/>
      </dsp:nvSpPr>
      <dsp:spPr>
        <a:xfrm>
          <a:off x="0" y="2618221"/>
          <a:ext cx="11487396" cy="42375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Join</a:t>
          </a:r>
          <a:r>
            <a:rPr lang="fr-CH" sz="2000" kern="1200" dirty="0"/>
            <a:t> </a:t>
          </a:r>
          <a:r>
            <a:rPr lang="fr-CH" sz="2000" kern="1200" dirty="0" err="1"/>
            <a:t>both</a:t>
          </a:r>
          <a:r>
            <a:rPr lang="fr-CH" sz="2000" kern="1200" dirty="0"/>
            <a:t> </a:t>
          </a:r>
          <a:r>
            <a:rPr lang="fr-CH" sz="2000" kern="1200" dirty="0" err="1"/>
            <a:t>datasets</a:t>
          </a:r>
          <a:r>
            <a:rPr lang="fr-CH" sz="2000" kern="1200" dirty="0"/>
            <a:t> </a:t>
          </a:r>
          <a:endParaRPr lang="en-US" sz="2000" kern="1200" dirty="0"/>
        </a:p>
      </dsp:txBody>
      <dsp:txXfrm>
        <a:off x="20686" y="2638907"/>
        <a:ext cx="11446024" cy="382385"/>
      </dsp:txXfrm>
    </dsp:sp>
    <dsp:sp modelId="{4600E2F4-4816-42E1-84E1-9746CD5EE6E1}">
      <dsp:nvSpPr>
        <dsp:cNvPr id="0" name=""/>
        <dsp:cNvSpPr/>
      </dsp:nvSpPr>
      <dsp:spPr>
        <a:xfrm>
          <a:off x="0" y="3054509"/>
          <a:ext cx="11487396" cy="42375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Analysis</a:t>
          </a:r>
          <a:r>
            <a:rPr lang="fr-CH" sz="2000" kern="1200" dirty="0"/>
            <a:t> and computation of </a:t>
          </a:r>
          <a:r>
            <a:rPr lang="fr-CH" sz="2000" kern="1200" dirty="0" err="1"/>
            <a:t>theoretical</a:t>
          </a:r>
          <a:r>
            <a:rPr lang="fr-CH" sz="2000" kern="1200" dirty="0"/>
            <a:t> </a:t>
          </a:r>
          <a:r>
            <a:rPr lang="fr-CH" sz="2000" kern="1200" dirty="0" err="1"/>
            <a:t>accessibility</a:t>
          </a:r>
          <a:r>
            <a:rPr lang="fr-CH" sz="2000" kern="1200" dirty="0"/>
            <a:t> and </a:t>
          </a:r>
          <a:r>
            <a:rPr lang="fr-CH" sz="2000" kern="1200" dirty="0" err="1"/>
            <a:t>practical</a:t>
          </a:r>
          <a:r>
            <a:rPr lang="fr-CH" sz="2000" kern="1200" dirty="0"/>
            <a:t> </a:t>
          </a:r>
          <a:r>
            <a:rPr lang="fr-CH" sz="2000" kern="1200" dirty="0" err="1"/>
            <a:t>mobility</a:t>
          </a:r>
          <a:endParaRPr lang="en-US" sz="2000" kern="1200" dirty="0"/>
        </a:p>
      </dsp:txBody>
      <dsp:txXfrm>
        <a:off x="20686" y="3075195"/>
        <a:ext cx="11446024" cy="382385"/>
      </dsp:txXfrm>
    </dsp:sp>
    <dsp:sp modelId="{3DD9623C-BD4B-4DD5-BA45-58C18A024881}">
      <dsp:nvSpPr>
        <dsp:cNvPr id="0" name=""/>
        <dsp:cNvSpPr/>
      </dsp:nvSpPr>
      <dsp:spPr>
        <a:xfrm>
          <a:off x="0" y="3490796"/>
          <a:ext cx="11487396" cy="42375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2000" kern="1200" dirty="0" err="1"/>
            <a:t>Results</a:t>
          </a:r>
          <a:r>
            <a:rPr lang="fr-CH" sz="2000" kern="1200" dirty="0"/>
            <a:t> visualisation</a:t>
          </a:r>
          <a:endParaRPr lang="en-US" sz="2000" kern="1200" dirty="0"/>
        </a:p>
      </dsp:txBody>
      <dsp:txXfrm>
        <a:off x="20686" y="3511482"/>
        <a:ext cx="11446024" cy="382385"/>
      </dsp:txXfrm>
    </dsp:sp>
    <dsp:sp modelId="{47EF09D4-BA96-8E4E-9C02-848C91969397}">
      <dsp:nvSpPr>
        <dsp:cNvPr id="0" name=""/>
        <dsp:cNvSpPr/>
      </dsp:nvSpPr>
      <dsp:spPr>
        <a:xfrm>
          <a:off x="0" y="3927084"/>
          <a:ext cx="11487396" cy="423757"/>
        </a:xfrm>
        <a:prstGeom prst="round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Eventually add an isochrone with different speed</a:t>
          </a:r>
        </a:p>
      </dsp:txBody>
      <dsp:txXfrm>
        <a:off x="20686" y="3947770"/>
        <a:ext cx="11446024" cy="382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DE65-3C02-ACB7-84CB-667944517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B91BA7-428F-AC76-4503-EB039D1311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333F7-75C4-0A69-336E-1FE89614A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56C23-E522-0422-DCE1-98F990755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AABE4-B81A-4329-1B2A-1482D9AB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6499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A01A-0CA4-B54A-D8C3-46788D45D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1174B-95BA-E488-5679-FC07502A3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AA41B-8A38-2628-1D4E-FCB8AC88F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99C63-D822-9BAD-4952-47AA00CAE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E69B8-DC76-3165-296B-2FC7B2066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45044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12A6E-7DB6-55FD-EA8B-38155DCFC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2F25E-6139-FEB0-3827-0A73A86B6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52E1E-67BA-83CA-CB28-13247FAB5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0FAD4-1957-BC3C-937B-9FE044168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A9E41-CD99-8F89-640E-F95FC0D25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1508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CCACA-1ECE-818D-21B6-1B396DF9D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124A1-7879-DF5D-E21A-E7D8094076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9DF7C-EE99-81B1-E2C7-4275AAED81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07D51-6C22-0FC7-F634-4C356F954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C5EED7-74D9-2837-72B8-1CF695C6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A67FB-28BF-9CCB-E6C3-A62F05D2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24162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64B9-ABAD-9C95-D918-24C1AD147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2D5C3-1961-010A-AB60-2D257B9A3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2E7A39-375E-A78E-4CF6-A8AC463DB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113D9-9CC8-BB5E-8DB7-F3E5528E9D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2DAFC1-F3F9-BA2E-78C2-C903313C8D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D488F3-FEAE-092E-85B4-2968CEE1F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5876B3-B4D9-16B3-87F3-063E9B92A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160D13-615C-598D-F0BA-2A4F62E6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470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9B490-9F6B-2B0F-52F9-1CB62720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03F62A-09C4-DAEF-1658-9981A22E1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D7F2CD-A8DB-B371-FA1A-3F26DC536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2260BB-DDC7-146F-DE68-1D0917B94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96166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FE9B6-9034-FCCA-F58C-EBF8DF97F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CC75D7-CEF5-D8A2-4056-74FD8647E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F97B9-6CF7-7BDA-6533-331941D97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74916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C59F7-C169-4149-2624-366B13BCE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59975-E51A-DBA4-CDBA-396A29F23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8576E-5CF4-6FB1-D72F-3381A2BA2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8F4847-E872-9D0F-000C-5215F52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DA340-3352-E4AF-5ADB-7382F53B7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0F3877-B3F0-4515-28A6-7F46FDCB4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3106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44EF9-FBBD-B425-C646-B88262D1E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08ED01-7441-6949-510E-76E8AC726C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78E83-B28B-FE3F-0119-414B6AF23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A6C379-A531-029A-A562-E667CDD06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414E93-65B1-48AF-96D9-38861FED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31FDD-528C-49E4-AEE1-C50451C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7699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1C74-9D8D-DE98-0723-6DC65A41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F581F-E34C-2941-4726-5FC0E45765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92D6AE-9898-AC59-4CAC-291AD9A4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78BDD-FF4E-EFA5-B933-327F67A09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A00A4-1D65-C22F-D2B6-7D9075AC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3188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B400BF-0E65-9B41-23DC-839A4446DE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06F129-1721-10B9-8696-4FFE2DDAC6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5CCBF-20F6-54F7-4979-35F370355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47357-F77E-E268-BF7A-2CB049D79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41460-8E5A-5E35-DE2D-F7536723F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0959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2E08E9-B939-4B48-C4F1-79E64A3A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9B699-95E5-9505-0EBA-F19E5E86D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91060-D0E6-D496-B2FD-0F5DDAFDFE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BDDBB-0918-4A38-BFF3-738DBDB6A6F7}" type="datetimeFigureOut">
              <a:rPr lang="fr-CH" smtClean="0"/>
              <a:t>03.06.26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E92E0-1C09-9852-EAF6-57E5F84C2A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E2E05-3017-F6F1-3B26-55E48E26F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7BC33-3344-4283-8D2A-FA384F602BEB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87827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3390/smartcities4010006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90/smartcities4010006" TargetMode="External"/><Relationship Id="rId2" Type="http://schemas.microsoft.com/office/2018/10/relationships/comments" Target="../comments/modernComment_102_88E6931F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2" name="Rectangle 1051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269C2F-6BFD-EFC2-398D-9FE490AB9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908246" cy="4567137"/>
          </a:xfrm>
        </p:spPr>
        <p:txBody>
          <a:bodyPr>
            <a:normAutofit/>
          </a:bodyPr>
          <a:lstStyle/>
          <a:p>
            <a:pPr algn="l"/>
            <a:r>
              <a:rPr lang="fr-CH" sz="4400" dirty="0"/>
              <a:t>The 15-Minute City in Practice</a:t>
            </a:r>
            <a:br>
              <a:rPr lang="fr-CH" sz="4400" dirty="0"/>
            </a:br>
            <a:br>
              <a:rPr lang="fr-CH" sz="4400" dirty="0"/>
            </a:br>
            <a:r>
              <a:rPr lang="fr-CH" sz="4000" dirty="0" err="1"/>
              <a:t>Comparing</a:t>
            </a:r>
            <a:r>
              <a:rPr lang="fr-CH" sz="4000" dirty="0"/>
              <a:t> </a:t>
            </a:r>
            <a:r>
              <a:rPr lang="fr-CH" sz="4000" dirty="0" err="1"/>
              <a:t>theoretical</a:t>
            </a:r>
            <a:r>
              <a:rPr lang="fr-CH" sz="4000" dirty="0"/>
              <a:t> </a:t>
            </a:r>
            <a:r>
              <a:rPr lang="fr-CH" sz="4000" dirty="0" err="1"/>
              <a:t>accessibility</a:t>
            </a:r>
            <a:r>
              <a:rPr lang="fr-CH" sz="4000" dirty="0"/>
              <a:t> and real </a:t>
            </a:r>
            <a:r>
              <a:rPr lang="fr-CH" sz="4000" dirty="0" err="1"/>
              <a:t>mobility</a:t>
            </a:r>
            <a:r>
              <a:rPr lang="fr-CH" sz="4000" dirty="0"/>
              <a:t> patterns in Zurich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5A3335-A6F0-3BBD-83BD-6F6034AF7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fr-CH" sz="1200" dirty="0"/>
              <a:t>Lucie Kern and Noémie Simon </a:t>
            </a:r>
          </a:p>
          <a:p>
            <a:pPr algn="l"/>
            <a:r>
              <a:rPr lang="fr-CH" sz="1200" dirty="0"/>
              <a:t>Patterns and Trends in </a:t>
            </a:r>
            <a:r>
              <a:rPr lang="fr-CH" sz="1200" dirty="0" err="1"/>
              <a:t>Environmental</a:t>
            </a:r>
            <a:r>
              <a:rPr lang="fr-CH" sz="1200" dirty="0"/>
              <a:t> Data</a:t>
            </a:r>
          </a:p>
          <a:p>
            <a:pPr algn="l"/>
            <a:r>
              <a:rPr lang="fr-CH" sz="1200" dirty="0"/>
              <a:t>03.06.2026</a:t>
            </a:r>
          </a:p>
        </p:txBody>
      </p:sp>
      <p:pic>
        <p:nvPicPr>
          <p:cNvPr id="1026" name="Picture 2" descr="Google Maps Zürich Stadtplan – Google Maps Italia – OVMN">
            <a:extLst>
              <a:ext uri="{FF2B5EF4-FFF2-40B4-BE49-F238E27FC236}">
                <a16:creationId xmlns:a16="http://schemas.microsoft.com/office/drawing/2014/main" id="{CD7F0A5B-B055-F6EE-B9F3-822F30A08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054"/>
          <a:stretch>
            <a:fillRect/>
          </a:stretch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9249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4DA82-47D2-51C6-A3D6-11A74E9A9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EFCDC17-11EB-2D2C-FFDB-30F3F578D798}"/>
              </a:ext>
            </a:extLst>
          </p:cNvPr>
          <p:cNvSpPr/>
          <p:nvPr/>
        </p:nvSpPr>
        <p:spPr>
          <a:xfrm>
            <a:off x="0" y="6098413"/>
            <a:ext cx="12192000" cy="759587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FCEE1F-FE97-034F-EF16-9CE410CFD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198" y="281213"/>
            <a:ext cx="7333342" cy="1325563"/>
          </a:xfrm>
        </p:spPr>
        <p:txBody>
          <a:bodyPr/>
          <a:lstStyle/>
          <a:p>
            <a:r>
              <a:rPr lang="fr-CH" dirty="0" err="1"/>
              <a:t>Context</a:t>
            </a:r>
            <a:r>
              <a:rPr lang="fr-CH" dirty="0"/>
              <a:t> &amp; Project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F91B7-20C0-64E3-3C39-24123B078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004" y="3429877"/>
            <a:ext cx="3040743" cy="1325563"/>
          </a:xfrm>
        </p:spPr>
        <p:txBody>
          <a:bodyPr>
            <a:normAutofit/>
          </a:bodyPr>
          <a:lstStyle/>
          <a:p>
            <a:r>
              <a:rPr lang="en-001" sz="2200" dirty="0"/>
              <a:t>urban planning</a:t>
            </a:r>
          </a:p>
          <a:p>
            <a:r>
              <a:rPr lang="en-001" sz="2200" dirty="0"/>
              <a:t>mobility analysis </a:t>
            </a:r>
          </a:p>
          <a:p>
            <a:r>
              <a:rPr lang="en-001" sz="2200" dirty="0"/>
              <a:t>accessibility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CB79621-C30B-B1DE-1D8B-A8B276FF255C}"/>
              </a:ext>
            </a:extLst>
          </p:cNvPr>
          <p:cNvSpPr txBox="1">
            <a:spLocks/>
          </p:cNvSpPr>
          <p:nvPr/>
        </p:nvSpPr>
        <p:spPr>
          <a:xfrm>
            <a:off x="3420446" y="3395637"/>
            <a:ext cx="4298044" cy="21984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indent="0">
              <a:buNone/>
            </a:pPr>
            <a:r>
              <a:rPr lang="fr-CH" dirty="0" err="1"/>
              <a:t>We</a:t>
            </a:r>
            <a:r>
              <a:rPr lang="fr-CH" dirty="0"/>
              <a:t>  use </a:t>
            </a:r>
            <a:r>
              <a:rPr lang="fr-CH" dirty="0" err="1"/>
              <a:t>activity</a:t>
            </a:r>
            <a:r>
              <a:rPr lang="fr-CH" dirty="0"/>
              <a:t> </a:t>
            </a:r>
            <a:r>
              <a:rPr lang="fr-CH" dirty="0" err="1"/>
              <a:t>space</a:t>
            </a:r>
            <a:r>
              <a:rPr lang="fr-CH" dirty="0"/>
              <a:t> to  compare </a:t>
            </a:r>
            <a:r>
              <a:rPr lang="fr-CH" dirty="0" err="1"/>
              <a:t>theoretical</a:t>
            </a:r>
            <a:r>
              <a:rPr lang="fr-CH" dirty="0"/>
              <a:t> </a:t>
            </a:r>
            <a:r>
              <a:rPr lang="fr-CH" dirty="0" err="1"/>
              <a:t>accessibility</a:t>
            </a:r>
            <a:r>
              <a:rPr lang="fr-CH" dirty="0"/>
              <a:t> </a:t>
            </a:r>
            <a:r>
              <a:rPr lang="fr-CH" dirty="0" err="1"/>
              <a:t>with</a:t>
            </a:r>
            <a:r>
              <a:rPr lang="fr-CH" dirty="0"/>
              <a:t> </a:t>
            </a:r>
            <a:r>
              <a:rPr lang="fr-CH" dirty="0" err="1"/>
              <a:t>actual</a:t>
            </a:r>
            <a:r>
              <a:rPr lang="fr-CH" dirty="0"/>
              <a:t> </a:t>
            </a:r>
            <a:r>
              <a:rPr lang="fr-CH" dirty="0" err="1"/>
              <a:t>mobility</a:t>
            </a:r>
            <a:r>
              <a:rPr lang="fr-CH" dirty="0"/>
              <a:t> </a:t>
            </a:r>
            <a:r>
              <a:rPr lang="fr-CH" dirty="0" err="1"/>
              <a:t>behavior</a:t>
            </a:r>
            <a:r>
              <a:rPr lang="fr-CH" dirty="0"/>
              <a:t> </a:t>
            </a:r>
            <a:r>
              <a:rPr lang="fr-CH" dirty="0" err="1"/>
              <a:t>based</a:t>
            </a:r>
            <a:r>
              <a:rPr lang="fr-CH" dirty="0"/>
              <a:t> on the data </a:t>
            </a:r>
            <a:r>
              <a:rPr lang="fr-CH" dirty="0" err="1"/>
              <a:t>collected</a:t>
            </a:r>
            <a:r>
              <a:rPr lang="fr-CH" dirty="0"/>
              <a:t> </a:t>
            </a:r>
            <a:r>
              <a:rPr lang="fr-CH" dirty="0" err="1"/>
              <a:t>from</a:t>
            </a:r>
            <a:r>
              <a:rPr lang="fr-CH" dirty="0"/>
              <a:t> one </a:t>
            </a:r>
            <a:r>
              <a:rPr lang="fr-CH" dirty="0" err="1"/>
              <a:t>individual</a:t>
            </a:r>
            <a:r>
              <a:rPr lang="fr-CH" dirty="0"/>
              <a:t> living in Zurich</a:t>
            </a:r>
          </a:p>
          <a:p>
            <a:endParaRPr lang="en-001" dirty="0"/>
          </a:p>
          <a:p>
            <a:endParaRPr lang="fr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9A5FF8E-7674-3AE6-41C1-310DD46EEAF3}"/>
              </a:ext>
            </a:extLst>
          </p:cNvPr>
          <p:cNvSpPr txBox="1">
            <a:spLocks/>
          </p:cNvSpPr>
          <p:nvPr/>
        </p:nvSpPr>
        <p:spPr>
          <a:xfrm>
            <a:off x="367004" y="1398190"/>
            <a:ext cx="7333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What is a 15-minute city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E62CEF-6E98-95BB-232D-F5395E72B50E}"/>
              </a:ext>
            </a:extLst>
          </p:cNvPr>
          <p:cNvSpPr txBox="1"/>
          <p:nvPr/>
        </p:nvSpPr>
        <p:spPr>
          <a:xfrm>
            <a:off x="567871" y="6185818"/>
            <a:ext cx="110562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001" sz="1400" dirty="0"/>
              <a:t>Moreno, C., Allam, Z., Chabaud, D., Gall, C., &amp; Pratlong, F. (2021). Introducing the “15-Minute City”: Sustainability, resilience and place identity in future post-pandemic cities. </a:t>
            </a:r>
            <a:r>
              <a:rPr lang="en-001" sz="1400" i="1" dirty="0"/>
              <a:t>Smart Cities, 4</a:t>
            </a:r>
            <a:r>
              <a:rPr lang="en-001" sz="1400" dirty="0"/>
              <a:t>(1), 93–111. </a:t>
            </a:r>
            <a:r>
              <a:rPr lang="en-001" sz="1400" dirty="0">
                <a:hlinkClick r:id="rId2"/>
              </a:rPr>
              <a:t>https://doi.org/10.3390/smartcities4010006</a:t>
            </a:r>
            <a:endParaRPr lang="en-001" sz="1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A66A455-70CD-000A-B3F6-D11802F3E145}"/>
              </a:ext>
            </a:extLst>
          </p:cNvPr>
          <p:cNvSpPr txBox="1">
            <a:spLocks/>
          </p:cNvSpPr>
          <p:nvPr/>
        </p:nvSpPr>
        <p:spPr>
          <a:xfrm>
            <a:off x="348213" y="1871007"/>
            <a:ext cx="11328529" cy="1151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sz="2200" dirty="0"/>
              <a:t>A city where residents can meet most of their everyday needs within a 15-minute walk or bike ride from their home, reducing dependence on cars and improving urban sustainability and quality of life.</a:t>
            </a:r>
            <a:r>
              <a:rPr lang="fr-CH" sz="2200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BE16033-5143-5AF8-D8E5-E6C66C35CF34}"/>
              </a:ext>
            </a:extLst>
          </p:cNvPr>
          <p:cNvSpPr txBox="1">
            <a:spLocks/>
          </p:cNvSpPr>
          <p:nvPr/>
        </p:nvSpPr>
        <p:spPr>
          <a:xfrm>
            <a:off x="302710" y="2964574"/>
            <a:ext cx="3135248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Application Area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24C2CE8-7351-DBCA-1961-356E8BF63419}"/>
              </a:ext>
            </a:extLst>
          </p:cNvPr>
          <p:cNvSpPr txBox="1">
            <a:spLocks/>
          </p:cNvSpPr>
          <p:nvPr/>
        </p:nvSpPr>
        <p:spPr>
          <a:xfrm>
            <a:off x="3420446" y="2967270"/>
            <a:ext cx="3437076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Conceptual Model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11A4EE2-6988-06E5-97B5-3583CEABF439}"/>
              </a:ext>
            </a:extLst>
          </p:cNvPr>
          <p:cNvSpPr txBox="1">
            <a:spLocks/>
          </p:cNvSpPr>
          <p:nvPr/>
        </p:nvSpPr>
        <p:spPr>
          <a:xfrm>
            <a:off x="7731189" y="2968951"/>
            <a:ext cx="2085716" cy="5876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Data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14E7150-6D34-BA9C-1FC7-E2FD88FAB998}"/>
              </a:ext>
            </a:extLst>
          </p:cNvPr>
          <p:cNvSpPr txBox="1">
            <a:spLocks/>
          </p:cNvSpPr>
          <p:nvPr/>
        </p:nvSpPr>
        <p:spPr>
          <a:xfrm>
            <a:off x="7743890" y="3429877"/>
            <a:ext cx="4212771" cy="1821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200" dirty="0"/>
              <a:t>G</a:t>
            </a:r>
            <a:r>
              <a:rPr lang="en-001" sz="2200" dirty="0"/>
              <a:t>oogle timeline for individual mobility</a:t>
            </a:r>
          </a:p>
          <a:p>
            <a:r>
              <a:rPr lang="en-001" sz="2200" dirty="0"/>
              <a:t>OpenStreetMap for </a:t>
            </a:r>
            <a:r>
              <a:rPr lang="fr-CH" sz="2200" dirty="0"/>
              <a:t>road </a:t>
            </a:r>
            <a:r>
              <a:rPr lang="fr-CH" sz="2200" dirty="0" err="1"/>
              <a:t>networkt</a:t>
            </a:r>
            <a:r>
              <a:rPr lang="fr-CH" dirty="0"/>
              <a:t>, </a:t>
            </a:r>
            <a:r>
              <a:rPr lang="fr-CH" sz="2200" dirty="0"/>
              <a:t>transport infrastructure for </a:t>
            </a:r>
            <a:r>
              <a:rPr lang="fr-CH" sz="2200" dirty="0" err="1"/>
              <a:t>urban</a:t>
            </a:r>
            <a:r>
              <a:rPr lang="fr-CH" sz="2200" dirty="0"/>
              <a:t> </a:t>
            </a:r>
            <a:r>
              <a:rPr lang="fr-CH" sz="2200" dirty="0" err="1"/>
              <a:t>context</a:t>
            </a:r>
            <a:r>
              <a:rPr lang="fr-CH" sz="2200" dirty="0"/>
              <a:t> and Point of </a:t>
            </a:r>
            <a:r>
              <a:rPr lang="fr-CH" sz="2200" dirty="0" err="1"/>
              <a:t>Interest</a:t>
            </a:r>
            <a:r>
              <a:rPr lang="fr-CH" sz="2200" dirty="0"/>
              <a:t> </a:t>
            </a:r>
          </a:p>
          <a:p>
            <a:pPr lvl="1"/>
            <a:endParaRPr lang="en-001" sz="2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50DE4D-9766-DAB7-AB84-B23FAE884ECD}"/>
              </a:ext>
            </a:extLst>
          </p:cNvPr>
          <p:cNvSpPr txBox="1"/>
          <p:nvPr/>
        </p:nvSpPr>
        <p:spPr>
          <a:xfrm>
            <a:off x="4551635" y="1418069"/>
            <a:ext cx="3179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001" dirty="0"/>
              <a:t>🏠 🛒🎓 💼🌳 🍽️ 🚉  🏥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E1577B-0FC5-7ADD-8D00-CE43A480C513}"/>
              </a:ext>
            </a:extLst>
          </p:cNvPr>
          <p:cNvSpPr txBox="1">
            <a:spLocks/>
          </p:cNvSpPr>
          <p:nvPr/>
        </p:nvSpPr>
        <p:spPr>
          <a:xfrm>
            <a:off x="348213" y="5076912"/>
            <a:ext cx="3015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>
                <a:solidFill>
                  <a:srgbClr val="98B2CB"/>
                </a:solidFill>
              </a:rPr>
              <a:t>Goal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C9BDEC1-11A3-FC9A-47DA-9997664BD104}"/>
              </a:ext>
            </a:extLst>
          </p:cNvPr>
          <p:cNvSpPr txBox="1">
            <a:spLocks/>
          </p:cNvSpPr>
          <p:nvPr/>
        </p:nvSpPr>
        <p:spPr>
          <a:xfrm>
            <a:off x="615042" y="5544529"/>
            <a:ext cx="3829021" cy="21984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indent="0">
              <a:buNone/>
            </a:pPr>
            <a:endParaRPr lang="fr-CH" sz="4600" dirty="0"/>
          </a:p>
          <a:p>
            <a:endParaRPr lang="en-001" dirty="0"/>
          </a:p>
          <a:p>
            <a:endParaRPr lang="fr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21DAEC-0A82-6021-A4E5-89B28C221F2F}"/>
              </a:ext>
            </a:extLst>
          </p:cNvPr>
          <p:cNvSpPr txBox="1"/>
          <p:nvPr/>
        </p:nvSpPr>
        <p:spPr>
          <a:xfrm>
            <a:off x="291322" y="5524491"/>
            <a:ext cx="119006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2200" dirty="0" err="1"/>
              <a:t>Understand</a:t>
            </a:r>
            <a:r>
              <a:rPr lang="fr-CH" sz="2200" dirty="0"/>
              <a:t> </a:t>
            </a:r>
            <a:r>
              <a:rPr lang="fr-CH" sz="2200" dirty="0" err="1"/>
              <a:t>whether</a:t>
            </a:r>
            <a:r>
              <a:rPr lang="fr-CH" sz="2200" dirty="0"/>
              <a:t> accessible infrastructure </a:t>
            </a:r>
            <a:r>
              <a:rPr lang="fr-CH" sz="2200" dirty="0" err="1"/>
              <a:t>is</a:t>
            </a:r>
            <a:r>
              <a:rPr lang="fr-CH" sz="2200" dirty="0"/>
              <a:t> </a:t>
            </a:r>
            <a:r>
              <a:rPr lang="fr-CH" sz="2200" dirty="0" err="1"/>
              <a:t>actually</a:t>
            </a:r>
            <a:r>
              <a:rPr lang="fr-CH" sz="2200" dirty="0"/>
              <a:t> </a:t>
            </a:r>
            <a:r>
              <a:rPr lang="fr-CH" sz="2200" dirty="0" err="1"/>
              <a:t>reflected</a:t>
            </a:r>
            <a:r>
              <a:rPr lang="fr-CH" sz="2200" dirty="0"/>
              <a:t> in </a:t>
            </a:r>
            <a:r>
              <a:rPr lang="fr-CH" sz="2200" dirty="0" err="1"/>
              <a:t>everyday</a:t>
            </a:r>
            <a:r>
              <a:rPr lang="fr-CH" sz="2200" dirty="0"/>
              <a:t> </a:t>
            </a:r>
            <a:r>
              <a:rPr lang="fr-CH" sz="2200" dirty="0" err="1"/>
              <a:t>mobility</a:t>
            </a:r>
            <a:r>
              <a:rPr lang="fr-CH" sz="2200" dirty="0"/>
              <a:t> </a:t>
            </a:r>
            <a:r>
              <a:rPr lang="fr-CH" sz="2200" dirty="0" err="1"/>
              <a:t>behavior</a:t>
            </a:r>
            <a:endParaRPr lang="fr-CH" sz="2200" dirty="0"/>
          </a:p>
        </p:txBody>
      </p:sp>
    </p:spTree>
    <p:extLst>
      <p:ext uri="{BB962C8B-B14F-4D97-AF65-F5344CB8AC3E}">
        <p14:creationId xmlns:p14="http://schemas.microsoft.com/office/powerpoint/2010/main" val="131123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03951D-F116-DC10-6C43-19FFF74566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03960" y="2426144"/>
            <a:ext cx="3907536" cy="123145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CH" sz="4400" dirty="0" err="1">
                <a:latin typeface="+mj-lt"/>
              </a:rPr>
              <a:t>Research</a:t>
            </a:r>
            <a:r>
              <a:rPr lang="fr-CH" sz="4400" dirty="0">
                <a:latin typeface="+mj-lt"/>
              </a:rPr>
              <a:t> questions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1B92A7-C4DD-19B5-4CEE-1DEFC7F961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80176" y="866202"/>
            <a:ext cx="5181600" cy="530599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1.</a:t>
            </a:r>
            <a:r>
              <a:rPr lang="fr-CH" sz="3500" dirty="0"/>
              <a:t> </a:t>
            </a:r>
            <a:r>
              <a:rPr lang="fr-CH" sz="3500" dirty="0" err="1"/>
              <a:t>What</a:t>
            </a:r>
            <a:r>
              <a:rPr lang="fr-CH" sz="3500" dirty="0"/>
              <a:t> </a:t>
            </a:r>
            <a:r>
              <a:rPr lang="fr-CH" sz="3500" dirty="0" err="1"/>
              <a:t>share</a:t>
            </a:r>
            <a:r>
              <a:rPr lang="fr-CH" sz="3500" dirty="0"/>
              <a:t> of </a:t>
            </a:r>
            <a:r>
              <a:rPr lang="fr-CH" sz="3500" dirty="0" err="1"/>
              <a:t>daily</a:t>
            </a:r>
            <a:r>
              <a:rPr lang="fr-CH" sz="3500" dirty="0"/>
              <a:t> </a:t>
            </a:r>
            <a:r>
              <a:rPr lang="fr-CH" sz="3500" dirty="0" err="1"/>
              <a:t>activities</a:t>
            </a:r>
            <a:r>
              <a:rPr lang="fr-CH" sz="3500" dirty="0"/>
              <a:t> </a:t>
            </a:r>
            <a:r>
              <a:rPr lang="fr-CH" sz="3500" dirty="0" err="1"/>
              <a:t>occurs</a:t>
            </a:r>
            <a:r>
              <a:rPr lang="fr-CH" sz="3500" dirty="0"/>
              <a:t> </a:t>
            </a:r>
            <a:r>
              <a:rPr lang="fr-CH" sz="3500" dirty="0" err="1"/>
              <a:t>within</a:t>
            </a:r>
            <a:r>
              <a:rPr lang="fr-CH" sz="3500" dirty="0"/>
              <a:t> 15 minutes </a:t>
            </a:r>
            <a:r>
              <a:rPr lang="fr-CH" sz="3500" dirty="0" err="1"/>
              <a:t>from</a:t>
            </a:r>
            <a:r>
              <a:rPr lang="fr-CH" sz="3500" dirty="0"/>
              <a:t> home ? (per </a:t>
            </a:r>
            <a:r>
              <a:rPr lang="fr-CH" sz="3500" dirty="0" err="1"/>
              <a:t>means</a:t>
            </a:r>
            <a:r>
              <a:rPr lang="fr-CH" sz="3500" dirty="0"/>
              <a:t> of transportation)</a:t>
            </a:r>
          </a:p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2.</a:t>
            </a:r>
            <a:r>
              <a:rPr lang="fr-CH" sz="3500" dirty="0"/>
              <a:t> How </a:t>
            </a:r>
            <a:r>
              <a:rPr lang="fr-CH" sz="3500" dirty="0" err="1"/>
              <a:t>does</a:t>
            </a:r>
            <a:r>
              <a:rPr lang="fr-CH" sz="3500" dirty="0"/>
              <a:t> </a:t>
            </a:r>
            <a:r>
              <a:rPr lang="fr-CH" sz="3500" dirty="0" err="1"/>
              <a:t>actual</a:t>
            </a:r>
            <a:r>
              <a:rPr lang="fr-CH" sz="3500" dirty="0"/>
              <a:t> </a:t>
            </a:r>
            <a:r>
              <a:rPr lang="fr-CH" sz="3500" dirty="0" err="1"/>
              <a:t>mobility</a:t>
            </a:r>
            <a:r>
              <a:rPr lang="fr-CH" sz="3500" dirty="0"/>
              <a:t> </a:t>
            </a:r>
            <a:r>
              <a:rPr lang="fr-CH" sz="3500" dirty="0" err="1"/>
              <a:t>differ</a:t>
            </a:r>
            <a:r>
              <a:rPr lang="fr-CH" sz="3500" dirty="0"/>
              <a:t> </a:t>
            </a:r>
            <a:r>
              <a:rPr lang="fr-CH" sz="3500" dirty="0" err="1"/>
              <a:t>from</a:t>
            </a:r>
            <a:r>
              <a:rPr lang="fr-CH" sz="3500" dirty="0"/>
              <a:t> the </a:t>
            </a:r>
            <a:r>
              <a:rPr lang="fr-CH" sz="3500" dirty="0" err="1"/>
              <a:t>theoretical</a:t>
            </a:r>
            <a:r>
              <a:rPr lang="fr-CH" sz="3500" dirty="0"/>
              <a:t> </a:t>
            </a:r>
            <a:r>
              <a:rPr lang="fr-CH" sz="3500" dirty="0" err="1"/>
              <a:t>accessibility</a:t>
            </a:r>
            <a:r>
              <a:rPr lang="fr-CH" sz="3500" dirty="0"/>
              <a:t>? </a:t>
            </a:r>
          </a:p>
          <a:p>
            <a:pPr marL="0" indent="0">
              <a:buNone/>
            </a:pPr>
            <a:r>
              <a:rPr lang="fr-CH" sz="3500" dirty="0">
                <a:solidFill>
                  <a:srgbClr val="98B2CB"/>
                </a:solidFill>
              </a:rPr>
              <a:t>3.</a:t>
            </a:r>
            <a:r>
              <a:rPr lang="fr-CH" sz="3500" dirty="0"/>
              <a:t> </a:t>
            </a:r>
            <a:r>
              <a:rPr lang="fr-CH" sz="3500" dirty="0" err="1"/>
              <a:t>Which</a:t>
            </a:r>
            <a:r>
              <a:rPr lang="fr-CH" sz="3500" dirty="0"/>
              <a:t> types of </a:t>
            </a:r>
            <a:r>
              <a:rPr lang="fr-CH" sz="3500" dirty="0" err="1"/>
              <a:t>activities</a:t>
            </a:r>
            <a:r>
              <a:rPr lang="fr-CH" sz="3500" dirty="0"/>
              <a:t> </a:t>
            </a:r>
            <a:r>
              <a:rPr lang="fr-CH" sz="3500" dirty="0" err="1"/>
              <a:t>most</a:t>
            </a:r>
            <a:r>
              <a:rPr lang="fr-CH" sz="3500" dirty="0"/>
              <a:t> </a:t>
            </a:r>
            <a:r>
              <a:rPr lang="fr-CH" sz="3500" dirty="0" err="1"/>
              <a:t>often</a:t>
            </a:r>
            <a:r>
              <a:rPr lang="fr-CH" sz="3500" dirty="0"/>
              <a:t> </a:t>
            </a:r>
            <a:r>
              <a:rPr lang="fr-CH" sz="3500" dirty="0" err="1"/>
              <a:t>occur</a:t>
            </a:r>
            <a:r>
              <a:rPr lang="fr-CH" sz="3500" dirty="0"/>
              <a:t> </a:t>
            </a:r>
            <a:r>
              <a:rPr lang="fr-CH" sz="3500" dirty="0" err="1"/>
              <a:t>beyond</a:t>
            </a:r>
            <a:r>
              <a:rPr lang="fr-CH" sz="3500" dirty="0"/>
              <a:t> a 15‑minute radius?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745853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109C-6D34-3899-2236-59C7379E8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/>
              <a:t>Research</a:t>
            </a:r>
            <a:r>
              <a:rPr lang="fr-CH" dirty="0"/>
              <a:t> plan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F0AF24CE-C5D3-D1BD-30C2-C0EACACE23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5489638"/>
              </p:ext>
            </p:extLst>
          </p:nvPr>
        </p:nvGraphicFramePr>
        <p:xfrm>
          <a:off x="257299" y="1588119"/>
          <a:ext cx="11487397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Graphic 3" descr="Checkbox Ticked with solid fill">
            <a:extLst>
              <a:ext uri="{FF2B5EF4-FFF2-40B4-BE49-F238E27FC236}">
                <a16:creationId xmlns:a16="http://schemas.microsoft.com/office/drawing/2014/main" id="{38B915E9-9DD5-D0F4-8165-7A9E5BCA02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1588119"/>
            <a:ext cx="493686" cy="493686"/>
          </a:xfrm>
          <a:prstGeom prst="rect">
            <a:avLst/>
          </a:prstGeom>
        </p:spPr>
      </p:pic>
      <p:pic>
        <p:nvPicPr>
          <p:cNvPr id="9" name="Graphic 8" descr="Checkbox Ticked with solid fill">
            <a:extLst>
              <a:ext uri="{FF2B5EF4-FFF2-40B4-BE49-F238E27FC236}">
                <a16:creationId xmlns:a16="http://schemas.microsoft.com/office/drawing/2014/main" id="{BA0593B1-A44A-3CB2-2BC5-9328627EDE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1986852"/>
            <a:ext cx="493686" cy="493686"/>
          </a:xfrm>
          <a:prstGeom prst="rect">
            <a:avLst/>
          </a:prstGeom>
        </p:spPr>
      </p:pic>
      <p:pic>
        <p:nvPicPr>
          <p:cNvPr id="11" name="Graphic 10" descr="Checkbox Ticked with solid fill">
            <a:extLst>
              <a:ext uri="{FF2B5EF4-FFF2-40B4-BE49-F238E27FC236}">
                <a16:creationId xmlns:a16="http://schemas.microsoft.com/office/drawing/2014/main" id="{880A0908-A9F2-47C2-2799-232D227DC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2419996"/>
            <a:ext cx="493686" cy="493686"/>
          </a:xfrm>
          <a:prstGeom prst="rect">
            <a:avLst/>
          </a:prstGeom>
        </p:spPr>
      </p:pic>
      <p:pic>
        <p:nvPicPr>
          <p:cNvPr id="17" name="Graphic 16" descr="Checkbox Ticked with solid fill">
            <a:extLst>
              <a:ext uri="{FF2B5EF4-FFF2-40B4-BE49-F238E27FC236}">
                <a16:creationId xmlns:a16="http://schemas.microsoft.com/office/drawing/2014/main" id="{69F89AA4-1D43-74EB-8B59-6A4C58FA3A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3270102"/>
            <a:ext cx="493686" cy="493686"/>
          </a:xfrm>
          <a:prstGeom prst="rect">
            <a:avLst/>
          </a:prstGeom>
        </p:spPr>
      </p:pic>
      <p:pic>
        <p:nvPicPr>
          <p:cNvPr id="19" name="Graphic 18" descr="Checkbox Ticked with solid fill">
            <a:extLst>
              <a:ext uri="{FF2B5EF4-FFF2-40B4-BE49-F238E27FC236}">
                <a16:creationId xmlns:a16="http://schemas.microsoft.com/office/drawing/2014/main" id="{F102AEA0-0F61-0B4A-CD3B-9C44DBE5AF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4191161"/>
            <a:ext cx="493686" cy="493686"/>
          </a:xfrm>
          <a:prstGeom prst="rect">
            <a:avLst/>
          </a:prstGeom>
        </p:spPr>
      </p:pic>
      <p:pic>
        <p:nvPicPr>
          <p:cNvPr id="20" name="Graphic 19" descr="Checkbox Ticked with solid fill">
            <a:extLst>
              <a:ext uri="{FF2B5EF4-FFF2-40B4-BE49-F238E27FC236}">
                <a16:creationId xmlns:a16="http://schemas.microsoft.com/office/drawing/2014/main" id="{785F3BEE-0B67-EA87-B45C-91FEBEEA38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4589894"/>
            <a:ext cx="493686" cy="493686"/>
          </a:xfrm>
          <a:prstGeom prst="rect">
            <a:avLst/>
          </a:prstGeom>
        </p:spPr>
      </p:pic>
      <p:pic>
        <p:nvPicPr>
          <p:cNvPr id="21" name="Graphic 20" descr="Checkbox Ticked with solid fill">
            <a:extLst>
              <a:ext uri="{FF2B5EF4-FFF2-40B4-BE49-F238E27FC236}">
                <a16:creationId xmlns:a16="http://schemas.microsoft.com/office/drawing/2014/main" id="{71FC3F3B-E77A-C798-ACE3-C9878A1FC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99615" y="5023038"/>
            <a:ext cx="493686" cy="49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447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1728-17B5-5125-78E7-BBA366530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CCFBE5E-470E-8AAF-8F23-FDD7777AA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9" name="Picture 8" descr="The image displays a map overlaying various locations in ZURICH, indicating distances for different modes of transportation (walking, cycling, and public transport) from a central point.&#10;&#10;AI-generated content may be incorrect.">
            <a:extLst>
              <a:ext uri="{FF2B5EF4-FFF2-40B4-BE49-F238E27FC236}">
                <a16:creationId xmlns:a16="http://schemas.microsoft.com/office/drawing/2014/main" id="{2CAB6DAC-E835-6F5C-E5D4-339A9645C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" y="0"/>
            <a:ext cx="117957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194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6B571-64C7-D483-4259-2AA222E5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001" dirty="0"/>
              <a:t>Activity Classification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F66C15-9C7D-B904-24D4-E5E36631297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57229"/>
          <a:ext cx="10515600" cy="408813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21750725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71885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001" b="1">
                          <a:effectLst/>
                          <a:latin typeface=".AppleSystemUIFont"/>
                        </a:rPr>
                        <a:t>category</a:t>
                      </a:r>
                      <a:endParaRPr lang="en-001">
                        <a:effectLst/>
                        <a:latin typeface=".AppleSystemUIFont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001" b="1">
                          <a:effectLst/>
                          <a:latin typeface=".AppleSystemUIFont"/>
                        </a:rPr>
                        <a:t>includes</a:t>
                      </a:r>
                      <a:endParaRPr lang="en-001">
                        <a:effectLst/>
                        <a:latin typeface=".AppleSystemUIFont"/>
                      </a:endParaRP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0596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transport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train stations, tram stops, bus stops, airports 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74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home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residence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203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education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university, school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012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work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workplace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260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shopping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supermarket, stores, post office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2639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leisure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restaurants, bars, cinema, culture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9283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sport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gym, climbing, swimming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8445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nature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hikes, parks, mountains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02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social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friends/family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449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movement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No POS ( reclassify to movement as record type instead of visit)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9538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healthcare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doctor, pharmacy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937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>
                          <a:effectLst/>
                          <a:latin typeface=".AppleSystemUIFont"/>
                        </a:rPr>
                        <a:t>unknown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001" dirty="0">
                          <a:effectLst/>
                          <a:latin typeface=".AppleSystemUIFont"/>
                        </a:rPr>
                        <a:t>unresolved</a:t>
                      </a:r>
                    </a:p>
                  </a:txBody>
                  <a:tcPr marL="47625" marR="47625" marT="9525" marB="9525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304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0974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246B98-9AC8-1731-91BA-EC33F21B2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Preliminary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8A667-72FF-F0DD-A8E9-3680D2ED1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287" y="4121253"/>
            <a:ext cx="3125337" cy="113684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proportion of activities occur within 15 minutes?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8520E5-8B76-0B19-1B10-529E5F63A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7443" y="877008"/>
            <a:ext cx="6726835" cy="4708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93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B53E3-DD75-3FA3-4F10-61511F0AD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281" y="362053"/>
            <a:ext cx="4772374" cy="923331"/>
          </a:xfrm>
        </p:spPr>
        <p:txBody>
          <a:bodyPr>
            <a:normAutofit/>
          </a:bodyPr>
          <a:lstStyle/>
          <a:p>
            <a:r>
              <a:rPr lang="en-001" sz="2800" dirty="0"/>
              <a:t>Accessibility Gap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6849BE-0450-BC5F-269F-A7C9C7FCB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7078" y="362053"/>
            <a:ext cx="8964922" cy="61338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25C2D4-CDB6-BAF2-C575-7E79A09D7F3E}"/>
              </a:ext>
            </a:extLst>
          </p:cNvPr>
          <p:cNvSpPr txBox="1"/>
          <p:nvPr/>
        </p:nvSpPr>
        <p:spPr>
          <a:xfrm>
            <a:off x="350281" y="1285384"/>
            <a:ext cx="28767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800" dirty="0"/>
              <a:t>How </a:t>
            </a:r>
            <a:r>
              <a:rPr lang="fr-CH" sz="1800" dirty="0" err="1"/>
              <a:t>does</a:t>
            </a:r>
            <a:r>
              <a:rPr lang="fr-CH" sz="1800" dirty="0"/>
              <a:t> </a:t>
            </a:r>
            <a:r>
              <a:rPr lang="fr-CH" sz="1800" dirty="0" err="1"/>
              <a:t>actual</a:t>
            </a:r>
            <a:r>
              <a:rPr lang="fr-CH" sz="1800" dirty="0"/>
              <a:t> </a:t>
            </a:r>
            <a:r>
              <a:rPr lang="fr-CH" sz="1800" dirty="0" err="1"/>
              <a:t>mobility</a:t>
            </a:r>
            <a:r>
              <a:rPr lang="fr-CH" sz="1800" dirty="0"/>
              <a:t> </a:t>
            </a:r>
            <a:r>
              <a:rPr lang="fr-CH" sz="1800" dirty="0" err="1"/>
              <a:t>differ</a:t>
            </a:r>
            <a:r>
              <a:rPr lang="fr-CH" sz="1800" dirty="0"/>
              <a:t> </a:t>
            </a:r>
            <a:r>
              <a:rPr lang="fr-CH" sz="1800" dirty="0" err="1"/>
              <a:t>from</a:t>
            </a:r>
            <a:r>
              <a:rPr lang="fr-CH" sz="1800" dirty="0"/>
              <a:t> the </a:t>
            </a:r>
            <a:r>
              <a:rPr lang="fr-CH" sz="1800" dirty="0" err="1"/>
              <a:t>theoretical</a:t>
            </a:r>
            <a:r>
              <a:rPr lang="fr-CH" sz="1800" dirty="0"/>
              <a:t> </a:t>
            </a:r>
            <a:r>
              <a:rPr lang="fr-CH" sz="1800" dirty="0" err="1"/>
              <a:t>accessibility</a:t>
            </a:r>
            <a:r>
              <a:rPr lang="fr-CH" sz="1800" dirty="0"/>
              <a:t>? 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701537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FD0A6-936D-1217-2307-54883D92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4" y="329499"/>
            <a:ext cx="11654641" cy="1325563"/>
          </a:xfrm>
        </p:spPr>
        <p:txBody>
          <a:bodyPr>
            <a:normAutofit/>
          </a:bodyPr>
          <a:lstStyle/>
          <a:p>
            <a:r>
              <a:rPr lang="en-001" sz="3200" dirty="0"/>
              <a:t>Types of activities occurring beyond the 15-minute city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24CC37-D9A8-59DF-A14B-5BF03F1579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81"/>
          <a:stretch>
            <a:fillRect/>
          </a:stretch>
        </p:blipFill>
        <p:spPr>
          <a:xfrm>
            <a:off x="1431183" y="1470991"/>
            <a:ext cx="8726608" cy="5281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54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9C5E-D113-F410-1D52-CFEDFDD68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Challenges and Plan 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EEBF5-C3D9-FA63-1735-E9C2F5C42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CH" dirty="0" err="1">
                <a:solidFill>
                  <a:srgbClr val="98B2CB"/>
                </a:solidFill>
              </a:rPr>
              <a:t>Integration</a:t>
            </a:r>
            <a:r>
              <a:rPr lang="fr-CH" dirty="0">
                <a:solidFill>
                  <a:srgbClr val="98B2CB"/>
                </a:solidFill>
              </a:rPr>
              <a:t> of the ZVV time plan </a:t>
            </a:r>
          </a:p>
          <a:p>
            <a:pPr lvl="1"/>
            <a:r>
              <a:rPr lang="fr-CH" dirty="0"/>
              <a:t>Heavy data set </a:t>
            </a:r>
          </a:p>
          <a:p>
            <a:pPr lvl="1"/>
            <a:r>
              <a:rPr lang="fr-CH" dirty="0"/>
              <a:t>Add </a:t>
            </a:r>
            <a:r>
              <a:rPr lang="fr-CH" dirty="0" err="1"/>
              <a:t>unnecessary</a:t>
            </a:r>
            <a:r>
              <a:rPr lang="fr-CH" dirty="0"/>
              <a:t> </a:t>
            </a:r>
            <a:r>
              <a:rPr lang="fr-CH" dirty="0" err="1"/>
              <a:t>complexity</a:t>
            </a:r>
            <a:endParaRPr lang="fr-CH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fr-CH" dirty="0">
                <a:sym typeface="Wingdings" panose="05000000000000000000" pitchFamily="2" charset="2"/>
              </a:rPr>
              <a:t> Use an estimation of the speed of the public transports (bus and tram) of 15 km/h </a:t>
            </a:r>
          </a:p>
          <a:p>
            <a:pPr marL="0" indent="0">
              <a:buNone/>
            </a:pPr>
            <a:r>
              <a:rPr lang="fr-CH" dirty="0">
                <a:solidFill>
                  <a:srgbClr val="98B2CB"/>
                </a:solidFill>
                <a:sym typeface="Wingdings" panose="05000000000000000000" pitchFamily="2" charset="2"/>
              </a:rPr>
              <a:t>Anonymisation of the data</a:t>
            </a:r>
          </a:p>
          <a:p>
            <a:pPr lvl="1"/>
            <a:r>
              <a:rPr lang="fr-CH" dirty="0">
                <a:sym typeface="Wingdings" panose="05000000000000000000" pitchFamily="2" charset="2"/>
              </a:rPr>
              <a:t>With </a:t>
            </a:r>
            <a:r>
              <a:rPr lang="fr-CH" dirty="0" err="1">
                <a:sym typeface="Wingdings" panose="05000000000000000000" pitchFamily="2" charset="2"/>
              </a:rPr>
              <a:t>only</a:t>
            </a:r>
            <a:r>
              <a:rPr lang="fr-CH" dirty="0">
                <a:sym typeface="Wingdings" panose="05000000000000000000" pitchFamily="2" charset="2"/>
              </a:rPr>
              <a:t> a few </a:t>
            </a:r>
            <a:r>
              <a:rPr lang="fr-CH" dirty="0" err="1">
                <a:sym typeface="Wingdings" panose="05000000000000000000" pitchFamily="2" charset="2"/>
              </a:rPr>
              <a:t>visited</a:t>
            </a:r>
            <a:r>
              <a:rPr lang="fr-CH" dirty="0">
                <a:sym typeface="Wingdings" panose="05000000000000000000" pitchFamily="2" charset="2"/>
              </a:rPr>
              <a:t> points, </a:t>
            </a:r>
            <a:r>
              <a:rPr lang="fr-CH" dirty="0" err="1">
                <a:sym typeface="Wingdings" panose="05000000000000000000" pitchFamily="2" charset="2"/>
              </a:rPr>
              <a:t>it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is</a:t>
            </a:r>
            <a:r>
              <a:rPr lang="fr-CH" dirty="0">
                <a:sym typeface="Wingdings" panose="05000000000000000000" pitchFamily="2" charset="2"/>
              </a:rPr>
              <a:t> possible to </a:t>
            </a:r>
            <a:r>
              <a:rPr lang="fr-CH" dirty="0" err="1">
                <a:sym typeface="Wingdings" panose="05000000000000000000" pitchFamily="2" charset="2"/>
              </a:rPr>
              <a:t>find</a:t>
            </a:r>
            <a:r>
              <a:rPr lang="fr-CH" dirty="0">
                <a:sym typeface="Wingdings" panose="05000000000000000000" pitchFamily="2" charset="2"/>
              </a:rPr>
              <a:t> out </a:t>
            </a:r>
            <a:r>
              <a:rPr lang="fr-CH" dirty="0" err="1">
                <a:sym typeface="Wingdings" panose="05000000000000000000" pitchFamily="2" charset="2"/>
              </a:rPr>
              <a:t>where</a:t>
            </a:r>
            <a:r>
              <a:rPr lang="fr-CH" dirty="0">
                <a:sym typeface="Wingdings" panose="05000000000000000000" pitchFamily="2" charset="2"/>
              </a:rPr>
              <a:t> the </a:t>
            </a:r>
            <a:r>
              <a:rPr lang="fr-CH" dirty="0" err="1">
                <a:sym typeface="Wingdings" panose="05000000000000000000" pitchFamily="2" charset="2"/>
              </a:rPr>
              <a:t>person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lives</a:t>
            </a:r>
            <a:r>
              <a:rPr lang="fr-CH" dirty="0">
                <a:sym typeface="Wingdings" panose="05000000000000000000" pitchFamily="2" charset="2"/>
              </a:rPr>
              <a:t>/</a:t>
            </a:r>
            <a:r>
              <a:rPr lang="fr-CH" dirty="0" err="1">
                <a:sym typeface="Wingdings" panose="05000000000000000000" pitchFamily="2" charset="2"/>
              </a:rPr>
              <a:t>who</a:t>
            </a:r>
            <a:r>
              <a:rPr lang="fr-CH" dirty="0">
                <a:sym typeface="Wingdings" panose="05000000000000000000" pitchFamily="2" charset="2"/>
              </a:rPr>
              <a:t> </a:t>
            </a:r>
            <a:r>
              <a:rPr lang="fr-CH" dirty="0" err="1">
                <a:sym typeface="Wingdings" panose="05000000000000000000" pitchFamily="2" charset="2"/>
              </a:rPr>
              <a:t>they</a:t>
            </a:r>
            <a:r>
              <a:rPr lang="fr-CH" dirty="0">
                <a:sym typeface="Wingdings" panose="05000000000000000000" pitchFamily="2" charset="2"/>
              </a:rPr>
              <a:t> are</a:t>
            </a:r>
          </a:p>
          <a:p>
            <a:pPr marL="0" indent="0">
              <a:buNone/>
            </a:pPr>
            <a:r>
              <a:rPr lang="fr-CH" dirty="0">
                <a:sym typeface="Wingdings" panose="05000000000000000000" pitchFamily="2" charset="2"/>
              </a:rPr>
              <a:t> Change the </a:t>
            </a:r>
            <a:r>
              <a:rPr lang="fr-CH" dirty="0" err="1">
                <a:sym typeface="Wingdings" panose="05000000000000000000" pitchFamily="2" charset="2"/>
              </a:rPr>
              <a:t>adress</a:t>
            </a:r>
            <a:r>
              <a:rPr lang="fr-CH" dirty="0">
                <a:sym typeface="Wingdings" panose="05000000000000000000" pitchFamily="2" charset="2"/>
              </a:rPr>
              <a:t> by a few blocks/</a:t>
            </a:r>
            <a:r>
              <a:rPr lang="fr-CH" dirty="0" err="1">
                <a:sym typeface="Wingdings" panose="05000000000000000000" pitchFamily="2" charset="2"/>
              </a:rPr>
              <a:t>streets</a:t>
            </a:r>
            <a:r>
              <a:rPr lang="fr-CH" dirty="0">
                <a:sym typeface="Wingdings" panose="05000000000000000000" pitchFamily="2" charset="2"/>
              </a:rPr>
              <a:t> (but </a:t>
            </a:r>
            <a:r>
              <a:rPr lang="fr-CH" dirty="0" err="1">
                <a:sym typeface="Wingdings" panose="05000000000000000000" pitchFamily="2" charset="2"/>
              </a:rPr>
              <a:t>still</a:t>
            </a:r>
            <a:r>
              <a:rPr lang="fr-CH" dirty="0">
                <a:sym typeface="Wingdings" panose="05000000000000000000" pitchFamily="2" charset="2"/>
              </a:rPr>
              <a:t> not </a:t>
            </a:r>
            <a:r>
              <a:rPr lang="fr-CH" dirty="0" err="1">
                <a:sym typeface="Wingdings" panose="05000000000000000000" pitchFamily="2" charset="2"/>
              </a:rPr>
              <a:t>ideal</a:t>
            </a:r>
            <a:r>
              <a:rPr lang="fr-CH" dirty="0">
                <a:sym typeface="Wingdings" panose="05000000000000000000" pitchFamily="2" charset="2"/>
              </a:rPr>
              <a:t>) </a:t>
            </a:r>
          </a:p>
          <a:p>
            <a:pPr marL="0" indent="0">
              <a:buNone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57305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25CAFF8-284D-397B-D783-884EB45FFFFB}"/>
              </a:ext>
            </a:extLst>
          </p:cNvPr>
          <p:cNvSpPr/>
          <p:nvPr/>
        </p:nvSpPr>
        <p:spPr>
          <a:xfrm>
            <a:off x="-798286" y="5544457"/>
            <a:ext cx="14427200" cy="812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1DDAAE-2B35-42E0-7B02-6460B37FC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21480" cy="1325563"/>
          </a:xfrm>
        </p:spPr>
        <p:txBody>
          <a:bodyPr/>
          <a:lstStyle/>
          <a:p>
            <a:r>
              <a:rPr lang="fr-CH" dirty="0" err="1"/>
              <a:t>Context</a:t>
            </a:r>
            <a:r>
              <a:rPr lang="fr-CH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8EEBF-806F-63F6-BEF0-7ECC5BC92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86" y="3841749"/>
            <a:ext cx="3040743" cy="1325563"/>
          </a:xfrm>
        </p:spPr>
        <p:txBody>
          <a:bodyPr>
            <a:normAutofit/>
          </a:bodyPr>
          <a:lstStyle/>
          <a:p>
            <a:r>
              <a:rPr lang="en-001" sz="2200" dirty="0"/>
              <a:t>urban planning</a:t>
            </a:r>
          </a:p>
          <a:p>
            <a:r>
              <a:rPr lang="en-001" sz="2200" dirty="0"/>
              <a:t>mobility analysis </a:t>
            </a:r>
          </a:p>
          <a:p>
            <a:r>
              <a:rPr lang="en-001" sz="2200" dirty="0"/>
              <a:t>accessibility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17A50C-4B6B-BB7A-B7F8-811966543622}"/>
              </a:ext>
            </a:extLst>
          </p:cNvPr>
          <p:cNvSpPr txBox="1">
            <a:spLocks/>
          </p:cNvSpPr>
          <p:nvPr/>
        </p:nvSpPr>
        <p:spPr>
          <a:xfrm>
            <a:off x="3617686" y="3841749"/>
            <a:ext cx="3305629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001" dirty="0"/>
              <a:t>Activity Space</a:t>
            </a:r>
          </a:p>
          <a:p>
            <a:r>
              <a:rPr lang="en-001" dirty="0"/>
              <a:t>Space - Time Prism </a:t>
            </a:r>
          </a:p>
          <a:p>
            <a:endParaRPr lang="fr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304064-5C43-872E-EC72-D291FDAAB208}"/>
              </a:ext>
            </a:extLst>
          </p:cNvPr>
          <p:cNvSpPr txBox="1">
            <a:spLocks/>
          </p:cNvSpPr>
          <p:nvPr/>
        </p:nvSpPr>
        <p:spPr>
          <a:xfrm>
            <a:off x="620486" y="1574936"/>
            <a:ext cx="7333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What is a 15-minute city ?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528F5E-CAB4-ACCF-A3C1-CA0902706B8C}"/>
              </a:ext>
            </a:extLst>
          </p:cNvPr>
          <p:cNvSpPr txBox="1"/>
          <p:nvPr/>
        </p:nvSpPr>
        <p:spPr>
          <a:xfrm>
            <a:off x="602343" y="5663095"/>
            <a:ext cx="110562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001" sz="1600" dirty="0"/>
              <a:t>Moreno, C., Allam, Z., Chabaud, D., Gall, C., &amp; Pratlong, F. (2021). Introducing the “15-Minute City”: Sustainability, resilience and place identity in future post-pandemic cities. </a:t>
            </a:r>
            <a:r>
              <a:rPr lang="en-001" sz="1600" i="1" dirty="0"/>
              <a:t>Smart Cities, 4</a:t>
            </a:r>
            <a:r>
              <a:rPr lang="en-001" sz="1600" dirty="0"/>
              <a:t>(1), 93–111. </a:t>
            </a:r>
            <a:r>
              <a:rPr lang="en-001" sz="1600" dirty="0">
                <a:hlinkClick r:id="rId3"/>
              </a:rPr>
              <a:t>https://doi.org/10.3390/smartcities4010006</a:t>
            </a:r>
            <a:endParaRPr lang="en-001" sz="16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15FE583-7C3C-9CF1-0E8F-21011874179B}"/>
              </a:ext>
            </a:extLst>
          </p:cNvPr>
          <p:cNvSpPr txBox="1">
            <a:spLocks/>
          </p:cNvSpPr>
          <p:nvPr/>
        </p:nvSpPr>
        <p:spPr>
          <a:xfrm>
            <a:off x="620486" y="2069681"/>
            <a:ext cx="10969171" cy="11513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sz="2200" dirty="0"/>
              <a:t>A city where residents can meet most of their everyday needs within a 15-minute walk or bike ride from their home, reducing dependence on cars and improving urban sustainability and quality of life.</a:t>
            </a:r>
            <a:r>
              <a:rPr lang="fr-CH" sz="2200" dirty="0"/>
              <a:t> 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CA93583-4939-AC40-A60F-37B5F7DB288E}"/>
              </a:ext>
            </a:extLst>
          </p:cNvPr>
          <p:cNvSpPr txBox="1">
            <a:spLocks/>
          </p:cNvSpPr>
          <p:nvPr/>
        </p:nvSpPr>
        <p:spPr>
          <a:xfrm>
            <a:off x="602343" y="3187654"/>
            <a:ext cx="3015343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Application Area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644C598-C82E-CEBD-C9E8-A04B079A8484}"/>
              </a:ext>
            </a:extLst>
          </p:cNvPr>
          <p:cNvSpPr txBox="1">
            <a:spLocks/>
          </p:cNvSpPr>
          <p:nvPr/>
        </p:nvSpPr>
        <p:spPr>
          <a:xfrm>
            <a:off x="3661229" y="3195883"/>
            <a:ext cx="3305628" cy="5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Conceptual Model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92AF249F-0D57-F629-B590-655159CD6D7F}"/>
              </a:ext>
            </a:extLst>
          </p:cNvPr>
          <p:cNvSpPr txBox="1">
            <a:spLocks/>
          </p:cNvSpPr>
          <p:nvPr/>
        </p:nvSpPr>
        <p:spPr>
          <a:xfrm>
            <a:off x="6966857" y="3191230"/>
            <a:ext cx="5083953" cy="5876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001" dirty="0"/>
              <a:t>Data Structure and Availability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5319FEE-07F5-C94C-6D34-66DCEFBAC18C}"/>
              </a:ext>
            </a:extLst>
          </p:cNvPr>
          <p:cNvSpPr txBox="1">
            <a:spLocks/>
          </p:cNvSpPr>
          <p:nvPr/>
        </p:nvSpPr>
        <p:spPr>
          <a:xfrm>
            <a:off x="6966857" y="3841748"/>
            <a:ext cx="4622800" cy="13255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001" dirty="0"/>
              <a:t>Individual Mobility Data</a:t>
            </a:r>
          </a:p>
          <a:p>
            <a:pPr lvl="1"/>
            <a:r>
              <a:rPr lang="en-US" sz="2200" dirty="0"/>
              <a:t>G</a:t>
            </a:r>
            <a:r>
              <a:rPr lang="en-001" sz="2200" dirty="0"/>
              <a:t>oogle timeline</a:t>
            </a:r>
          </a:p>
          <a:p>
            <a:r>
              <a:rPr lang="en-001" dirty="0"/>
              <a:t>Urban context Data</a:t>
            </a:r>
          </a:p>
          <a:p>
            <a:pPr lvl="1"/>
            <a:r>
              <a:rPr lang="en-001" sz="2200" dirty="0"/>
              <a:t>OpenStreetMap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47BF9C-7A29-B9BC-5A4E-64513C37ED3E}"/>
              </a:ext>
            </a:extLst>
          </p:cNvPr>
          <p:cNvSpPr txBox="1"/>
          <p:nvPr/>
        </p:nvSpPr>
        <p:spPr>
          <a:xfrm>
            <a:off x="5730982" y="1759118"/>
            <a:ext cx="3179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001" dirty="0"/>
              <a:t>🏠 🛒🎓 💼🌳 🍽️ 🚉  🏥</a:t>
            </a:r>
          </a:p>
        </p:txBody>
      </p:sp>
    </p:spTree>
    <p:extLst>
      <p:ext uri="{BB962C8B-B14F-4D97-AF65-F5344CB8AC3E}">
        <p14:creationId xmlns:p14="http://schemas.microsoft.com/office/powerpoint/2010/main" val="22968123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7718681-A12E-49D6-9925-DD7C68176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D77573-9EF2-4C35-8285-A1CF6FBB0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5511704" cy="6858000"/>
          </a:xfrm>
          <a:custGeom>
            <a:avLst/>
            <a:gdLst>
              <a:gd name="connsiteX0" fmla="*/ 5511704 w 5511704"/>
              <a:gd name="connsiteY0" fmla="*/ 0 h 6886576"/>
              <a:gd name="connsiteX1" fmla="*/ 1008599 w 5511704"/>
              <a:gd name="connsiteY1" fmla="*/ 0 h 6886576"/>
              <a:gd name="connsiteX2" fmla="*/ 1310975 w 5511704"/>
              <a:gd name="connsiteY2" fmla="*/ 110728 h 6886576"/>
              <a:gd name="connsiteX3" fmla="*/ 1267362 w 5511704"/>
              <a:gd name="connsiteY3" fmla="*/ 135731 h 6886576"/>
              <a:gd name="connsiteX4" fmla="*/ 1005692 w 5511704"/>
              <a:gd name="connsiteY4" fmla="*/ 71437 h 6886576"/>
              <a:gd name="connsiteX5" fmla="*/ 953358 w 5511704"/>
              <a:gd name="connsiteY5" fmla="*/ 89297 h 6886576"/>
              <a:gd name="connsiteX6" fmla="*/ 979525 w 5511704"/>
              <a:gd name="connsiteY6" fmla="*/ 164307 h 6886576"/>
              <a:gd name="connsiteX7" fmla="*/ 1092915 w 5511704"/>
              <a:gd name="connsiteY7" fmla="*/ 192882 h 6886576"/>
              <a:gd name="connsiteX8" fmla="*/ 1270270 w 5511704"/>
              <a:gd name="connsiteY8" fmla="*/ 375047 h 6886576"/>
              <a:gd name="connsiteX9" fmla="*/ 1002784 w 5511704"/>
              <a:gd name="connsiteY9" fmla="*/ 353615 h 6886576"/>
              <a:gd name="connsiteX10" fmla="*/ 956265 w 5511704"/>
              <a:gd name="connsiteY10" fmla="*/ 396479 h 6886576"/>
              <a:gd name="connsiteX11" fmla="*/ 938820 w 5511704"/>
              <a:gd name="connsiteY11" fmla="*/ 453629 h 6886576"/>
              <a:gd name="connsiteX12" fmla="*/ 860319 w 5511704"/>
              <a:gd name="connsiteY12" fmla="*/ 360759 h 6886576"/>
              <a:gd name="connsiteX13" fmla="*/ 793447 w 5511704"/>
              <a:gd name="connsiteY13" fmla="*/ 335757 h 6886576"/>
              <a:gd name="connsiteX14" fmla="*/ 773095 w 5511704"/>
              <a:gd name="connsiteY14" fmla="*/ 417910 h 6886576"/>
              <a:gd name="connsiteX15" fmla="*/ 834151 w 5511704"/>
              <a:gd name="connsiteY15" fmla="*/ 507206 h 6886576"/>
              <a:gd name="connsiteX16" fmla="*/ 996969 w 5511704"/>
              <a:gd name="connsiteY16" fmla="*/ 560785 h 6886576"/>
              <a:gd name="connsiteX17" fmla="*/ 822522 w 5511704"/>
              <a:gd name="connsiteY17" fmla="*/ 560785 h 6886576"/>
              <a:gd name="connsiteX18" fmla="*/ 621908 w 5511704"/>
              <a:gd name="connsiteY18" fmla="*/ 525066 h 6886576"/>
              <a:gd name="connsiteX19" fmla="*/ 409664 w 5511704"/>
              <a:gd name="connsiteY19" fmla="*/ 535781 h 6886576"/>
              <a:gd name="connsiteX20" fmla="*/ 209049 w 5511704"/>
              <a:gd name="connsiteY20" fmla="*/ 464344 h 6886576"/>
              <a:gd name="connsiteX21" fmla="*/ 5527 w 5511704"/>
              <a:gd name="connsiteY21" fmla="*/ 467916 h 6886576"/>
              <a:gd name="connsiteX22" fmla="*/ 906838 w 5511704"/>
              <a:gd name="connsiteY22" fmla="*/ 914400 h 6886576"/>
              <a:gd name="connsiteX23" fmla="*/ 863226 w 5511704"/>
              <a:gd name="connsiteY23" fmla="*/ 925116 h 6886576"/>
              <a:gd name="connsiteX24" fmla="*/ 805077 w 5511704"/>
              <a:gd name="connsiteY24" fmla="*/ 953691 h 6886576"/>
              <a:gd name="connsiteX25" fmla="*/ 848689 w 5511704"/>
              <a:gd name="connsiteY25" fmla="*/ 1010841 h 6886576"/>
              <a:gd name="connsiteX26" fmla="*/ 1084193 w 5511704"/>
              <a:gd name="connsiteY26" fmla="*/ 1117997 h 6886576"/>
              <a:gd name="connsiteX27" fmla="*/ 1142342 w 5511704"/>
              <a:gd name="connsiteY27" fmla="*/ 1225153 h 6886576"/>
              <a:gd name="connsiteX28" fmla="*/ 1069655 w 5511704"/>
              <a:gd name="connsiteY28" fmla="*/ 1214438 h 6886576"/>
              <a:gd name="connsiteX29" fmla="*/ 1005692 w 5511704"/>
              <a:gd name="connsiteY29" fmla="*/ 1235869 h 6886576"/>
              <a:gd name="connsiteX30" fmla="*/ 1031858 w 5511704"/>
              <a:gd name="connsiteY30" fmla="*/ 1371600 h 6886576"/>
              <a:gd name="connsiteX31" fmla="*/ 1366216 w 5511704"/>
              <a:gd name="connsiteY31" fmla="*/ 1546622 h 6886576"/>
              <a:gd name="connsiteX32" fmla="*/ 1395290 w 5511704"/>
              <a:gd name="connsiteY32" fmla="*/ 1603772 h 6886576"/>
              <a:gd name="connsiteX33" fmla="*/ 1354586 w 5511704"/>
              <a:gd name="connsiteY33" fmla="*/ 1643063 h 6886576"/>
              <a:gd name="connsiteX34" fmla="*/ 1247011 w 5511704"/>
              <a:gd name="connsiteY34" fmla="*/ 1664494 h 6886576"/>
              <a:gd name="connsiteX35" fmla="*/ 1398198 w 5511704"/>
              <a:gd name="connsiteY35" fmla="*/ 1857375 h 6886576"/>
              <a:gd name="connsiteX36" fmla="*/ 1453440 w 5511704"/>
              <a:gd name="connsiteY36" fmla="*/ 1910954 h 6886576"/>
              <a:gd name="connsiteX37" fmla="*/ 1549386 w 5511704"/>
              <a:gd name="connsiteY37" fmla="*/ 1993106 h 6886576"/>
              <a:gd name="connsiteX38" fmla="*/ 1549386 w 5511704"/>
              <a:gd name="connsiteY38" fmla="*/ 2021681 h 6886576"/>
              <a:gd name="connsiteX39" fmla="*/ 1421458 w 5511704"/>
              <a:gd name="connsiteY39" fmla="*/ 2110978 h 6886576"/>
              <a:gd name="connsiteX40" fmla="*/ 1188861 w 5511704"/>
              <a:gd name="connsiteY40" fmla="*/ 2085976 h 6886576"/>
              <a:gd name="connsiteX41" fmla="*/ 1531941 w 5511704"/>
              <a:gd name="connsiteY41" fmla="*/ 2218135 h 6886576"/>
              <a:gd name="connsiteX42" fmla="*/ 421293 w 5511704"/>
              <a:gd name="connsiteY42" fmla="*/ 1900238 h 6886576"/>
              <a:gd name="connsiteX43" fmla="*/ 491072 w 5511704"/>
              <a:gd name="connsiteY43" fmla="*/ 1982391 h 6886576"/>
              <a:gd name="connsiteX44" fmla="*/ 880671 w 5511704"/>
              <a:gd name="connsiteY44" fmla="*/ 2200276 h 6886576"/>
              <a:gd name="connsiteX45" fmla="*/ 991154 w 5511704"/>
              <a:gd name="connsiteY45" fmla="*/ 2336007 h 6886576"/>
              <a:gd name="connsiteX46" fmla="*/ 1107453 w 5511704"/>
              <a:gd name="connsiteY46" fmla="*/ 2411016 h 6886576"/>
              <a:gd name="connsiteX47" fmla="*/ 1270270 w 5511704"/>
              <a:gd name="connsiteY47" fmla="*/ 2411016 h 6886576"/>
              <a:gd name="connsiteX48" fmla="*/ 1386568 w 5511704"/>
              <a:gd name="connsiteY48" fmla="*/ 2528889 h 6886576"/>
              <a:gd name="connsiteX49" fmla="*/ 1267362 w 5511704"/>
              <a:gd name="connsiteY49" fmla="*/ 2553891 h 6886576"/>
              <a:gd name="connsiteX50" fmla="*/ 1127805 w 5511704"/>
              <a:gd name="connsiteY50" fmla="*/ 2536032 h 6886576"/>
              <a:gd name="connsiteX51" fmla="*/ 970802 w 5511704"/>
              <a:gd name="connsiteY51" fmla="*/ 2575322 h 6886576"/>
              <a:gd name="connsiteX52" fmla="*/ 825429 w 5511704"/>
              <a:gd name="connsiteY52" fmla="*/ 2543176 h 6886576"/>
              <a:gd name="connsiteX53" fmla="*/ 650982 w 5511704"/>
              <a:gd name="connsiteY53" fmla="*/ 2564607 h 6886576"/>
              <a:gd name="connsiteX54" fmla="*/ 595740 w 5511704"/>
              <a:gd name="connsiteY54" fmla="*/ 2703909 h 6886576"/>
              <a:gd name="connsiteX55" fmla="*/ 578296 w 5511704"/>
              <a:gd name="connsiteY55" fmla="*/ 2714626 h 6886576"/>
              <a:gd name="connsiteX56" fmla="*/ 255568 w 5511704"/>
              <a:gd name="connsiteY56" fmla="*/ 2936081 h 6886576"/>
              <a:gd name="connsiteX57" fmla="*/ 165437 w 5511704"/>
              <a:gd name="connsiteY57" fmla="*/ 2953941 h 6886576"/>
              <a:gd name="connsiteX58" fmla="*/ 697501 w 5511704"/>
              <a:gd name="connsiteY58" fmla="*/ 3343275 h 6886576"/>
              <a:gd name="connsiteX59" fmla="*/ 339884 w 5511704"/>
              <a:gd name="connsiteY59" fmla="*/ 3243263 h 6886576"/>
              <a:gd name="connsiteX60" fmla="*/ 290458 w 5511704"/>
              <a:gd name="connsiteY60" fmla="*/ 3407569 h 6886576"/>
              <a:gd name="connsiteX61" fmla="*/ 459090 w 5511704"/>
              <a:gd name="connsiteY61" fmla="*/ 3554016 h 6886576"/>
              <a:gd name="connsiteX62" fmla="*/ 520147 w 5511704"/>
              <a:gd name="connsiteY62" fmla="*/ 3843338 h 6886576"/>
              <a:gd name="connsiteX63" fmla="*/ 491072 w 5511704"/>
              <a:gd name="connsiteY63" fmla="*/ 4107657 h 6886576"/>
              <a:gd name="connsiteX64" fmla="*/ 418386 w 5511704"/>
              <a:gd name="connsiteY64" fmla="*/ 4189810 h 6886576"/>
              <a:gd name="connsiteX65" fmla="*/ 313718 w 5511704"/>
              <a:gd name="connsiteY65" fmla="*/ 4339829 h 6886576"/>
              <a:gd name="connsiteX66" fmla="*/ 249753 w 5511704"/>
              <a:gd name="connsiteY66" fmla="*/ 4432698 h 6886576"/>
              <a:gd name="connsiteX67" fmla="*/ 25879 w 5511704"/>
              <a:gd name="connsiteY67" fmla="*/ 4396979 h 6886576"/>
              <a:gd name="connsiteX68" fmla="*/ 325347 w 5511704"/>
              <a:gd name="connsiteY68" fmla="*/ 4632722 h 6886576"/>
              <a:gd name="connsiteX69" fmla="*/ 84029 w 5511704"/>
              <a:gd name="connsiteY69" fmla="*/ 4604147 h 6886576"/>
              <a:gd name="connsiteX70" fmla="*/ 5527 w 5511704"/>
              <a:gd name="connsiteY70" fmla="*/ 4622007 h 6886576"/>
              <a:gd name="connsiteX71" fmla="*/ 49139 w 5511704"/>
              <a:gd name="connsiteY71" fmla="*/ 4697016 h 6886576"/>
              <a:gd name="connsiteX72" fmla="*/ 226494 w 5511704"/>
              <a:gd name="connsiteY72" fmla="*/ 4825604 h 6886576"/>
              <a:gd name="connsiteX73" fmla="*/ 592833 w 5511704"/>
              <a:gd name="connsiteY73" fmla="*/ 5175647 h 6886576"/>
              <a:gd name="connsiteX74" fmla="*/ 238123 w 5511704"/>
              <a:gd name="connsiteY74" fmla="*/ 5014913 h 6886576"/>
              <a:gd name="connsiteX75" fmla="*/ 610278 w 5511704"/>
              <a:gd name="connsiteY75" fmla="*/ 5375673 h 6886576"/>
              <a:gd name="connsiteX76" fmla="*/ 691686 w 5511704"/>
              <a:gd name="connsiteY76" fmla="*/ 5497116 h 6886576"/>
              <a:gd name="connsiteX77" fmla="*/ 860319 w 5511704"/>
              <a:gd name="connsiteY77" fmla="*/ 5793582 h 6886576"/>
              <a:gd name="connsiteX78" fmla="*/ 851597 w 5511704"/>
              <a:gd name="connsiteY78" fmla="*/ 5825729 h 6886576"/>
              <a:gd name="connsiteX79" fmla="*/ 659704 w 5511704"/>
              <a:gd name="connsiteY79" fmla="*/ 5779295 h 6886576"/>
              <a:gd name="connsiteX80" fmla="*/ 909746 w 5511704"/>
              <a:gd name="connsiteY80" fmla="*/ 6029326 h 6886576"/>
              <a:gd name="connsiteX81" fmla="*/ 1168509 w 5511704"/>
              <a:gd name="connsiteY81" fmla="*/ 6222207 h 6886576"/>
              <a:gd name="connsiteX82" fmla="*/ 985339 w 5511704"/>
              <a:gd name="connsiteY82" fmla="*/ 6193632 h 6886576"/>
              <a:gd name="connsiteX83" fmla="*/ 732391 w 5511704"/>
              <a:gd name="connsiteY83" fmla="*/ 6082904 h 6886576"/>
              <a:gd name="connsiteX84" fmla="*/ 645167 w 5511704"/>
              <a:gd name="connsiteY84" fmla="*/ 6125766 h 6886576"/>
              <a:gd name="connsiteX85" fmla="*/ 883579 w 5511704"/>
              <a:gd name="connsiteY85" fmla="*/ 6307932 h 6886576"/>
              <a:gd name="connsiteX86" fmla="*/ 1020229 w 5511704"/>
              <a:gd name="connsiteY86" fmla="*/ 6393657 h 6886576"/>
              <a:gd name="connsiteX87" fmla="*/ 1075471 w 5511704"/>
              <a:gd name="connsiteY87" fmla="*/ 6457950 h 6886576"/>
              <a:gd name="connsiteX88" fmla="*/ 1232473 w 5511704"/>
              <a:gd name="connsiteY88" fmla="*/ 6686551 h 6886576"/>
              <a:gd name="connsiteX89" fmla="*/ 1592997 w 5511704"/>
              <a:gd name="connsiteY89" fmla="*/ 6886576 h 6886576"/>
              <a:gd name="connsiteX90" fmla="*/ 5511704 w 5511704"/>
              <a:gd name="connsiteY90" fmla="*/ 6886576 h 688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5511704" h="6886576">
                <a:moveTo>
                  <a:pt x="5511704" y="0"/>
                </a:moveTo>
                <a:lnTo>
                  <a:pt x="1008599" y="0"/>
                </a:lnTo>
                <a:cubicBezTo>
                  <a:pt x="1110360" y="35719"/>
                  <a:pt x="1209214" y="78581"/>
                  <a:pt x="1310975" y="110728"/>
                </a:cubicBezTo>
                <a:cubicBezTo>
                  <a:pt x="1296437" y="146447"/>
                  <a:pt x="1281900" y="139303"/>
                  <a:pt x="1267362" y="135731"/>
                </a:cubicBezTo>
                <a:cubicBezTo>
                  <a:pt x="1180139" y="121445"/>
                  <a:pt x="1090008" y="110728"/>
                  <a:pt x="1005692" y="71437"/>
                </a:cubicBezTo>
                <a:cubicBezTo>
                  <a:pt x="985339" y="64294"/>
                  <a:pt x="962080" y="64294"/>
                  <a:pt x="953358" y="89297"/>
                </a:cubicBezTo>
                <a:cubicBezTo>
                  <a:pt x="938820" y="125016"/>
                  <a:pt x="959172" y="146447"/>
                  <a:pt x="979525" y="164307"/>
                </a:cubicBezTo>
                <a:cubicBezTo>
                  <a:pt x="1014414" y="196453"/>
                  <a:pt x="1055118" y="189310"/>
                  <a:pt x="1092915" y="192882"/>
                </a:cubicBezTo>
                <a:cubicBezTo>
                  <a:pt x="1197583" y="210741"/>
                  <a:pt x="1247011" y="260747"/>
                  <a:pt x="1270270" y="375047"/>
                </a:cubicBezTo>
                <a:cubicBezTo>
                  <a:pt x="1180139" y="328613"/>
                  <a:pt x="1090008" y="385763"/>
                  <a:pt x="1002784" y="353615"/>
                </a:cubicBezTo>
                <a:cubicBezTo>
                  <a:pt x="979525" y="346472"/>
                  <a:pt x="944635" y="357188"/>
                  <a:pt x="956265" y="396479"/>
                </a:cubicBezTo>
                <a:cubicBezTo>
                  <a:pt x="967894" y="432198"/>
                  <a:pt x="1005692" y="460772"/>
                  <a:pt x="938820" y="453629"/>
                </a:cubicBezTo>
                <a:cubicBezTo>
                  <a:pt x="889393" y="450056"/>
                  <a:pt x="874856" y="407194"/>
                  <a:pt x="860319" y="360759"/>
                </a:cubicBezTo>
                <a:cubicBezTo>
                  <a:pt x="848689" y="335757"/>
                  <a:pt x="816707" y="321469"/>
                  <a:pt x="793447" y="335757"/>
                </a:cubicBezTo>
                <a:cubicBezTo>
                  <a:pt x="764373" y="350044"/>
                  <a:pt x="773095" y="389335"/>
                  <a:pt x="773095" y="417910"/>
                </a:cubicBezTo>
                <a:cubicBezTo>
                  <a:pt x="770187" y="471488"/>
                  <a:pt x="793447" y="496491"/>
                  <a:pt x="834151" y="507206"/>
                </a:cubicBezTo>
                <a:cubicBezTo>
                  <a:pt x="883579" y="521494"/>
                  <a:pt x="933005" y="539354"/>
                  <a:pt x="996969" y="560785"/>
                </a:cubicBezTo>
                <a:cubicBezTo>
                  <a:pt x="927190" y="596503"/>
                  <a:pt x="874856" y="589360"/>
                  <a:pt x="822522" y="560785"/>
                </a:cubicBezTo>
                <a:cubicBezTo>
                  <a:pt x="758558" y="528637"/>
                  <a:pt x="674242" y="485775"/>
                  <a:pt x="621908" y="525066"/>
                </a:cubicBezTo>
                <a:cubicBezTo>
                  <a:pt x="543407" y="582216"/>
                  <a:pt x="479443" y="546497"/>
                  <a:pt x="409664" y="535781"/>
                </a:cubicBezTo>
                <a:cubicBezTo>
                  <a:pt x="264290" y="514350"/>
                  <a:pt x="354422" y="482204"/>
                  <a:pt x="209049" y="464344"/>
                </a:cubicBezTo>
                <a:cubicBezTo>
                  <a:pt x="150900" y="457200"/>
                  <a:pt x="89843" y="428625"/>
                  <a:pt x="5527" y="467916"/>
                </a:cubicBezTo>
                <a:cubicBezTo>
                  <a:pt x="386404" y="675085"/>
                  <a:pt x="566666" y="660797"/>
                  <a:pt x="906838" y="914400"/>
                </a:cubicBezTo>
                <a:cubicBezTo>
                  <a:pt x="892301" y="939404"/>
                  <a:pt x="877764" y="928688"/>
                  <a:pt x="863226" y="925116"/>
                </a:cubicBezTo>
                <a:cubicBezTo>
                  <a:pt x="839967" y="921544"/>
                  <a:pt x="810892" y="907256"/>
                  <a:pt x="805077" y="953691"/>
                </a:cubicBezTo>
                <a:cubicBezTo>
                  <a:pt x="802169" y="989410"/>
                  <a:pt x="819615" y="1007269"/>
                  <a:pt x="848689" y="1010841"/>
                </a:cubicBezTo>
                <a:cubicBezTo>
                  <a:pt x="933005" y="1025129"/>
                  <a:pt x="1008599" y="1075135"/>
                  <a:pt x="1084193" y="1117997"/>
                </a:cubicBezTo>
                <a:cubicBezTo>
                  <a:pt x="1119082" y="1135857"/>
                  <a:pt x="1156879" y="1160860"/>
                  <a:pt x="1142342" y="1225153"/>
                </a:cubicBezTo>
                <a:cubicBezTo>
                  <a:pt x="1113268" y="1243013"/>
                  <a:pt x="1092915" y="1218009"/>
                  <a:pt x="1069655" y="1214438"/>
                </a:cubicBezTo>
                <a:cubicBezTo>
                  <a:pt x="1046396" y="1210866"/>
                  <a:pt x="991154" y="1225153"/>
                  <a:pt x="1005692" y="1235869"/>
                </a:cubicBezTo>
                <a:cubicBezTo>
                  <a:pt x="1072563" y="1275159"/>
                  <a:pt x="950450" y="1371600"/>
                  <a:pt x="1031858" y="1371600"/>
                </a:cubicBezTo>
                <a:cubicBezTo>
                  <a:pt x="1165601" y="1371600"/>
                  <a:pt x="1238288" y="1543050"/>
                  <a:pt x="1366216" y="1546622"/>
                </a:cubicBezTo>
                <a:cubicBezTo>
                  <a:pt x="1386568" y="1546622"/>
                  <a:pt x="1395290" y="1578770"/>
                  <a:pt x="1395290" y="1603772"/>
                </a:cubicBezTo>
                <a:cubicBezTo>
                  <a:pt x="1395290" y="1635920"/>
                  <a:pt x="1374939" y="1639491"/>
                  <a:pt x="1354586" y="1643063"/>
                </a:cubicBezTo>
                <a:cubicBezTo>
                  <a:pt x="1322604" y="1646635"/>
                  <a:pt x="1287715" y="1603772"/>
                  <a:pt x="1247011" y="1664494"/>
                </a:cubicBezTo>
                <a:cubicBezTo>
                  <a:pt x="1322604" y="1700213"/>
                  <a:pt x="1401105" y="1735932"/>
                  <a:pt x="1398198" y="1857375"/>
                </a:cubicBezTo>
                <a:cubicBezTo>
                  <a:pt x="1398198" y="1889523"/>
                  <a:pt x="1430180" y="1903810"/>
                  <a:pt x="1453440" y="1910954"/>
                </a:cubicBezTo>
                <a:cubicBezTo>
                  <a:pt x="1494144" y="1925241"/>
                  <a:pt x="1526126" y="1946673"/>
                  <a:pt x="1549386" y="1993106"/>
                </a:cubicBezTo>
                <a:cubicBezTo>
                  <a:pt x="1549386" y="2003822"/>
                  <a:pt x="1549386" y="2010966"/>
                  <a:pt x="1549386" y="2021681"/>
                </a:cubicBezTo>
                <a:cubicBezTo>
                  <a:pt x="1543571" y="2132410"/>
                  <a:pt x="1485422" y="2128838"/>
                  <a:pt x="1421458" y="2110978"/>
                </a:cubicBezTo>
                <a:cubicBezTo>
                  <a:pt x="1345864" y="2089547"/>
                  <a:pt x="1270270" y="2046685"/>
                  <a:pt x="1188861" y="2085976"/>
                </a:cubicBezTo>
                <a:cubicBezTo>
                  <a:pt x="1302252" y="2139554"/>
                  <a:pt x="1427272" y="2143126"/>
                  <a:pt x="1531941" y="2218135"/>
                </a:cubicBezTo>
                <a:cubicBezTo>
                  <a:pt x="1142342" y="2232422"/>
                  <a:pt x="799262" y="1993106"/>
                  <a:pt x="421293" y="1900238"/>
                </a:cubicBezTo>
                <a:cubicBezTo>
                  <a:pt x="432923" y="1960960"/>
                  <a:pt x="464905" y="1975247"/>
                  <a:pt x="491072" y="1982391"/>
                </a:cubicBezTo>
                <a:cubicBezTo>
                  <a:pt x="630630" y="2028825"/>
                  <a:pt x="752743" y="2121695"/>
                  <a:pt x="880671" y="2200276"/>
                </a:cubicBezTo>
                <a:cubicBezTo>
                  <a:pt x="933005" y="2232422"/>
                  <a:pt x="970802" y="2268142"/>
                  <a:pt x="991154" y="2336007"/>
                </a:cubicBezTo>
                <a:cubicBezTo>
                  <a:pt x="1008599" y="2400300"/>
                  <a:pt x="1043489" y="2428875"/>
                  <a:pt x="1107453" y="2411016"/>
                </a:cubicBezTo>
                <a:cubicBezTo>
                  <a:pt x="1159787" y="2396729"/>
                  <a:pt x="1215029" y="2403873"/>
                  <a:pt x="1270270" y="2411016"/>
                </a:cubicBezTo>
                <a:cubicBezTo>
                  <a:pt x="1331326" y="2418160"/>
                  <a:pt x="1401105" y="2489597"/>
                  <a:pt x="1386568" y="2528889"/>
                </a:cubicBezTo>
                <a:cubicBezTo>
                  <a:pt x="1357494" y="2593182"/>
                  <a:pt x="1308067" y="2561035"/>
                  <a:pt x="1267362" y="2553891"/>
                </a:cubicBezTo>
                <a:cubicBezTo>
                  <a:pt x="1217936" y="2546748"/>
                  <a:pt x="1127805" y="2528889"/>
                  <a:pt x="1127805" y="2536032"/>
                </a:cubicBezTo>
                <a:cubicBezTo>
                  <a:pt x="1095822" y="2696766"/>
                  <a:pt x="1023136" y="2575322"/>
                  <a:pt x="970802" y="2575322"/>
                </a:cubicBezTo>
                <a:cubicBezTo>
                  <a:pt x="921375" y="2575322"/>
                  <a:pt x="871949" y="2557463"/>
                  <a:pt x="825429" y="2543176"/>
                </a:cubicBezTo>
                <a:cubicBezTo>
                  <a:pt x="764373" y="2525316"/>
                  <a:pt x="709132" y="2557463"/>
                  <a:pt x="650982" y="2564607"/>
                </a:cubicBezTo>
                <a:cubicBezTo>
                  <a:pt x="598648" y="2571751"/>
                  <a:pt x="627722" y="2664620"/>
                  <a:pt x="595740" y="2703909"/>
                </a:cubicBezTo>
                <a:cubicBezTo>
                  <a:pt x="589926" y="2714626"/>
                  <a:pt x="584111" y="2714626"/>
                  <a:pt x="578296" y="2714626"/>
                </a:cubicBezTo>
                <a:cubicBezTo>
                  <a:pt x="560851" y="2993232"/>
                  <a:pt x="255568" y="2925366"/>
                  <a:pt x="255568" y="2936081"/>
                </a:cubicBezTo>
                <a:cubicBezTo>
                  <a:pt x="229401" y="2953941"/>
                  <a:pt x="197419" y="2911079"/>
                  <a:pt x="165437" y="2953941"/>
                </a:cubicBezTo>
                <a:cubicBezTo>
                  <a:pt x="302087" y="3150394"/>
                  <a:pt x="511425" y="3196828"/>
                  <a:pt x="697501" y="3343275"/>
                </a:cubicBezTo>
                <a:cubicBezTo>
                  <a:pt x="543407" y="3393282"/>
                  <a:pt x="453275" y="3221832"/>
                  <a:pt x="339884" y="3243263"/>
                </a:cubicBezTo>
                <a:cubicBezTo>
                  <a:pt x="284643" y="3296842"/>
                  <a:pt x="450368" y="3382566"/>
                  <a:pt x="290458" y="3407569"/>
                </a:cubicBezTo>
                <a:cubicBezTo>
                  <a:pt x="360236" y="3454004"/>
                  <a:pt x="409664" y="3500439"/>
                  <a:pt x="459090" y="3554016"/>
                </a:cubicBezTo>
                <a:cubicBezTo>
                  <a:pt x="543407" y="3650457"/>
                  <a:pt x="560851" y="3714751"/>
                  <a:pt x="520147" y="3843338"/>
                </a:cubicBezTo>
                <a:cubicBezTo>
                  <a:pt x="493979" y="3929063"/>
                  <a:pt x="456183" y="4007645"/>
                  <a:pt x="491072" y="4107657"/>
                </a:cubicBezTo>
                <a:cubicBezTo>
                  <a:pt x="514332" y="4175522"/>
                  <a:pt x="505609" y="4221957"/>
                  <a:pt x="418386" y="4189810"/>
                </a:cubicBezTo>
                <a:cubicBezTo>
                  <a:pt x="325347" y="4157663"/>
                  <a:pt x="290458" y="4218386"/>
                  <a:pt x="313718" y="4339829"/>
                </a:cubicBezTo>
                <a:cubicBezTo>
                  <a:pt x="328254" y="4418410"/>
                  <a:pt x="313718" y="4443413"/>
                  <a:pt x="249753" y="4432698"/>
                </a:cubicBezTo>
                <a:cubicBezTo>
                  <a:pt x="179975" y="4421982"/>
                  <a:pt x="113103" y="4371976"/>
                  <a:pt x="25879" y="4396979"/>
                </a:cubicBezTo>
                <a:cubicBezTo>
                  <a:pt x="95658" y="4539854"/>
                  <a:pt x="243939" y="4496991"/>
                  <a:pt x="325347" y="4632722"/>
                </a:cubicBezTo>
                <a:cubicBezTo>
                  <a:pt x="229401" y="4632722"/>
                  <a:pt x="153807" y="4632722"/>
                  <a:pt x="84029" y="4604147"/>
                </a:cubicBezTo>
                <a:cubicBezTo>
                  <a:pt x="54954" y="4593433"/>
                  <a:pt x="22972" y="4579145"/>
                  <a:pt x="5527" y="4622007"/>
                </a:cubicBezTo>
                <a:cubicBezTo>
                  <a:pt x="-14826" y="4672014"/>
                  <a:pt x="25879" y="4689872"/>
                  <a:pt x="49139" y="4697016"/>
                </a:cubicBezTo>
                <a:cubicBezTo>
                  <a:pt x="116011" y="4722019"/>
                  <a:pt x="168344" y="4779170"/>
                  <a:pt x="226494" y="4825604"/>
                </a:cubicBezTo>
                <a:cubicBezTo>
                  <a:pt x="351514" y="4925616"/>
                  <a:pt x="488165" y="5011341"/>
                  <a:pt x="592833" y="5175647"/>
                </a:cubicBezTo>
                <a:cubicBezTo>
                  <a:pt x="461997" y="5132785"/>
                  <a:pt x="363144" y="5032772"/>
                  <a:pt x="238123" y="5014913"/>
                </a:cubicBezTo>
                <a:cubicBezTo>
                  <a:pt x="345700" y="5164932"/>
                  <a:pt x="482350" y="5264944"/>
                  <a:pt x="610278" y="5375673"/>
                </a:cubicBezTo>
                <a:cubicBezTo>
                  <a:pt x="648075" y="5407819"/>
                  <a:pt x="685872" y="5429250"/>
                  <a:pt x="691686" y="5497116"/>
                </a:cubicBezTo>
                <a:cubicBezTo>
                  <a:pt x="709132" y="5629276"/>
                  <a:pt x="755650" y="5736432"/>
                  <a:pt x="860319" y="5793582"/>
                </a:cubicBezTo>
                <a:cubicBezTo>
                  <a:pt x="860319" y="5793582"/>
                  <a:pt x="854504" y="5815013"/>
                  <a:pt x="851597" y="5825729"/>
                </a:cubicBezTo>
                <a:cubicBezTo>
                  <a:pt x="787632" y="5829301"/>
                  <a:pt x="738206" y="5750720"/>
                  <a:pt x="659704" y="5779295"/>
                </a:cubicBezTo>
                <a:cubicBezTo>
                  <a:pt x="738206" y="5886451"/>
                  <a:pt x="802169" y="5979319"/>
                  <a:pt x="909746" y="6029326"/>
                </a:cubicBezTo>
                <a:cubicBezTo>
                  <a:pt x="996969" y="6068616"/>
                  <a:pt x="1104545" y="6093620"/>
                  <a:pt x="1168509" y="6222207"/>
                </a:cubicBezTo>
                <a:cubicBezTo>
                  <a:pt x="1095822" y="6247210"/>
                  <a:pt x="1040581" y="6215063"/>
                  <a:pt x="985339" y="6193632"/>
                </a:cubicBezTo>
                <a:cubicBezTo>
                  <a:pt x="901023" y="6157913"/>
                  <a:pt x="816707" y="6118623"/>
                  <a:pt x="732391" y="6082904"/>
                </a:cubicBezTo>
                <a:cubicBezTo>
                  <a:pt x="700408" y="6068616"/>
                  <a:pt x="665519" y="6061472"/>
                  <a:pt x="645167" y="6125766"/>
                </a:cubicBezTo>
                <a:cubicBezTo>
                  <a:pt x="752743" y="6140053"/>
                  <a:pt x="816707" y="6225779"/>
                  <a:pt x="883579" y="6307932"/>
                </a:cubicBezTo>
                <a:cubicBezTo>
                  <a:pt x="921375" y="6354366"/>
                  <a:pt x="953358" y="6415088"/>
                  <a:pt x="1020229" y="6393657"/>
                </a:cubicBezTo>
                <a:cubicBezTo>
                  <a:pt x="1055118" y="6382942"/>
                  <a:pt x="1078378" y="6415088"/>
                  <a:pt x="1075471" y="6457950"/>
                </a:cubicBezTo>
                <a:cubicBezTo>
                  <a:pt x="1060933" y="6607970"/>
                  <a:pt x="1145250" y="6657976"/>
                  <a:pt x="1232473" y="6686551"/>
                </a:cubicBezTo>
                <a:cubicBezTo>
                  <a:pt x="1360401" y="6729413"/>
                  <a:pt x="1473792" y="6815138"/>
                  <a:pt x="1592997" y="6886576"/>
                </a:cubicBezTo>
                <a:lnTo>
                  <a:pt x="5511704" y="6886576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FC2779-AD61-AFF4-CEE5-9F53C2E97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5431376"/>
          </a:xfrm>
        </p:spPr>
        <p:txBody>
          <a:bodyPr>
            <a:normAutofit/>
          </a:bodyPr>
          <a:lstStyle/>
          <a:p>
            <a:r>
              <a:rPr lang="fr-CH" dirty="0" err="1"/>
              <a:t>Presentation</a:t>
            </a:r>
            <a:r>
              <a:rPr lang="fr-CH" dirty="0"/>
              <a:t> </a:t>
            </a:r>
            <a:r>
              <a:rPr lang="fr-CH" dirty="0" err="1"/>
              <a:t>general</a:t>
            </a:r>
            <a:r>
              <a:rPr lang="fr-CH" dirty="0"/>
              <a:t> of the </a:t>
            </a:r>
            <a:r>
              <a:rPr lang="fr-CH" dirty="0" err="1"/>
              <a:t>project</a:t>
            </a:r>
            <a:endParaRPr lang="fr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35F94C-1BC8-885B-BEF5-2A25234FC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713313"/>
            <a:ext cx="5257801" cy="5431376"/>
          </a:xfrm>
        </p:spPr>
        <p:txBody>
          <a:bodyPr anchor="ctr">
            <a:normAutofit/>
          </a:bodyPr>
          <a:lstStyle/>
          <a:p>
            <a:r>
              <a:rPr lang="fr-CH" sz="1900" dirty="0" err="1"/>
              <a:t>We</a:t>
            </a:r>
            <a:r>
              <a:rPr lang="fr-CH" sz="1900" dirty="0"/>
              <a:t> compare </a:t>
            </a:r>
            <a:r>
              <a:rPr lang="fr-CH" sz="1900" b="1" dirty="0" err="1"/>
              <a:t>theoretical</a:t>
            </a:r>
            <a:r>
              <a:rPr lang="fr-CH" sz="1900" b="1" dirty="0"/>
              <a:t> </a:t>
            </a:r>
            <a:r>
              <a:rPr lang="fr-CH" sz="1900" b="1" dirty="0" err="1"/>
              <a:t>accessibility</a:t>
            </a:r>
            <a:r>
              <a:rPr lang="fr-CH" sz="1900" dirty="0"/>
              <a:t> </a:t>
            </a:r>
            <a:r>
              <a:rPr lang="fr-CH" sz="1900" dirty="0" err="1"/>
              <a:t>with</a:t>
            </a:r>
            <a:r>
              <a:rPr lang="fr-CH" sz="1900" dirty="0"/>
              <a:t> </a:t>
            </a:r>
            <a:r>
              <a:rPr lang="fr-CH" sz="1900" b="1" dirty="0" err="1"/>
              <a:t>actual</a:t>
            </a:r>
            <a:r>
              <a:rPr lang="fr-CH" sz="1900" b="1" dirty="0"/>
              <a:t> </a:t>
            </a:r>
            <a:r>
              <a:rPr lang="fr-CH" sz="1900" b="1" dirty="0" err="1"/>
              <a:t>mobility</a:t>
            </a:r>
            <a:r>
              <a:rPr lang="fr-CH" sz="1900" b="1" dirty="0"/>
              <a:t> </a:t>
            </a:r>
            <a:r>
              <a:rPr lang="fr-CH" sz="1900" b="1" dirty="0" err="1"/>
              <a:t>behavior</a:t>
            </a:r>
            <a:endParaRPr lang="fr-CH" sz="1900" dirty="0"/>
          </a:p>
          <a:p>
            <a:r>
              <a:rPr lang="fr-CH" sz="1900" dirty="0"/>
              <a:t>Case </a:t>
            </a:r>
            <a:r>
              <a:rPr lang="fr-CH" sz="1900" dirty="0" err="1"/>
              <a:t>study</a:t>
            </a:r>
            <a:r>
              <a:rPr lang="fr-CH" sz="1900" dirty="0"/>
              <a:t>: </a:t>
            </a:r>
            <a:r>
              <a:rPr lang="fr-CH" sz="1900" b="1" dirty="0"/>
              <a:t>one </a:t>
            </a:r>
            <a:r>
              <a:rPr lang="fr-CH" sz="1900" b="1" dirty="0" err="1"/>
              <a:t>individual</a:t>
            </a:r>
            <a:r>
              <a:rPr lang="fr-CH" sz="1900" b="1" dirty="0"/>
              <a:t> living in Zurich</a:t>
            </a:r>
            <a:endParaRPr lang="fr-CH" sz="1900" dirty="0"/>
          </a:p>
          <a:p>
            <a:r>
              <a:rPr lang="fr-CH" sz="1900" dirty="0"/>
              <a:t>Data: </a:t>
            </a:r>
            <a:r>
              <a:rPr lang="fr-CH" sz="1900" b="1" dirty="0"/>
              <a:t>Google Timeline GPS </a:t>
            </a:r>
            <a:r>
              <a:rPr lang="fr-CH" sz="1900" b="1" dirty="0" err="1"/>
              <a:t>trajectories</a:t>
            </a:r>
            <a:r>
              <a:rPr lang="fr-CH" sz="1900" b="1" dirty="0"/>
              <a:t> over 3 </a:t>
            </a:r>
            <a:r>
              <a:rPr lang="fr-CH" sz="1900" b="1" dirty="0" err="1"/>
              <a:t>months</a:t>
            </a:r>
            <a:endParaRPr lang="fr-CH" sz="1900" dirty="0"/>
          </a:p>
          <a:p>
            <a:r>
              <a:rPr lang="fr-CH" sz="1900" dirty="0" err="1"/>
              <a:t>Context</a:t>
            </a:r>
            <a:r>
              <a:rPr lang="fr-CH" sz="1900" dirty="0"/>
              <a:t> data: </a:t>
            </a:r>
            <a:r>
              <a:rPr lang="fr-CH" sz="1900" b="1" dirty="0"/>
              <a:t>Points of </a:t>
            </a:r>
            <a:r>
              <a:rPr lang="fr-CH" sz="1900" b="1" dirty="0" err="1"/>
              <a:t>Interest</a:t>
            </a:r>
            <a:r>
              <a:rPr lang="fr-CH" sz="1900" b="1" dirty="0"/>
              <a:t> and transport infrastructure</a:t>
            </a:r>
            <a:endParaRPr lang="fr-CH" sz="1900" dirty="0"/>
          </a:p>
          <a:p>
            <a:r>
              <a:rPr lang="fr-CH" sz="1900" dirty="0"/>
              <a:t>Main focus: </a:t>
            </a:r>
            <a:r>
              <a:rPr lang="fr-CH" sz="1900" dirty="0" err="1"/>
              <a:t>identifying</a:t>
            </a:r>
            <a:r>
              <a:rPr lang="fr-CH" sz="1900" dirty="0"/>
              <a:t> </a:t>
            </a:r>
            <a:r>
              <a:rPr lang="fr-CH" sz="1900" dirty="0" err="1"/>
              <a:t>mismatches</a:t>
            </a:r>
            <a:r>
              <a:rPr lang="fr-CH" sz="1900" dirty="0"/>
              <a:t> </a:t>
            </a:r>
            <a:r>
              <a:rPr lang="fr-CH" sz="1900" dirty="0" err="1"/>
              <a:t>between</a:t>
            </a:r>
            <a:r>
              <a:rPr lang="fr-CH" sz="1900" dirty="0"/>
              <a:t>:</a:t>
            </a:r>
          </a:p>
          <a:p>
            <a:pPr lvl="1"/>
            <a:r>
              <a:rPr lang="fr-CH" sz="1900" dirty="0" err="1"/>
              <a:t>nearby</a:t>
            </a:r>
            <a:r>
              <a:rPr lang="fr-CH" sz="1900" dirty="0"/>
              <a:t> </a:t>
            </a:r>
            <a:r>
              <a:rPr lang="fr-CH" sz="1900" dirty="0" err="1"/>
              <a:t>available</a:t>
            </a:r>
            <a:r>
              <a:rPr lang="fr-CH" sz="1900" dirty="0"/>
              <a:t> services</a:t>
            </a:r>
          </a:p>
          <a:p>
            <a:pPr lvl="1"/>
            <a:r>
              <a:rPr lang="fr-CH" sz="1900" dirty="0"/>
              <a:t>15-minute </a:t>
            </a:r>
            <a:r>
              <a:rPr lang="fr-CH" sz="1900" dirty="0" err="1"/>
              <a:t>accessibility</a:t>
            </a:r>
            <a:r>
              <a:rPr lang="fr-CH" sz="1900" dirty="0"/>
              <a:t> areas</a:t>
            </a:r>
          </a:p>
          <a:p>
            <a:pPr lvl="1"/>
            <a:r>
              <a:rPr lang="fr-CH" sz="1900" dirty="0" err="1"/>
              <a:t>daily</a:t>
            </a:r>
            <a:r>
              <a:rPr lang="fr-CH" sz="1900" dirty="0"/>
              <a:t> </a:t>
            </a:r>
            <a:r>
              <a:rPr lang="fr-CH" sz="1900" dirty="0" err="1"/>
              <a:t>travel</a:t>
            </a:r>
            <a:r>
              <a:rPr lang="fr-CH" sz="1900" dirty="0"/>
              <a:t> patterns</a:t>
            </a:r>
          </a:p>
          <a:p>
            <a:r>
              <a:rPr lang="fr-CH" sz="1900" b="1" dirty="0"/>
              <a:t>Goal:</a:t>
            </a:r>
            <a:r>
              <a:rPr lang="fr-CH" sz="1900" dirty="0"/>
              <a:t> </a:t>
            </a:r>
            <a:r>
              <a:rPr lang="fr-CH" sz="1900" dirty="0" err="1"/>
              <a:t>understand</a:t>
            </a:r>
            <a:r>
              <a:rPr lang="fr-CH" sz="1900" dirty="0"/>
              <a:t> </a:t>
            </a:r>
            <a:r>
              <a:rPr lang="fr-CH" sz="1900" dirty="0" err="1"/>
              <a:t>whether</a:t>
            </a:r>
            <a:r>
              <a:rPr lang="fr-CH" sz="1900" dirty="0"/>
              <a:t> accessible infrastructure </a:t>
            </a:r>
            <a:r>
              <a:rPr lang="fr-CH" sz="1900" dirty="0" err="1"/>
              <a:t>is</a:t>
            </a:r>
            <a:r>
              <a:rPr lang="fr-CH" sz="1900" dirty="0"/>
              <a:t> </a:t>
            </a:r>
            <a:r>
              <a:rPr lang="fr-CH" sz="1900" dirty="0" err="1"/>
              <a:t>actually</a:t>
            </a:r>
            <a:r>
              <a:rPr lang="fr-CH" sz="1900" dirty="0"/>
              <a:t> </a:t>
            </a:r>
            <a:r>
              <a:rPr lang="fr-CH" sz="1900" dirty="0" err="1"/>
              <a:t>reflected</a:t>
            </a:r>
            <a:r>
              <a:rPr lang="fr-CH" sz="1900" dirty="0"/>
              <a:t> in </a:t>
            </a:r>
            <a:r>
              <a:rPr lang="fr-CH" sz="1900" dirty="0" err="1"/>
              <a:t>everyday</a:t>
            </a:r>
            <a:r>
              <a:rPr lang="fr-CH" sz="1900" dirty="0"/>
              <a:t> </a:t>
            </a:r>
            <a:r>
              <a:rPr lang="fr-CH" sz="1900" dirty="0" err="1"/>
              <a:t>mobility</a:t>
            </a:r>
            <a:r>
              <a:rPr lang="fr-CH" sz="1900" dirty="0"/>
              <a:t> </a:t>
            </a:r>
            <a:r>
              <a:rPr lang="fr-CH" sz="1900" dirty="0" err="1"/>
              <a:t>behavior</a:t>
            </a:r>
            <a:r>
              <a:rPr lang="fr-CH" sz="1900" dirty="0"/>
              <a:t>.</a:t>
            </a:r>
          </a:p>
          <a:p>
            <a:endParaRPr lang="fr-CH" sz="1900" dirty="0"/>
          </a:p>
          <a:p>
            <a:pPr marL="457200" lvl="1" indent="0">
              <a:buNone/>
            </a:pPr>
            <a:r>
              <a:rPr lang="fr-CH" sz="1900" dirty="0"/>
              <a:t> </a:t>
            </a:r>
          </a:p>
          <a:p>
            <a:pPr lvl="1"/>
            <a:endParaRPr lang="fr-CH" sz="1900" dirty="0"/>
          </a:p>
        </p:txBody>
      </p:sp>
    </p:spTree>
    <p:extLst>
      <p:ext uri="{BB962C8B-B14F-4D97-AF65-F5344CB8AC3E}">
        <p14:creationId xmlns:p14="http://schemas.microsoft.com/office/powerpoint/2010/main" val="3526247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423E1E-BDBE-7890-99F7-75EB4E250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A396A-E78B-8B83-BCD1-2000A3ACC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3472607"/>
          </a:xfrm>
        </p:spPr>
        <p:txBody>
          <a:bodyPr>
            <a:normAutofit/>
          </a:bodyPr>
          <a:lstStyle/>
          <a:p>
            <a:r>
              <a:rPr lang="en-001" dirty="0"/>
              <a:t>Best Possible Outcome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20A022F-93D1-8C5A-87A5-E8C8242FA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713313"/>
            <a:ext cx="6477000" cy="3472607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001" sz="3200" dirty="0"/>
              <a:t>We expect to:</a:t>
            </a:r>
          </a:p>
          <a:p>
            <a:r>
              <a:rPr lang="en-001" sz="3200" dirty="0"/>
              <a:t>Quantify the proportion of local vs non-local activities </a:t>
            </a:r>
          </a:p>
          <a:p>
            <a:r>
              <a:rPr lang="en-001" sz="3200" dirty="0"/>
              <a:t>Identify activity types that exceed the 15-minute threshold </a:t>
            </a:r>
          </a:p>
          <a:p>
            <a:r>
              <a:rPr lang="en-001" sz="3200" dirty="0"/>
              <a:t>Evaluate whether mobility is driven more by accessibility or by personal preferences and habits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54B78A-D08B-EF49-5DCE-3E78CEFBEEF3}"/>
              </a:ext>
            </a:extLst>
          </p:cNvPr>
          <p:cNvSpPr/>
          <p:nvPr/>
        </p:nvSpPr>
        <p:spPr>
          <a:xfrm>
            <a:off x="0" y="4795520"/>
            <a:ext cx="12192000" cy="1561737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001" sz="2200" b="1" dirty="0">
                <a:solidFill>
                  <a:schemeClr val="tx1"/>
                </a:solidFill>
              </a:rPr>
              <a:t>Hypothesis:</a:t>
            </a:r>
            <a:r>
              <a:rPr lang="en-001" sz="2200" dirty="0">
                <a:solidFill>
                  <a:schemeClr val="tx1"/>
                </a:solidFill>
              </a:rPr>
              <a:t> Even in Zurich, many social and professional activities </a:t>
            </a:r>
          </a:p>
          <a:p>
            <a:pPr algn="ctr"/>
            <a:r>
              <a:rPr lang="en-001" sz="2200" dirty="0">
                <a:solidFill>
                  <a:schemeClr val="tx1"/>
                </a:solidFill>
              </a:rPr>
              <a:t>occur beyond the theoretically accessible area</a:t>
            </a:r>
          </a:p>
        </p:txBody>
      </p:sp>
    </p:spTree>
    <p:extLst>
      <p:ext uri="{BB962C8B-B14F-4D97-AF65-F5344CB8AC3E}">
        <p14:creationId xmlns:p14="http://schemas.microsoft.com/office/powerpoint/2010/main" val="2129016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1522</TotalTime>
  <Words>768</Words>
  <Application>Microsoft Macintosh PowerPoint</Application>
  <PresentationFormat>Widescreen</PresentationFormat>
  <Paragraphs>112</Paragraphs>
  <Slides>13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.AppleSystemUIFont</vt:lpstr>
      <vt:lpstr>Aptos</vt:lpstr>
      <vt:lpstr>Aptos Display</vt:lpstr>
      <vt:lpstr>Arial</vt:lpstr>
      <vt:lpstr>Wingdings</vt:lpstr>
      <vt:lpstr>Office Theme</vt:lpstr>
      <vt:lpstr>The 15-Minute City in Practice  Comparing theoretical accessibility and real mobility patterns in Zurich</vt:lpstr>
      <vt:lpstr>Context &amp; Project Intro</vt:lpstr>
      <vt:lpstr>PowerPoint Presentation</vt:lpstr>
      <vt:lpstr>Research plan</vt:lpstr>
      <vt:lpstr>PowerPoint Presentation</vt:lpstr>
      <vt:lpstr>Activity Classification</vt:lpstr>
      <vt:lpstr>Preliminary results</vt:lpstr>
      <vt:lpstr>Accessibility Gap</vt:lpstr>
      <vt:lpstr>Types of activities occurring beyond the 15-minute city</vt:lpstr>
      <vt:lpstr>Challenges and Plan B</vt:lpstr>
      <vt:lpstr>Context </vt:lpstr>
      <vt:lpstr>Presentation general of the project</vt:lpstr>
      <vt:lpstr>Best Possible Outcome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Noémie Simon</dc:creator>
  <cp:lastModifiedBy>Kern  Lucie</cp:lastModifiedBy>
  <cp:revision>8</cp:revision>
  <dcterms:created xsi:type="dcterms:W3CDTF">2026-05-30T13:29:55Z</dcterms:created>
  <dcterms:modified xsi:type="dcterms:W3CDTF">2026-06-03T06:33:57Z</dcterms:modified>
</cp:coreProperties>
</file>