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C83A13B9.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omments/modernComment_102_88E6931F.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270" r:id="rId4"/>
    <p:sldId id="263" r:id="rId5"/>
    <p:sldId id="269" r:id="rId6"/>
    <p:sldId id="271" r:id="rId7"/>
    <p:sldId id="261" r:id="rId8"/>
    <p:sldId id="267" r:id="rId9"/>
    <p:sldId id="268" r:id="rId10"/>
    <p:sldId id="262" r:id="rId11"/>
    <p:sldId id="258" r:id="rId12"/>
    <p:sldId id="257" r:id="rId13"/>
    <p:sldId id="265" r:id="rId1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3E4DB8-4E12-F18C-200B-095F2E882368}" name="Kern  Lucie" initials="KL" userId="S::kernlu@ethz.ch::73957d06-79f2-4001-a218-8bdcb8f96aaa" providerId="AD"/>
  <p188:author id="{C91F3CF6-149F-06F0-0291-18BB8A7035EF}" name="Noémie Simon" initials="NS" userId="bcf751ccc0c63cc4"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98B2CB"/>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5A67-A6A9-4968-8E92-A1C96BA15CA7}" v="4" dt="2026-06-02T20:47:20.3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872" autoAdjust="0"/>
    <p:restoredTop sz="94690"/>
  </p:normalViewPr>
  <p:slideViewPr>
    <p:cSldViewPr snapToGrid="0">
      <p:cViewPr>
        <p:scale>
          <a:sx n="68" d="100"/>
          <a:sy n="68" d="100"/>
        </p:scale>
        <p:origin x="496" y="13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émie Simon" userId="bcf751ccc0c63cc4" providerId="LiveId" clId="{D8646A5F-B639-4467-90AE-53976C914447}"/>
    <pc:docChg chg="custSel addSld delSld modSld sldOrd">
      <pc:chgData name="Noémie Simon" userId="bcf751ccc0c63cc4" providerId="LiveId" clId="{D8646A5F-B639-4467-90AE-53976C914447}" dt="2026-06-02T20:55:29.016" v="158" actId="27614"/>
      <pc:docMkLst>
        <pc:docMk/>
      </pc:docMkLst>
      <pc:sldChg chg="modSp mod">
        <pc:chgData name="Noémie Simon" userId="bcf751ccc0c63cc4" providerId="LiveId" clId="{D8646A5F-B639-4467-90AE-53976C914447}" dt="2026-06-02T17:32:45.254" v="101" actId="20577"/>
        <pc:sldMkLst>
          <pc:docMk/>
          <pc:sldMk cId="3359249337" sldId="256"/>
        </pc:sldMkLst>
        <pc:spChg chg="mod">
          <ac:chgData name="Noémie Simon" userId="bcf751ccc0c63cc4" providerId="LiveId" clId="{D8646A5F-B639-4467-90AE-53976C914447}" dt="2026-06-02T17:32:45.254" v="101" actId="20577"/>
          <ac:spMkLst>
            <pc:docMk/>
            <pc:sldMk cId="3359249337" sldId="256"/>
            <ac:spMk id="2" creationId="{55269C2F-6BFD-EFC2-398D-9FE490AB97CC}"/>
          </ac:spMkLst>
        </pc:spChg>
      </pc:sldChg>
      <pc:sldChg chg="mod ord modShow">
        <pc:chgData name="Noémie Simon" userId="bcf751ccc0c63cc4" providerId="LiveId" clId="{D8646A5F-B639-4467-90AE-53976C914447}" dt="2026-06-02T20:48:46.207" v="147"/>
        <pc:sldMkLst>
          <pc:docMk/>
          <pc:sldMk cId="3526247385" sldId="257"/>
        </pc:sldMkLst>
      </pc:sldChg>
      <pc:sldChg chg="mod ord modShow">
        <pc:chgData name="Noémie Simon" userId="bcf751ccc0c63cc4" providerId="LiveId" clId="{D8646A5F-B639-4467-90AE-53976C914447}" dt="2026-06-02T20:48:39.632" v="145"/>
        <pc:sldMkLst>
          <pc:docMk/>
          <pc:sldMk cId="2296812319" sldId="258"/>
        </pc:sldMkLst>
      </pc:sldChg>
      <pc:sldChg chg="modSp del mod">
        <pc:chgData name="Noémie Simon" userId="bcf751ccc0c63cc4" providerId="LiveId" clId="{D8646A5F-B639-4467-90AE-53976C914447}" dt="2026-06-02T20:48:20.612" v="143" actId="2696"/>
        <pc:sldMkLst>
          <pc:docMk/>
          <pc:sldMk cId="3809305011" sldId="259"/>
        </pc:sldMkLst>
        <pc:spChg chg="mod">
          <ac:chgData name="Noémie Simon" userId="bcf751ccc0c63cc4" providerId="LiveId" clId="{D8646A5F-B639-4467-90AE-53976C914447}" dt="2026-06-02T20:46:41.495" v="121" actId="21"/>
          <ac:spMkLst>
            <pc:docMk/>
            <pc:sldMk cId="3809305011" sldId="259"/>
            <ac:spMk id="2" creationId="{3ED5FDDA-FB89-7C42-000C-DFB890DC4FCA}"/>
          </ac:spMkLst>
        </pc:spChg>
      </pc:sldChg>
      <pc:sldChg chg="mod ord modShow">
        <pc:chgData name="Noémie Simon" userId="bcf751ccc0c63cc4" providerId="LiveId" clId="{D8646A5F-B639-4467-90AE-53976C914447}" dt="2026-06-02T20:48:51.571" v="149"/>
        <pc:sldMkLst>
          <pc:docMk/>
          <pc:sldMk cId="2129016569" sldId="265"/>
        </pc:sldMkLst>
      </pc:sldChg>
      <pc:sldChg chg="modSp mod">
        <pc:chgData name="Noémie Simon" userId="bcf751ccc0c63cc4" providerId="LiveId" clId="{D8646A5F-B639-4467-90AE-53976C914447}" dt="2026-06-02T17:40:05.580" v="102" actId="1076"/>
        <pc:sldMkLst>
          <pc:docMk/>
          <pc:sldMk cId="131123478" sldId="266"/>
        </pc:sldMkLst>
        <pc:spChg chg="mod">
          <ac:chgData name="Noémie Simon" userId="bcf751ccc0c63cc4" providerId="LiveId" clId="{D8646A5F-B639-4467-90AE-53976C914447}" dt="2026-06-02T17:30:15.351" v="3" actId="20577"/>
          <ac:spMkLst>
            <pc:docMk/>
            <pc:sldMk cId="131123478" sldId="266"/>
            <ac:spMk id="11" creationId="{1721DAEC-0A82-6021-A4E5-89B28C221F2F}"/>
          </ac:spMkLst>
        </pc:spChg>
        <pc:spChg chg="mod">
          <ac:chgData name="Noémie Simon" userId="bcf751ccc0c63cc4" providerId="LiveId" clId="{D8646A5F-B639-4467-90AE-53976C914447}" dt="2026-06-02T17:30:59.299" v="64" actId="20577"/>
          <ac:spMkLst>
            <pc:docMk/>
            <pc:sldMk cId="131123478" sldId="266"/>
            <ac:spMk id="18" creationId="{214E7150-6D34-BA9C-1FC7-E2FD88FAB998}"/>
          </ac:spMkLst>
        </pc:spChg>
        <pc:spChg chg="mod">
          <ac:chgData name="Noémie Simon" userId="bcf751ccc0c63cc4" providerId="LiveId" clId="{D8646A5F-B639-4467-90AE-53976C914447}" dt="2026-06-02T17:40:05.580" v="102" actId="1076"/>
          <ac:spMkLst>
            <pc:docMk/>
            <pc:sldMk cId="131123478" sldId="266"/>
            <ac:spMk id="22" creationId="{4C50DE4D-9766-DAB7-AB84-B23FAE884ECD}"/>
          </ac:spMkLst>
        </pc:spChg>
      </pc:sldChg>
      <pc:sldChg chg="modSp mod">
        <pc:chgData name="Noémie Simon" userId="bcf751ccc0c63cc4" providerId="LiveId" clId="{D8646A5F-B639-4467-90AE-53976C914447}" dt="2026-06-02T20:54:09.362" v="155" actId="113"/>
        <pc:sldMkLst>
          <pc:docMk/>
          <pc:sldMk cId="3855054443" sldId="268"/>
        </pc:sldMkLst>
        <pc:spChg chg="mod">
          <ac:chgData name="Noémie Simon" userId="bcf751ccc0c63cc4" providerId="LiveId" clId="{D8646A5F-B639-4467-90AE-53976C914447}" dt="2026-06-02T20:54:09.362" v="155" actId="113"/>
          <ac:spMkLst>
            <pc:docMk/>
            <pc:sldMk cId="3855054443" sldId="268"/>
            <ac:spMk id="2" creationId="{8B6FD0A6-936D-1217-2307-54883D928515}"/>
          </ac:spMkLst>
        </pc:spChg>
      </pc:sldChg>
      <pc:sldChg chg="addSp delSp modSp new mod ord">
        <pc:chgData name="Noémie Simon" userId="bcf751ccc0c63cc4" providerId="LiveId" clId="{D8646A5F-B639-4467-90AE-53976C914447}" dt="2026-06-02T20:55:29.016" v="158" actId="27614"/>
        <pc:sldMkLst>
          <pc:docMk/>
          <pc:sldMk cId="2036194352" sldId="269"/>
        </pc:sldMkLst>
        <pc:spChg chg="del">
          <ac:chgData name="Noémie Simon" userId="bcf751ccc0c63cc4" providerId="LiveId" clId="{D8646A5F-B639-4467-90AE-53976C914447}" dt="2026-06-02T20:33:17.488" v="110" actId="22"/>
          <ac:spMkLst>
            <pc:docMk/>
            <pc:sldMk cId="2036194352" sldId="269"/>
            <ac:spMk id="3" creationId="{8DB6A4F9-AF71-296C-A992-91D54ED70030}"/>
          </ac:spMkLst>
        </pc:spChg>
        <pc:spChg chg="add mod">
          <ac:chgData name="Noémie Simon" userId="bcf751ccc0c63cc4" providerId="LiveId" clId="{D8646A5F-B639-4467-90AE-53976C914447}" dt="2026-06-02T20:55:16.629" v="156" actId="478"/>
          <ac:spMkLst>
            <pc:docMk/>
            <pc:sldMk cId="2036194352" sldId="269"/>
            <ac:spMk id="7" creationId="{DCCFBE5E-470E-8AAF-8F23-FDD7777AA6DC}"/>
          </ac:spMkLst>
        </pc:spChg>
        <pc:picChg chg="add del mod ord modCrop">
          <ac:chgData name="Noémie Simon" userId="bcf751ccc0c63cc4" providerId="LiveId" clId="{D8646A5F-B639-4467-90AE-53976C914447}" dt="2026-06-02T20:55:16.629" v="156" actId="478"/>
          <ac:picMkLst>
            <pc:docMk/>
            <pc:sldMk cId="2036194352" sldId="269"/>
            <ac:picMk id="5" creationId="{EAF7FBEC-6756-951E-C204-502EE64EC167}"/>
          </ac:picMkLst>
        </pc:picChg>
        <pc:picChg chg="add mod">
          <ac:chgData name="Noémie Simon" userId="bcf751ccc0c63cc4" providerId="LiveId" clId="{D8646A5F-B639-4467-90AE-53976C914447}" dt="2026-06-02T20:55:29.016" v="158" actId="27614"/>
          <ac:picMkLst>
            <pc:docMk/>
            <pc:sldMk cId="2036194352" sldId="269"/>
            <ac:picMk id="9" creationId="{2CAB6DAC-E835-6F5C-E5D4-339A9645C7BE}"/>
          </ac:picMkLst>
        </pc:picChg>
      </pc:sldChg>
      <pc:sldChg chg="addSp delSp modSp new mod modClrScheme chgLayout">
        <pc:chgData name="Noémie Simon" userId="bcf751ccc0c63cc4" providerId="LiveId" clId="{D8646A5F-B639-4467-90AE-53976C914447}" dt="2026-06-02T20:53:44.779" v="154" actId="207"/>
        <pc:sldMkLst>
          <pc:docMk/>
          <pc:sldMk cId="2745853101" sldId="270"/>
        </pc:sldMkLst>
        <pc:spChg chg="del mod ord">
          <ac:chgData name="Noémie Simon" userId="bcf751ccc0c63cc4" providerId="LiveId" clId="{D8646A5F-B639-4467-90AE-53976C914447}" dt="2026-06-02T20:46:36.389" v="120" actId="700"/>
          <ac:spMkLst>
            <pc:docMk/>
            <pc:sldMk cId="2745853101" sldId="270"/>
            <ac:spMk id="2" creationId="{358CB85D-264F-AA4D-DF2D-0738DFDDC6BC}"/>
          </ac:spMkLst>
        </pc:spChg>
        <pc:spChg chg="del mod ord">
          <ac:chgData name="Noémie Simon" userId="bcf751ccc0c63cc4" providerId="LiveId" clId="{D8646A5F-B639-4467-90AE-53976C914447}" dt="2026-06-02T20:46:36.389" v="120" actId="700"/>
          <ac:spMkLst>
            <pc:docMk/>
            <pc:sldMk cId="2745853101" sldId="270"/>
            <ac:spMk id="3" creationId="{F4598ED5-427D-7F34-541D-59507B9F33C2}"/>
          </ac:spMkLst>
        </pc:spChg>
        <pc:spChg chg="add del mod ord">
          <ac:chgData name="Noémie Simon" userId="bcf751ccc0c63cc4" providerId="LiveId" clId="{D8646A5F-B639-4467-90AE-53976C914447}" dt="2026-06-02T20:47:52.748" v="138" actId="478"/>
          <ac:spMkLst>
            <pc:docMk/>
            <pc:sldMk cId="2745853101" sldId="270"/>
            <ac:spMk id="4" creationId="{889D59ED-3880-CB75-910A-D8DD74D777B4}"/>
          </ac:spMkLst>
        </pc:spChg>
        <pc:spChg chg="add mod ord">
          <ac:chgData name="Noémie Simon" userId="bcf751ccc0c63cc4" providerId="LiveId" clId="{D8646A5F-B639-4467-90AE-53976C914447}" dt="2026-06-02T20:47:57.068" v="139" actId="1076"/>
          <ac:spMkLst>
            <pc:docMk/>
            <pc:sldMk cId="2745853101" sldId="270"/>
            <ac:spMk id="5" creationId="{E803951D-F116-DC10-6C43-19FFF7456671}"/>
          </ac:spMkLst>
        </pc:spChg>
        <pc:spChg chg="add mod ord">
          <ac:chgData name="Noémie Simon" userId="bcf751ccc0c63cc4" providerId="LiveId" clId="{D8646A5F-B639-4467-90AE-53976C914447}" dt="2026-06-02T20:53:44.779" v="154" actId="207"/>
          <ac:spMkLst>
            <pc:docMk/>
            <pc:sldMk cId="2745853101" sldId="270"/>
            <ac:spMk id="6" creationId="{B41B92A7-C4DD-19B5-4CEE-1DEFC7F961BB}"/>
          </ac:spMkLst>
        </pc:spChg>
      </pc:sldChg>
    </pc:docChg>
  </pc:docChgLst>
</pc:chgInfo>
</file>

<file path=ppt/comments/modernComment_100_C83A13B9.xml><?xml version="1.0" encoding="utf-8"?>
<p188:cmLst xmlns:a="http://schemas.openxmlformats.org/drawingml/2006/main" xmlns:r="http://schemas.openxmlformats.org/officeDocument/2006/relationships" xmlns:p188="http://schemas.microsoft.com/office/powerpoint/2018/8/main">
  <p188:cm id="{D96A257B-1C8E-E748-A2DE-938E634E31F0}" authorId="{DE3E4DB8-4E12-F18C-200B-095F2E882368}" created="2026-06-01T12:49:13.102">
    <pc:sldMkLst xmlns:pc="http://schemas.microsoft.com/office/powerpoint/2013/main/command">
      <pc:docMk/>
      <pc:sldMk cId="3359249337" sldId="256"/>
    </pc:sldMkLst>
    <p188:txBody>
      <a:bodyPr/>
      <a:lstStyle/>
      <a:p>
        <a:r>
          <a:rPr lang="en-001"/>
          <a:t>new suggestion for poetic and attention grabbing title how Patrick loves them : Close Enough to Reach, Far Enough to Go
Exploring the Gap Between Accessibility and Mobility in Zurich 
The Places We Could Go and the Places We Do
Comparing Theoretical Accessibility and Real Mobility Patterns in Zurich
Between Opportunity and Movement
Testing the 15-Minute City Through GPS Trajectories in Zurich </a:t>
        </a:r>
      </a:p>
    </p188:txBody>
  </p188:cm>
</p188:cmLst>
</file>

<file path=ppt/comments/modernComment_102_88E6931F.xml><?xml version="1.0" encoding="utf-8"?>
<p188:cmLst xmlns:a="http://schemas.openxmlformats.org/drawingml/2006/main" xmlns:r="http://schemas.openxmlformats.org/officeDocument/2006/relationships" xmlns:p188="http://schemas.microsoft.com/office/powerpoint/2018/8/main">
  <p188:cm id="{2097FF87-0BEC-4AA8-BA89-1AD6E5BA5930}" authorId="{C91F3CF6-149F-06F0-0291-18BB8A7035EF}" status="resolved" created="2026-05-31T09:22:57.363" complete="100000">
    <pc:sldMkLst xmlns:pc="http://schemas.microsoft.com/office/powerpoint/2013/main/command">
      <pc:docMk/>
      <pc:sldMk cId="2296812319" sldId="258"/>
    </pc:sldMkLst>
    <p188:txBody>
      <a:bodyPr/>
      <a:lstStyle/>
      <a:p>
        <a:r>
          <a:rPr lang="fr-CH"/>
          <a:t>Not sure what we want to say about the context!?</a:t>
        </a:r>
      </a:p>
    </p188:txBody>
  </p188:cm>
</p188:cmLst>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2C74514-7E59-43DD-81F2-44D5759C1824}"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12C6A796-E05E-4109-83A5-CA6732F07DCC}">
      <dgm:prSet custT="1"/>
      <dgm:spPr/>
      <dgm:t>
        <a:bodyPr/>
        <a:lstStyle/>
        <a:p>
          <a:r>
            <a:rPr lang="fr-CH" sz="2000" dirty="0"/>
            <a:t>Collection of data of  </a:t>
          </a:r>
          <a:r>
            <a:rPr lang="fr-CH" sz="2000" dirty="0" err="1"/>
            <a:t>trajectory</a:t>
          </a:r>
          <a:r>
            <a:rPr lang="fr-CH" sz="2000" dirty="0"/>
            <a:t>  (google </a:t>
          </a:r>
          <a:r>
            <a:rPr lang="fr-CH" sz="2000" dirty="0" err="1"/>
            <a:t>maps</a:t>
          </a:r>
          <a:r>
            <a:rPr lang="fr-CH" sz="2000" dirty="0"/>
            <a:t>) </a:t>
          </a:r>
          <a:endParaRPr lang="en-US" sz="2000" dirty="0"/>
        </a:p>
      </dgm:t>
    </dgm:pt>
    <dgm:pt modelId="{A758E241-A4DE-442B-90CA-0C9C5F9396E7}" type="parTrans" cxnId="{B039D11B-C065-4DB7-9C3F-9C1F1452DDD1}">
      <dgm:prSet/>
      <dgm:spPr/>
      <dgm:t>
        <a:bodyPr/>
        <a:lstStyle/>
        <a:p>
          <a:endParaRPr lang="en-US" sz="2000"/>
        </a:p>
      </dgm:t>
    </dgm:pt>
    <dgm:pt modelId="{13D06279-7FFC-4E91-975B-C5F631451C36}" type="sibTrans" cxnId="{B039D11B-C065-4DB7-9C3F-9C1F1452DDD1}">
      <dgm:prSet/>
      <dgm:spPr/>
      <dgm:t>
        <a:bodyPr/>
        <a:lstStyle/>
        <a:p>
          <a:endParaRPr lang="en-US" sz="2000"/>
        </a:p>
      </dgm:t>
    </dgm:pt>
    <dgm:pt modelId="{41B0F318-681F-480C-ACBE-4C24B27636D0}">
      <dgm:prSet custT="1"/>
      <dgm:spPr/>
      <dgm:t>
        <a:bodyPr/>
        <a:lstStyle/>
        <a:p>
          <a:r>
            <a:rPr lang="fr-CH" sz="2000" dirty="0" err="1"/>
            <a:t>Creation</a:t>
          </a:r>
          <a:r>
            <a:rPr lang="fr-CH" sz="2000" dirty="0"/>
            <a:t> of isochrones (15-minute </a:t>
          </a:r>
          <a:r>
            <a:rPr lang="fr-CH" sz="2000" dirty="0" err="1"/>
            <a:t>accesibility</a:t>
          </a:r>
          <a:r>
            <a:rPr lang="fr-CH" sz="2000" dirty="0"/>
            <a:t> zones)</a:t>
          </a:r>
          <a:endParaRPr lang="en-US" sz="2000" dirty="0"/>
        </a:p>
      </dgm:t>
    </dgm:pt>
    <dgm:pt modelId="{0D659330-D588-4B5E-A5C6-35292AF1DC95}" type="parTrans" cxnId="{95C9FA46-ECF1-4D14-8548-452CDC7D2175}">
      <dgm:prSet/>
      <dgm:spPr/>
      <dgm:t>
        <a:bodyPr/>
        <a:lstStyle/>
        <a:p>
          <a:endParaRPr lang="en-US" sz="2000"/>
        </a:p>
      </dgm:t>
    </dgm:pt>
    <dgm:pt modelId="{207A3D5B-4122-4CE8-B141-67DFCED8E158}" type="sibTrans" cxnId="{95C9FA46-ECF1-4D14-8548-452CDC7D2175}">
      <dgm:prSet/>
      <dgm:spPr/>
      <dgm:t>
        <a:bodyPr/>
        <a:lstStyle/>
        <a:p>
          <a:endParaRPr lang="en-US" sz="2000"/>
        </a:p>
      </dgm:t>
    </dgm:pt>
    <dgm:pt modelId="{7157FA5E-C5A4-4039-9621-57EE8A1E448F}">
      <dgm:prSet custT="1"/>
      <dgm:spPr/>
      <dgm:t>
        <a:bodyPr/>
        <a:lstStyle/>
        <a:p>
          <a:r>
            <a:rPr lang="fr-CH" sz="2000" dirty="0" err="1"/>
            <a:t>Detection</a:t>
          </a:r>
          <a:r>
            <a:rPr lang="fr-CH" sz="2000" dirty="0"/>
            <a:t> of point of </a:t>
          </a:r>
          <a:r>
            <a:rPr lang="fr-CH" sz="2000" dirty="0" err="1"/>
            <a:t>interests</a:t>
          </a:r>
          <a:r>
            <a:rPr lang="fr-CH" sz="2000" dirty="0"/>
            <a:t> (POI) </a:t>
          </a:r>
          <a:endParaRPr lang="en-US" sz="2000" dirty="0"/>
        </a:p>
      </dgm:t>
    </dgm:pt>
    <dgm:pt modelId="{874C9894-94B6-42CC-B8D0-400E1D54079E}" type="parTrans" cxnId="{F3787362-5CE9-48E2-99AE-A2FA95701E60}">
      <dgm:prSet/>
      <dgm:spPr/>
      <dgm:t>
        <a:bodyPr/>
        <a:lstStyle/>
        <a:p>
          <a:endParaRPr lang="en-US" sz="2000"/>
        </a:p>
      </dgm:t>
    </dgm:pt>
    <dgm:pt modelId="{1E46E158-B5CD-4F93-9646-8137B2D6040A}" type="sibTrans" cxnId="{F3787362-5CE9-48E2-99AE-A2FA95701E60}">
      <dgm:prSet/>
      <dgm:spPr/>
      <dgm:t>
        <a:bodyPr/>
        <a:lstStyle/>
        <a:p>
          <a:endParaRPr lang="en-US" sz="2000"/>
        </a:p>
      </dgm:t>
    </dgm:pt>
    <dgm:pt modelId="{59572103-8EAB-4A50-AB21-192D24EA143A}">
      <dgm:prSet custT="1"/>
      <dgm:spPr/>
      <dgm:t>
        <a:bodyPr/>
        <a:lstStyle/>
        <a:p>
          <a:r>
            <a:rPr lang="fr-CH" sz="2000" dirty="0" err="1"/>
            <a:t>Preprocessing</a:t>
          </a:r>
          <a:r>
            <a:rPr lang="fr-CH" sz="2000" dirty="0"/>
            <a:t> of </a:t>
          </a:r>
          <a:r>
            <a:rPr lang="fr-CH" sz="2000" dirty="0" err="1"/>
            <a:t>collected</a:t>
          </a:r>
          <a:r>
            <a:rPr lang="fr-CH" sz="2000" dirty="0"/>
            <a:t> data (segmentation, </a:t>
          </a:r>
          <a:r>
            <a:rPr lang="fr-CH" sz="2000" dirty="0" err="1"/>
            <a:t>categorization</a:t>
          </a:r>
          <a:r>
            <a:rPr lang="fr-CH" sz="2000" dirty="0"/>
            <a:t> of </a:t>
          </a:r>
          <a:r>
            <a:rPr lang="fr-CH" sz="2000" dirty="0" err="1"/>
            <a:t>visited</a:t>
          </a:r>
          <a:r>
            <a:rPr lang="fr-CH" sz="2000" dirty="0"/>
            <a:t> points, </a:t>
          </a:r>
          <a:r>
            <a:rPr lang="fr-CH" sz="2000" dirty="0" err="1"/>
            <a:t>mobility</a:t>
          </a:r>
          <a:r>
            <a:rPr lang="fr-CH" sz="2000" dirty="0"/>
            <a:t> </a:t>
          </a:r>
          <a:r>
            <a:rPr lang="fr-CH" sz="2000" dirty="0" err="1"/>
            <a:t>shapes</a:t>
          </a:r>
          <a:r>
            <a:rPr lang="fr-CH" sz="2000" dirty="0"/>
            <a:t>)</a:t>
          </a:r>
          <a:endParaRPr lang="en-US" sz="2000" dirty="0"/>
        </a:p>
      </dgm:t>
    </dgm:pt>
    <dgm:pt modelId="{B2F725CF-E266-4785-A60F-B2DFB20F05FF}" type="parTrans" cxnId="{8BEE4CFB-C7E5-4B83-9139-EA0C3E2FA37B}">
      <dgm:prSet/>
      <dgm:spPr/>
      <dgm:t>
        <a:bodyPr/>
        <a:lstStyle/>
        <a:p>
          <a:endParaRPr lang="en-US" sz="2000"/>
        </a:p>
      </dgm:t>
    </dgm:pt>
    <dgm:pt modelId="{8E8FBB87-05BE-4819-88DE-3D62EAC3E751}" type="sibTrans" cxnId="{8BEE4CFB-C7E5-4B83-9139-EA0C3E2FA37B}">
      <dgm:prSet/>
      <dgm:spPr/>
      <dgm:t>
        <a:bodyPr/>
        <a:lstStyle/>
        <a:p>
          <a:endParaRPr lang="en-US" sz="2000"/>
        </a:p>
      </dgm:t>
    </dgm:pt>
    <dgm:pt modelId="{4B1E9948-2C1F-48C7-9BF9-20B8B7DAEB5F}">
      <dgm:prSet custT="1"/>
      <dgm:spPr/>
      <dgm:t>
        <a:bodyPr/>
        <a:lstStyle/>
        <a:p>
          <a:r>
            <a:rPr lang="fr-CH" sz="2000" dirty="0" err="1"/>
            <a:t>Join</a:t>
          </a:r>
          <a:r>
            <a:rPr lang="fr-CH" sz="2000" dirty="0"/>
            <a:t> </a:t>
          </a:r>
          <a:r>
            <a:rPr lang="fr-CH" sz="2000" dirty="0" err="1"/>
            <a:t>both</a:t>
          </a:r>
          <a:r>
            <a:rPr lang="fr-CH" sz="2000" dirty="0"/>
            <a:t> </a:t>
          </a:r>
          <a:r>
            <a:rPr lang="fr-CH" sz="2000" dirty="0" err="1"/>
            <a:t>datasets</a:t>
          </a:r>
          <a:r>
            <a:rPr lang="fr-CH" sz="2000" dirty="0"/>
            <a:t> </a:t>
          </a:r>
          <a:endParaRPr lang="en-US" sz="2000" dirty="0"/>
        </a:p>
      </dgm:t>
    </dgm:pt>
    <dgm:pt modelId="{209C82A6-A847-4401-95BD-B70D8C180633}" type="parTrans" cxnId="{327CA09F-05CE-4202-9582-3D4D816260FB}">
      <dgm:prSet/>
      <dgm:spPr/>
      <dgm:t>
        <a:bodyPr/>
        <a:lstStyle/>
        <a:p>
          <a:endParaRPr lang="en-US" sz="2000"/>
        </a:p>
      </dgm:t>
    </dgm:pt>
    <dgm:pt modelId="{E55ED0DF-D70F-4199-A2A4-04EB4B2367CB}" type="sibTrans" cxnId="{327CA09F-05CE-4202-9582-3D4D816260FB}">
      <dgm:prSet/>
      <dgm:spPr/>
      <dgm:t>
        <a:bodyPr/>
        <a:lstStyle/>
        <a:p>
          <a:endParaRPr lang="en-US" sz="2000"/>
        </a:p>
      </dgm:t>
    </dgm:pt>
    <dgm:pt modelId="{A40C8A38-7AAB-4A1C-B39A-DBED66B60A11}">
      <dgm:prSet custT="1"/>
      <dgm:spPr/>
      <dgm:t>
        <a:bodyPr/>
        <a:lstStyle/>
        <a:p>
          <a:r>
            <a:rPr lang="fr-CH" sz="2000" dirty="0" err="1"/>
            <a:t>Analysis</a:t>
          </a:r>
          <a:r>
            <a:rPr lang="fr-CH" sz="2000" dirty="0"/>
            <a:t> and computation of </a:t>
          </a:r>
          <a:r>
            <a:rPr lang="fr-CH" sz="2000" dirty="0" err="1"/>
            <a:t>theoretical</a:t>
          </a:r>
          <a:r>
            <a:rPr lang="fr-CH" sz="2000" dirty="0"/>
            <a:t> </a:t>
          </a:r>
          <a:r>
            <a:rPr lang="fr-CH" sz="2000" dirty="0" err="1"/>
            <a:t>accessibility</a:t>
          </a:r>
          <a:r>
            <a:rPr lang="fr-CH" sz="2000" dirty="0"/>
            <a:t> and </a:t>
          </a:r>
          <a:r>
            <a:rPr lang="fr-CH" sz="2000" dirty="0" err="1"/>
            <a:t>practical</a:t>
          </a:r>
          <a:r>
            <a:rPr lang="fr-CH" sz="2000" dirty="0"/>
            <a:t> </a:t>
          </a:r>
          <a:r>
            <a:rPr lang="fr-CH" sz="2000" dirty="0" err="1"/>
            <a:t>mobility</a:t>
          </a:r>
          <a:endParaRPr lang="en-US" sz="2000" dirty="0"/>
        </a:p>
      </dgm:t>
    </dgm:pt>
    <dgm:pt modelId="{E5A7B580-C647-42C1-94EA-2AD96FD66632}" type="parTrans" cxnId="{1ECB5511-AEE1-4BBA-B91B-D516215FE7D6}">
      <dgm:prSet/>
      <dgm:spPr/>
      <dgm:t>
        <a:bodyPr/>
        <a:lstStyle/>
        <a:p>
          <a:endParaRPr lang="en-US" sz="2000"/>
        </a:p>
      </dgm:t>
    </dgm:pt>
    <dgm:pt modelId="{30FCC906-E4C0-41AD-A5E6-88449F9BC921}" type="sibTrans" cxnId="{1ECB5511-AEE1-4BBA-B91B-D516215FE7D6}">
      <dgm:prSet/>
      <dgm:spPr/>
      <dgm:t>
        <a:bodyPr/>
        <a:lstStyle/>
        <a:p>
          <a:endParaRPr lang="en-US" sz="2000"/>
        </a:p>
      </dgm:t>
    </dgm:pt>
    <dgm:pt modelId="{9C10C83C-4CC6-4F15-8AF1-7FD6A002DF74}">
      <dgm:prSet custT="1"/>
      <dgm:spPr/>
      <dgm:t>
        <a:bodyPr/>
        <a:lstStyle/>
        <a:p>
          <a:r>
            <a:rPr lang="fr-CH" sz="2000" dirty="0" err="1"/>
            <a:t>Results</a:t>
          </a:r>
          <a:r>
            <a:rPr lang="fr-CH" sz="2000" dirty="0"/>
            <a:t> visualisation</a:t>
          </a:r>
          <a:endParaRPr lang="en-US" sz="2000" dirty="0"/>
        </a:p>
      </dgm:t>
    </dgm:pt>
    <dgm:pt modelId="{94AAFD55-CB7E-4451-A6C0-1C474555A3A7}" type="parTrans" cxnId="{2037D8ED-C68E-4416-A81A-988785FE4213}">
      <dgm:prSet/>
      <dgm:spPr/>
      <dgm:t>
        <a:bodyPr/>
        <a:lstStyle/>
        <a:p>
          <a:endParaRPr lang="en-US" sz="2000"/>
        </a:p>
      </dgm:t>
    </dgm:pt>
    <dgm:pt modelId="{9D13E348-B2C6-429B-8C6A-041A56D697BD}" type="sibTrans" cxnId="{2037D8ED-C68E-4416-A81A-988785FE4213}">
      <dgm:prSet/>
      <dgm:spPr/>
      <dgm:t>
        <a:bodyPr/>
        <a:lstStyle/>
        <a:p>
          <a:endParaRPr lang="en-US" sz="2000"/>
        </a:p>
      </dgm:t>
    </dgm:pt>
    <dgm:pt modelId="{2DC07872-A69E-402A-96DD-C56028D57122}" type="pres">
      <dgm:prSet presAssocID="{72C74514-7E59-43DD-81F2-44D5759C1824}" presName="linear" presStyleCnt="0">
        <dgm:presLayoutVars>
          <dgm:animLvl val="lvl"/>
          <dgm:resizeHandles val="exact"/>
        </dgm:presLayoutVars>
      </dgm:prSet>
      <dgm:spPr/>
    </dgm:pt>
    <dgm:pt modelId="{246B3F6D-7E01-4EA4-AD38-6D0AD826CB2B}" type="pres">
      <dgm:prSet presAssocID="{12C6A796-E05E-4109-83A5-CA6732F07DCC}" presName="parentText" presStyleLbl="node1" presStyleIdx="0" presStyleCnt="7" custLinFactNeighborX="-573" custLinFactNeighborY="28403">
        <dgm:presLayoutVars>
          <dgm:chMax val="0"/>
          <dgm:bulletEnabled val="1"/>
        </dgm:presLayoutVars>
      </dgm:prSet>
      <dgm:spPr/>
    </dgm:pt>
    <dgm:pt modelId="{41FFD712-3018-4F8A-87A9-F9938E32B3BA}" type="pres">
      <dgm:prSet presAssocID="{13D06279-7FFC-4E91-975B-C5F631451C36}" presName="spacer" presStyleCnt="0"/>
      <dgm:spPr/>
    </dgm:pt>
    <dgm:pt modelId="{1492B98B-63EB-43A1-8A5D-476D085DE6CB}" type="pres">
      <dgm:prSet presAssocID="{41B0F318-681F-480C-ACBE-4C24B27636D0}" presName="parentText" presStyleLbl="node1" presStyleIdx="1" presStyleCnt="7">
        <dgm:presLayoutVars>
          <dgm:chMax val="0"/>
          <dgm:bulletEnabled val="1"/>
        </dgm:presLayoutVars>
      </dgm:prSet>
      <dgm:spPr/>
    </dgm:pt>
    <dgm:pt modelId="{98513353-E4E7-475B-B9F1-9C2D00380F56}" type="pres">
      <dgm:prSet presAssocID="{207A3D5B-4122-4CE8-B141-67DFCED8E158}" presName="spacer" presStyleCnt="0"/>
      <dgm:spPr/>
    </dgm:pt>
    <dgm:pt modelId="{0226B3E9-17B7-42EC-B955-CDCAEF4B2B67}" type="pres">
      <dgm:prSet presAssocID="{7157FA5E-C5A4-4039-9621-57EE8A1E448F}" presName="parentText" presStyleLbl="node1" presStyleIdx="2" presStyleCnt="7">
        <dgm:presLayoutVars>
          <dgm:chMax val="0"/>
          <dgm:bulletEnabled val="1"/>
        </dgm:presLayoutVars>
      </dgm:prSet>
      <dgm:spPr/>
    </dgm:pt>
    <dgm:pt modelId="{D3DEECF9-42A9-48EF-A0C8-AF0D7F16E2EA}" type="pres">
      <dgm:prSet presAssocID="{1E46E158-B5CD-4F93-9646-8137B2D6040A}" presName="spacer" presStyleCnt="0"/>
      <dgm:spPr/>
    </dgm:pt>
    <dgm:pt modelId="{97E83598-7549-4D53-BBE1-0E6AEBC831C5}" type="pres">
      <dgm:prSet presAssocID="{59572103-8EAB-4A50-AB21-192D24EA143A}" presName="parentText" presStyleLbl="node1" presStyleIdx="3" presStyleCnt="7">
        <dgm:presLayoutVars>
          <dgm:chMax val="0"/>
          <dgm:bulletEnabled val="1"/>
        </dgm:presLayoutVars>
      </dgm:prSet>
      <dgm:spPr/>
    </dgm:pt>
    <dgm:pt modelId="{8D81D927-B2FA-4A4B-B2D0-10300F7337DE}" type="pres">
      <dgm:prSet presAssocID="{8E8FBB87-05BE-4819-88DE-3D62EAC3E751}" presName="spacer" presStyleCnt="0"/>
      <dgm:spPr/>
    </dgm:pt>
    <dgm:pt modelId="{ED8365DF-6489-4474-AD72-A519E8BD5BF3}" type="pres">
      <dgm:prSet presAssocID="{4B1E9948-2C1F-48C7-9BF9-20B8B7DAEB5F}" presName="parentText" presStyleLbl="node1" presStyleIdx="4" presStyleCnt="7">
        <dgm:presLayoutVars>
          <dgm:chMax val="0"/>
          <dgm:bulletEnabled val="1"/>
        </dgm:presLayoutVars>
      </dgm:prSet>
      <dgm:spPr/>
    </dgm:pt>
    <dgm:pt modelId="{0DA84FBE-DDCE-42A0-A858-D691D521C2ED}" type="pres">
      <dgm:prSet presAssocID="{E55ED0DF-D70F-4199-A2A4-04EB4B2367CB}" presName="spacer" presStyleCnt="0"/>
      <dgm:spPr/>
    </dgm:pt>
    <dgm:pt modelId="{4600E2F4-4816-42E1-84E1-9746CD5EE6E1}" type="pres">
      <dgm:prSet presAssocID="{A40C8A38-7AAB-4A1C-B39A-DBED66B60A11}" presName="parentText" presStyleLbl="node1" presStyleIdx="5" presStyleCnt="7">
        <dgm:presLayoutVars>
          <dgm:chMax val="0"/>
          <dgm:bulletEnabled val="1"/>
        </dgm:presLayoutVars>
      </dgm:prSet>
      <dgm:spPr/>
    </dgm:pt>
    <dgm:pt modelId="{166791EB-AD0F-434E-8229-A35C8F8D8F23}" type="pres">
      <dgm:prSet presAssocID="{30FCC906-E4C0-41AD-A5E6-88449F9BC921}" presName="spacer" presStyleCnt="0"/>
      <dgm:spPr/>
    </dgm:pt>
    <dgm:pt modelId="{3DD9623C-BD4B-4DD5-BA45-58C18A024881}" type="pres">
      <dgm:prSet presAssocID="{9C10C83C-4CC6-4F15-8AF1-7FD6A002DF74}" presName="parentText" presStyleLbl="node1" presStyleIdx="6" presStyleCnt="7">
        <dgm:presLayoutVars>
          <dgm:chMax val="0"/>
          <dgm:bulletEnabled val="1"/>
        </dgm:presLayoutVars>
      </dgm:prSet>
      <dgm:spPr/>
    </dgm:pt>
  </dgm:ptLst>
  <dgm:cxnLst>
    <dgm:cxn modelId="{1ECB5511-AEE1-4BBA-B91B-D516215FE7D6}" srcId="{72C74514-7E59-43DD-81F2-44D5759C1824}" destId="{A40C8A38-7AAB-4A1C-B39A-DBED66B60A11}" srcOrd="5" destOrd="0" parTransId="{E5A7B580-C647-42C1-94EA-2AD96FD66632}" sibTransId="{30FCC906-E4C0-41AD-A5E6-88449F9BC921}"/>
    <dgm:cxn modelId="{B039D11B-C065-4DB7-9C3F-9C1F1452DDD1}" srcId="{72C74514-7E59-43DD-81F2-44D5759C1824}" destId="{12C6A796-E05E-4109-83A5-CA6732F07DCC}" srcOrd="0" destOrd="0" parTransId="{A758E241-A4DE-442B-90CA-0C9C5F9396E7}" sibTransId="{13D06279-7FFC-4E91-975B-C5F631451C36}"/>
    <dgm:cxn modelId="{E5A2F242-6C0F-452E-9348-36AAA3844FB6}" type="presOf" srcId="{59572103-8EAB-4A50-AB21-192D24EA143A}" destId="{97E83598-7549-4D53-BBE1-0E6AEBC831C5}" srcOrd="0" destOrd="0" presId="urn:microsoft.com/office/officeart/2005/8/layout/vList2"/>
    <dgm:cxn modelId="{95C9FA46-ECF1-4D14-8548-452CDC7D2175}" srcId="{72C74514-7E59-43DD-81F2-44D5759C1824}" destId="{41B0F318-681F-480C-ACBE-4C24B27636D0}" srcOrd="1" destOrd="0" parTransId="{0D659330-D588-4B5E-A5C6-35292AF1DC95}" sibTransId="{207A3D5B-4122-4CE8-B141-67DFCED8E158}"/>
    <dgm:cxn modelId="{F3787362-5CE9-48E2-99AE-A2FA95701E60}" srcId="{72C74514-7E59-43DD-81F2-44D5759C1824}" destId="{7157FA5E-C5A4-4039-9621-57EE8A1E448F}" srcOrd="2" destOrd="0" parTransId="{874C9894-94B6-42CC-B8D0-400E1D54079E}" sibTransId="{1E46E158-B5CD-4F93-9646-8137B2D6040A}"/>
    <dgm:cxn modelId="{CE80F663-3A3B-4D24-B6E6-0C77D0FB47EC}" type="presOf" srcId="{A40C8A38-7AAB-4A1C-B39A-DBED66B60A11}" destId="{4600E2F4-4816-42E1-84E1-9746CD5EE6E1}" srcOrd="0" destOrd="0" presId="urn:microsoft.com/office/officeart/2005/8/layout/vList2"/>
    <dgm:cxn modelId="{E714E36B-BA29-4B1C-A5A6-DC818E048543}" type="presOf" srcId="{72C74514-7E59-43DD-81F2-44D5759C1824}" destId="{2DC07872-A69E-402A-96DD-C56028D57122}" srcOrd="0" destOrd="0" presId="urn:microsoft.com/office/officeart/2005/8/layout/vList2"/>
    <dgm:cxn modelId="{676CAB7E-46F8-4503-A039-13561D369C78}" type="presOf" srcId="{12C6A796-E05E-4109-83A5-CA6732F07DCC}" destId="{246B3F6D-7E01-4EA4-AD38-6D0AD826CB2B}" srcOrd="0" destOrd="0" presId="urn:microsoft.com/office/officeart/2005/8/layout/vList2"/>
    <dgm:cxn modelId="{98AFD998-7383-4817-8CB5-6E3ABE5884B8}" type="presOf" srcId="{7157FA5E-C5A4-4039-9621-57EE8A1E448F}" destId="{0226B3E9-17B7-42EC-B955-CDCAEF4B2B67}" srcOrd="0" destOrd="0" presId="urn:microsoft.com/office/officeart/2005/8/layout/vList2"/>
    <dgm:cxn modelId="{327CA09F-05CE-4202-9582-3D4D816260FB}" srcId="{72C74514-7E59-43DD-81F2-44D5759C1824}" destId="{4B1E9948-2C1F-48C7-9BF9-20B8B7DAEB5F}" srcOrd="4" destOrd="0" parTransId="{209C82A6-A847-4401-95BD-B70D8C180633}" sibTransId="{E55ED0DF-D70F-4199-A2A4-04EB4B2367CB}"/>
    <dgm:cxn modelId="{D1A120A2-3773-4B16-A081-9D5685568011}" type="presOf" srcId="{4B1E9948-2C1F-48C7-9BF9-20B8B7DAEB5F}" destId="{ED8365DF-6489-4474-AD72-A519E8BD5BF3}" srcOrd="0" destOrd="0" presId="urn:microsoft.com/office/officeart/2005/8/layout/vList2"/>
    <dgm:cxn modelId="{0CE97AC5-ABE1-4091-9C68-7930E305F93D}" type="presOf" srcId="{9C10C83C-4CC6-4F15-8AF1-7FD6A002DF74}" destId="{3DD9623C-BD4B-4DD5-BA45-58C18A024881}" srcOrd="0" destOrd="0" presId="urn:microsoft.com/office/officeart/2005/8/layout/vList2"/>
    <dgm:cxn modelId="{484203CC-9915-4598-B3DC-D317ECE99FF9}" type="presOf" srcId="{41B0F318-681F-480C-ACBE-4C24B27636D0}" destId="{1492B98B-63EB-43A1-8A5D-476D085DE6CB}" srcOrd="0" destOrd="0" presId="urn:microsoft.com/office/officeart/2005/8/layout/vList2"/>
    <dgm:cxn modelId="{2037D8ED-C68E-4416-A81A-988785FE4213}" srcId="{72C74514-7E59-43DD-81F2-44D5759C1824}" destId="{9C10C83C-4CC6-4F15-8AF1-7FD6A002DF74}" srcOrd="6" destOrd="0" parTransId="{94AAFD55-CB7E-4451-A6C0-1C474555A3A7}" sibTransId="{9D13E348-B2C6-429B-8C6A-041A56D697BD}"/>
    <dgm:cxn modelId="{8BEE4CFB-C7E5-4B83-9139-EA0C3E2FA37B}" srcId="{72C74514-7E59-43DD-81F2-44D5759C1824}" destId="{59572103-8EAB-4A50-AB21-192D24EA143A}" srcOrd="3" destOrd="0" parTransId="{B2F725CF-E266-4785-A60F-B2DFB20F05FF}" sibTransId="{8E8FBB87-05BE-4819-88DE-3D62EAC3E751}"/>
    <dgm:cxn modelId="{1C2DFA0A-42E7-4CFD-9079-26EDE112FEA2}" type="presParOf" srcId="{2DC07872-A69E-402A-96DD-C56028D57122}" destId="{246B3F6D-7E01-4EA4-AD38-6D0AD826CB2B}" srcOrd="0" destOrd="0" presId="urn:microsoft.com/office/officeart/2005/8/layout/vList2"/>
    <dgm:cxn modelId="{4E0527D0-2581-42EA-9113-11C15978913A}" type="presParOf" srcId="{2DC07872-A69E-402A-96DD-C56028D57122}" destId="{41FFD712-3018-4F8A-87A9-F9938E32B3BA}" srcOrd="1" destOrd="0" presId="urn:microsoft.com/office/officeart/2005/8/layout/vList2"/>
    <dgm:cxn modelId="{963CA133-4267-4FD0-9C33-9C1E2022D06D}" type="presParOf" srcId="{2DC07872-A69E-402A-96DD-C56028D57122}" destId="{1492B98B-63EB-43A1-8A5D-476D085DE6CB}" srcOrd="2" destOrd="0" presId="urn:microsoft.com/office/officeart/2005/8/layout/vList2"/>
    <dgm:cxn modelId="{C8B643D3-18B9-47A7-BE97-FE6696DDB36C}" type="presParOf" srcId="{2DC07872-A69E-402A-96DD-C56028D57122}" destId="{98513353-E4E7-475B-B9F1-9C2D00380F56}" srcOrd="3" destOrd="0" presId="urn:microsoft.com/office/officeart/2005/8/layout/vList2"/>
    <dgm:cxn modelId="{D9871862-C74D-4C10-A979-8065D7835294}" type="presParOf" srcId="{2DC07872-A69E-402A-96DD-C56028D57122}" destId="{0226B3E9-17B7-42EC-B955-CDCAEF4B2B67}" srcOrd="4" destOrd="0" presId="urn:microsoft.com/office/officeart/2005/8/layout/vList2"/>
    <dgm:cxn modelId="{E1658604-B125-4EAB-9524-0467F3D418E9}" type="presParOf" srcId="{2DC07872-A69E-402A-96DD-C56028D57122}" destId="{D3DEECF9-42A9-48EF-A0C8-AF0D7F16E2EA}" srcOrd="5" destOrd="0" presId="urn:microsoft.com/office/officeart/2005/8/layout/vList2"/>
    <dgm:cxn modelId="{48513E78-8140-4294-818F-12E544F4AA28}" type="presParOf" srcId="{2DC07872-A69E-402A-96DD-C56028D57122}" destId="{97E83598-7549-4D53-BBE1-0E6AEBC831C5}" srcOrd="6" destOrd="0" presId="urn:microsoft.com/office/officeart/2005/8/layout/vList2"/>
    <dgm:cxn modelId="{55AE8177-46A0-4C10-8236-B1CEABEDF7E5}" type="presParOf" srcId="{2DC07872-A69E-402A-96DD-C56028D57122}" destId="{8D81D927-B2FA-4A4B-B2D0-10300F7337DE}" srcOrd="7" destOrd="0" presId="urn:microsoft.com/office/officeart/2005/8/layout/vList2"/>
    <dgm:cxn modelId="{AD8B4F1F-C96C-49B9-9064-ED74B11306E1}" type="presParOf" srcId="{2DC07872-A69E-402A-96DD-C56028D57122}" destId="{ED8365DF-6489-4474-AD72-A519E8BD5BF3}" srcOrd="8" destOrd="0" presId="urn:microsoft.com/office/officeart/2005/8/layout/vList2"/>
    <dgm:cxn modelId="{DA08E024-C7EE-4C11-8FD6-87761953B78B}" type="presParOf" srcId="{2DC07872-A69E-402A-96DD-C56028D57122}" destId="{0DA84FBE-DDCE-42A0-A858-D691D521C2ED}" srcOrd="9" destOrd="0" presId="urn:microsoft.com/office/officeart/2005/8/layout/vList2"/>
    <dgm:cxn modelId="{ABCCB9E7-5916-40CA-A657-8E7447B7116B}" type="presParOf" srcId="{2DC07872-A69E-402A-96DD-C56028D57122}" destId="{4600E2F4-4816-42E1-84E1-9746CD5EE6E1}" srcOrd="10" destOrd="0" presId="urn:microsoft.com/office/officeart/2005/8/layout/vList2"/>
    <dgm:cxn modelId="{5A4F766A-DDAC-4755-85EA-69D89DCF6A19}" type="presParOf" srcId="{2DC07872-A69E-402A-96DD-C56028D57122}" destId="{166791EB-AD0F-434E-8229-A35C8F8D8F23}" srcOrd="11" destOrd="0" presId="urn:microsoft.com/office/officeart/2005/8/layout/vList2"/>
    <dgm:cxn modelId="{34D42594-0F56-4F41-AD6C-AF86F21609E7}" type="presParOf" srcId="{2DC07872-A69E-402A-96DD-C56028D57122}" destId="{3DD9623C-BD4B-4DD5-BA45-58C18A024881}" srcOrd="12"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6B3F6D-7E01-4EA4-AD38-6D0AD826CB2B}">
      <dsp:nvSpPr>
        <dsp:cNvPr id="0" name=""/>
        <dsp:cNvSpPr/>
      </dsp:nvSpPr>
      <dsp:spPr>
        <a:xfrm>
          <a:off x="0" y="3160"/>
          <a:ext cx="10515600" cy="61215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a:t>Collection of data of  </a:t>
          </a:r>
          <a:r>
            <a:rPr lang="fr-CH" sz="2000" kern="1200" dirty="0" err="1"/>
            <a:t>trajectory</a:t>
          </a:r>
          <a:r>
            <a:rPr lang="fr-CH" sz="2000" kern="1200" dirty="0"/>
            <a:t>  (google </a:t>
          </a:r>
          <a:r>
            <a:rPr lang="fr-CH" sz="2000" kern="1200" dirty="0" err="1"/>
            <a:t>maps</a:t>
          </a:r>
          <a:r>
            <a:rPr lang="fr-CH" sz="2000" kern="1200" dirty="0"/>
            <a:t>) </a:t>
          </a:r>
          <a:endParaRPr lang="en-US" sz="2000" kern="1200" dirty="0"/>
        </a:p>
      </dsp:txBody>
      <dsp:txXfrm>
        <a:off x="29883" y="33043"/>
        <a:ext cx="10455834" cy="552384"/>
      </dsp:txXfrm>
    </dsp:sp>
    <dsp:sp modelId="{1492B98B-63EB-43A1-8A5D-476D085DE6CB}">
      <dsp:nvSpPr>
        <dsp:cNvPr id="0" name=""/>
        <dsp:cNvSpPr/>
      </dsp:nvSpPr>
      <dsp:spPr>
        <a:xfrm>
          <a:off x="0" y="623214"/>
          <a:ext cx="10515600" cy="61215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Creation</a:t>
          </a:r>
          <a:r>
            <a:rPr lang="fr-CH" sz="2000" kern="1200" dirty="0"/>
            <a:t> of isochrones (15-minute </a:t>
          </a:r>
          <a:r>
            <a:rPr lang="fr-CH" sz="2000" kern="1200" dirty="0" err="1"/>
            <a:t>accesibility</a:t>
          </a:r>
          <a:r>
            <a:rPr lang="fr-CH" sz="2000" kern="1200" dirty="0"/>
            <a:t> zones)</a:t>
          </a:r>
          <a:endParaRPr lang="en-US" sz="2000" kern="1200" dirty="0"/>
        </a:p>
      </dsp:txBody>
      <dsp:txXfrm>
        <a:off x="29883" y="653097"/>
        <a:ext cx="10455834" cy="552384"/>
      </dsp:txXfrm>
    </dsp:sp>
    <dsp:sp modelId="{0226B3E9-17B7-42EC-B955-CDCAEF4B2B67}">
      <dsp:nvSpPr>
        <dsp:cNvPr id="0" name=""/>
        <dsp:cNvSpPr/>
      </dsp:nvSpPr>
      <dsp:spPr>
        <a:xfrm>
          <a:off x="0" y="1246404"/>
          <a:ext cx="10515600" cy="61215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Detection</a:t>
          </a:r>
          <a:r>
            <a:rPr lang="fr-CH" sz="2000" kern="1200" dirty="0"/>
            <a:t> of point of </a:t>
          </a:r>
          <a:r>
            <a:rPr lang="fr-CH" sz="2000" kern="1200" dirty="0" err="1"/>
            <a:t>interests</a:t>
          </a:r>
          <a:r>
            <a:rPr lang="fr-CH" sz="2000" kern="1200" dirty="0"/>
            <a:t> (POI) </a:t>
          </a:r>
          <a:endParaRPr lang="en-US" sz="2000" kern="1200" dirty="0"/>
        </a:p>
      </dsp:txBody>
      <dsp:txXfrm>
        <a:off x="29883" y="1276287"/>
        <a:ext cx="10455834" cy="552384"/>
      </dsp:txXfrm>
    </dsp:sp>
    <dsp:sp modelId="{97E83598-7549-4D53-BBE1-0E6AEBC831C5}">
      <dsp:nvSpPr>
        <dsp:cNvPr id="0" name=""/>
        <dsp:cNvSpPr/>
      </dsp:nvSpPr>
      <dsp:spPr>
        <a:xfrm>
          <a:off x="0" y="1869593"/>
          <a:ext cx="10515600" cy="61215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Preprocessing</a:t>
          </a:r>
          <a:r>
            <a:rPr lang="fr-CH" sz="2000" kern="1200" dirty="0"/>
            <a:t> of </a:t>
          </a:r>
          <a:r>
            <a:rPr lang="fr-CH" sz="2000" kern="1200" dirty="0" err="1"/>
            <a:t>collected</a:t>
          </a:r>
          <a:r>
            <a:rPr lang="fr-CH" sz="2000" kern="1200" dirty="0"/>
            <a:t> data (segmentation, </a:t>
          </a:r>
          <a:r>
            <a:rPr lang="fr-CH" sz="2000" kern="1200" dirty="0" err="1"/>
            <a:t>categorization</a:t>
          </a:r>
          <a:r>
            <a:rPr lang="fr-CH" sz="2000" kern="1200" dirty="0"/>
            <a:t> of </a:t>
          </a:r>
          <a:r>
            <a:rPr lang="fr-CH" sz="2000" kern="1200" dirty="0" err="1"/>
            <a:t>visited</a:t>
          </a:r>
          <a:r>
            <a:rPr lang="fr-CH" sz="2000" kern="1200" dirty="0"/>
            <a:t> points, </a:t>
          </a:r>
          <a:r>
            <a:rPr lang="fr-CH" sz="2000" kern="1200" dirty="0" err="1"/>
            <a:t>mobility</a:t>
          </a:r>
          <a:r>
            <a:rPr lang="fr-CH" sz="2000" kern="1200" dirty="0"/>
            <a:t> </a:t>
          </a:r>
          <a:r>
            <a:rPr lang="fr-CH" sz="2000" kern="1200" dirty="0" err="1"/>
            <a:t>shapes</a:t>
          </a:r>
          <a:r>
            <a:rPr lang="fr-CH" sz="2000" kern="1200" dirty="0"/>
            <a:t>)</a:t>
          </a:r>
          <a:endParaRPr lang="en-US" sz="2000" kern="1200" dirty="0"/>
        </a:p>
      </dsp:txBody>
      <dsp:txXfrm>
        <a:off x="29883" y="1899476"/>
        <a:ext cx="10455834" cy="552384"/>
      </dsp:txXfrm>
    </dsp:sp>
    <dsp:sp modelId="{ED8365DF-6489-4474-AD72-A519E8BD5BF3}">
      <dsp:nvSpPr>
        <dsp:cNvPr id="0" name=""/>
        <dsp:cNvSpPr/>
      </dsp:nvSpPr>
      <dsp:spPr>
        <a:xfrm>
          <a:off x="0" y="2492783"/>
          <a:ext cx="10515600" cy="61215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Join</a:t>
          </a:r>
          <a:r>
            <a:rPr lang="fr-CH" sz="2000" kern="1200" dirty="0"/>
            <a:t> </a:t>
          </a:r>
          <a:r>
            <a:rPr lang="fr-CH" sz="2000" kern="1200" dirty="0" err="1"/>
            <a:t>both</a:t>
          </a:r>
          <a:r>
            <a:rPr lang="fr-CH" sz="2000" kern="1200" dirty="0"/>
            <a:t> </a:t>
          </a:r>
          <a:r>
            <a:rPr lang="fr-CH" sz="2000" kern="1200" dirty="0" err="1"/>
            <a:t>datasets</a:t>
          </a:r>
          <a:r>
            <a:rPr lang="fr-CH" sz="2000" kern="1200" dirty="0"/>
            <a:t> </a:t>
          </a:r>
          <a:endParaRPr lang="en-US" sz="2000" kern="1200" dirty="0"/>
        </a:p>
      </dsp:txBody>
      <dsp:txXfrm>
        <a:off x="29883" y="2522666"/>
        <a:ext cx="10455834" cy="552384"/>
      </dsp:txXfrm>
    </dsp:sp>
    <dsp:sp modelId="{4600E2F4-4816-42E1-84E1-9746CD5EE6E1}">
      <dsp:nvSpPr>
        <dsp:cNvPr id="0" name=""/>
        <dsp:cNvSpPr/>
      </dsp:nvSpPr>
      <dsp:spPr>
        <a:xfrm>
          <a:off x="0" y="3115972"/>
          <a:ext cx="10515600" cy="61215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Analysis</a:t>
          </a:r>
          <a:r>
            <a:rPr lang="fr-CH" sz="2000" kern="1200" dirty="0"/>
            <a:t> and computation of </a:t>
          </a:r>
          <a:r>
            <a:rPr lang="fr-CH" sz="2000" kern="1200" dirty="0" err="1"/>
            <a:t>theoretical</a:t>
          </a:r>
          <a:r>
            <a:rPr lang="fr-CH" sz="2000" kern="1200" dirty="0"/>
            <a:t> </a:t>
          </a:r>
          <a:r>
            <a:rPr lang="fr-CH" sz="2000" kern="1200" dirty="0" err="1"/>
            <a:t>accessibility</a:t>
          </a:r>
          <a:r>
            <a:rPr lang="fr-CH" sz="2000" kern="1200" dirty="0"/>
            <a:t> and </a:t>
          </a:r>
          <a:r>
            <a:rPr lang="fr-CH" sz="2000" kern="1200" dirty="0" err="1"/>
            <a:t>practical</a:t>
          </a:r>
          <a:r>
            <a:rPr lang="fr-CH" sz="2000" kern="1200" dirty="0"/>
            <a:t> </a:t>
          </a:r>
          <a:r>
            <a:rPr lang="fr-CH" sz="2000" kern="1200" dirty="0" err="1"/>
            <a:t>mobility</a:t>
          </a:r>
          <a:endParaRPr lang="en-US" sz="2000" kern="1200" dirty="0"/>
        </a:p>
      </dsp:txBody>
      <dsp:txXfrm>
        <a:off x="29883" y="3145855"/>
        <a:ext cx="10455834" cy="552384"/>
      </dsp:txXfrm>
    </dsp:sp>
    <dsp:sp modelId="{3DD9623C-BD4B-4DD5-BA45-58C18A024881}">
      <dsp:nvSpPr>
        <dsp:cNvPr id="0" name=""/>
        <dsp:cNvSpPr/>
      </dsp:nvSpPr>
      <dsp:spPr>
        <a:xfrm>
          <a:off x="0" y="3739162"/>
          <a:ext cx="10515600" cy="61215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fr-CH" sz="2000" kern="1200" dirty="0" err="1"/>
            <a:t>Results</a:t>
          </a:r>
          <a:r>
            <a:rPr lang="fr-CH" sz="2000" kern="1200" dirty="0"/>
            <a:t> visualisation</a:t>
          </a:r>
          <a:endParaRPr lang="en-US" sz="2000" kern="1200" dirty="0"/>
        </a:p>
      </dsp:txBody>
      <dsp:txXfrm>
        <a:off x="29883" y="3769045"/>
        <a:ext cx="10455834" cy="55238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5DE65-3C02-ACB7-84CB-6679445174D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fr-CH"/>
          </a:p>
        </p:txBody>
      </p:sp>
      <p:sp>
        <p:nvSpPr>
          <p:cNvPr id="3" name="Subtitle 2">
            <a:extLst>
              <a:ext uri="{FF2B5EF4-FFF2-40B4-BE49-F238E27FC236}">
                <a16:creationId xmlns:a16="http://schemas.microsoft.com/office/drawing/2014/main" id="{85B91BA7-428F-AC76-4503-EB039D1311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fr-CH"/>
          </a:p>
        </p:txBody>
      </p:sp>
      <p:sp>
        <p:nvSpPr>
          <p:cNvPr id="4" name="Date Placeholder 3">
            <a:extLst>
              <a:ext uri="{FF2B5EF4-FFF2-40B4-BE49-F238E27FC236}">
                <a16:creationId xmlns:a16="http://schemas.microsoft.com/office/drawing/2014/main" id="{482333F7-75C4-0A69-336E-1FE89614A68C}"/>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F8F56C23-E522-0422-DCE1-98F990755DF5}"/>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1CAABE4-B81A-4329-1B2A-1482D9AB2E27}"/>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46499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A01A-0CA4-B54A-D8C3-46788D45D5FB}"/>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9421174B-95BA-E488-5679-FC07502A37A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17AA41B-8A38-2628-1D4E-FCB8AC88FE4F}"/>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4A699C63-D822-9BAD-4952-47AA00CAED6F}"/>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895E69B8-DC76-3165-296B-2FC7B2066FA6}"/>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45044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12A6E-7DB6-55FD-EA8B-38155DCFCAC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fr-CH"/>
          </a:p>
        </p:txBody>
      </p:sp>
      <p:sp>
        <p:nvSpPr>
          <p:cNvPr id="3" name="Text Placeholder 2">
            <a:extLst>
              <a:ext uri="{FF2B5EF4-FFF2-40B4-BE49-F238E27FC236}">
                <a16:creationId xmlns:a16="http://schemas.microsoft.com/office/drawing/2014/main" id="{66F2F25E-6139-FEB0-3827-0A73A86B6E6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6B52E1E-67BA-83CA-CB28-13247FAB576C}"/>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2A00FAD4-1957-BC3C-937B-9FE0441688E6}"/>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E40A9E41-CD99-8F89-640E-F95FC0D25C8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4161508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CCACA-1ECE-818D-21B6-1B396DF9D5EA}"/>
              </a:ext>
            </a:extLst>
          </p:cNvPr>
          <p:cNvSpPr>
            <a:spLocks noGrp="1"/>
          </p:cNvSpPr>
          <p:nvPr>
            <p:ph type="title"/>
          </p:nvPr>
        </p:nvSpPr>
        <p:spPr/>
        <p:txBody>
          <a:bodyPr/>
          <a:lstStyle/>
          <a:p>
            <a:r>
              <a:rPr lang="en-GB"/>
              <a:t>Click to edit Master title style</a:t>
            </a:r>
            <a:endParaRPr lang="fr-CH"/>
          </a:p>
        </p:txBody>
      </p:sp>
      <p:sp>
        <p:nvSpPr>
          <p:cNvPr id="3" name="Content Placeholder 2">
            <a:extLst>
              <a:ext uri="{FF2B5EF4-FFF2-40B4-BE49-F238E27FC236}">
                <a16:creationId xmlns:a16="http://schemas.microsoft.com/office/drawing/2014/main" id="{E5E124A1-7879-DF5D-E21A-E7D8094076D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Content Placeholder 3">
            <a:extLst>
              <a:ext uri="{FF2B5EF4-FFF2-40B4-BE49-F238E27FC236}">
                <a16:creationId xmlns:a16="http://schemas.microsoft.com/office/drawing/2014/main" id="{F7B9DF7C-EE99-81B1-E2C7-4275AAED816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Date Placeholder 4">
            <a:extLst>
              <a:ext uri="{FF2B5EF4-FFF2-40B4-BE49-F238E27FC236}">
                <a16:creationId xmlns:a16="http://schemas.microsoft.com/office/drawing/2014/main" id="{9CE07D51-6C22-0FC7-F634-4C356F954231}"/>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6" name="Footer Placeholder 5">
            <a:extLst>
              <a:ext uri="{FF2B5EF4-FFF2-40B4-BE49-F238E27FC236}">
                <a16:creationId xmlns:a16="http://schemas.microsoft.com/office/drawing/2014/main" id="{A5C5EED7-74D9-2837-72B8-1CF695C65630}"/>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90BA67FB-28BF-9CCB-E6C3-A62F05D2E9A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6241629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464B9-ABAD-9C95-D918-24C1AD14718C}"/>
              </a:ext>
            </a:extLst>
          </p:cNvPr>
          <p:cNvSpPr>
            <a:spLocks noGrp="1"/>
          </p:cNvSpPr>
          <p:nvPr>
            <p:ph type="title"/>
          </p:nvPr>
        </p:nvSpPr>
        <p:spPr>
          <a:xfrm>
            <a:off x="839788" y="365125"/>
            <a:ext cx="10515600" cy="1325563"/>
          </a:xfrm>
        </p:spPr>
        <p:txBody>
          <a:bodyPr/>
          <a:lstStyle/>
          <a:p>
            <a:r>
              <a:rPr lang="en-GB"/>
              <a:t>Click to edit Master title style</a:t>
            </a:r>
            <a:endParaRPr lang="fr-CH"/>
          </a:p>
        </p:txBody>
      </p:sp>
      <p:sp>
        <p:nvSpPr>
          <p:cNvPr id="3" name="Text Placeholder 2">
            <a:extLst>
              <a:ext uri="{FF2B5EF4-FFF2-40B4-BE49-F238E27FC236}">
                <a16:creationId xmlns:a16="http://schemas.microsoft.com/office/drawing/2014/main" id="{7EF2D5C3-1961-010A-AB60-2D257B9A3B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12E7A39-375E-A78E-4CF6-A8AC463DB59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5" name="Text Placeholder 4">
            <a:extLst>
              <a:ext uri="{FF2B5EF4-FFF2-40B4-BE49-F238E27FC236}">
                <a16:creationId xmlns:a16="http://schemas.microsoft.com/office/drawing/2014/main" id="{DC1113D9-9CC8-BB5E-8DB7-F3E5528E9DD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52DAFC1-F3F9-BA2E-78C2-C903313C8D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7" name="Date Placeholder 6">
            <a:extLst>
              <a:ext uri="{FF2B5EF4-FFF2-40B4-BE49-F238E27FC236}">
                <a16:creationId xmlns:a16="http://schemas.microsoft.com/office/drawing/2014/main" id="{07D488F3-FEAE-092E-85B4-2968CEE1F256}"/>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8" name="Footer Placeholder 7">
            <a:extLst>
              <a:ext uri="{FF2B5EF4-FFF2-40B4-BE49-F238E27FC236}">
                <a16:creationId xmlns:a16="http://schemas.microsoft.com/office/drawing/2014/main" id="{435876B3-B4D9-16B3-87F3-063E9B92A476}"/>
              </a:ext>
            </a:extLst>
          </p:cNvPr>
          <p:cNvSpPr>
            <a:spLocks noGrp="1"/>
          </p:cNvSpPr>
          <p:nvPr>
            <p:ph type="ftr" sz="quarter" idx="11"/>
          </p:nvPr>
        </p:nvSpPr>
        <p:spPr/>
        <p:txBody>
          <a:bodyPr/>
          <a:lstStyle/>
          <a:p>
            <a:endParaRPr lang="fr-CH"/>
          </a:p>
        </p:txBody>
      </p:sp>
      <p:sp>
        <p:nvSpPr>
          <p:cNvPr id="9" name="Slide Number Placeholder 8">
            <a:extLst>
              <a:ext uri="{FF2B5EF4-FFF2-40B4-BE49-F238E27FC236}">
                <a16:creationId xmlns:a16="http://schemas.microsoft.com/office/drawing/2014/main" id="{63160D13-615C-598D-F0BA-2A4F62E6CFCC}"/>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44701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B490-9F6B-2B0F-52F9-1CB627207310}"/>
              </a:ext>
            </a:extLst>
          </p:cNvPr>
          <p:cNvSpPr>
            <a:spLocks noGrp="1"/>
          </p:cNvSpPr>
          <p:nvPr>
            <p:ph type="title"/>
          </p:nvPr>
        </p:nvSpPr>
        <p:spPr/>
        <p:txBody>
          <a:bodyPr/>
          <a:lstStyle/>
          <a:p>
            <a:r>
              <a:rPr lang="en-GB"/>
              <a:t>Click to edit Master title style</a:t>
            </a:r>
            <a:endParaRPr lang="fr-CH"/>
          </a:p>
        </p:txBody>
      </p:sp>
      <p:sp>
        <p:nvSpPr>
          <p:cNvPr id="3" name="Date Placeholder 2">
            <a:extLst>
              <a:ext uri="{FF2B5EF4-FFF2-40B4-BE49-F238E27FC236}">
                <a16:creationId xmlns:a16="http://schemas.microsoft.com/office/drawing/2014/main" id="{D903F62A-09C4-DAEF-1658-9981A22E1E58}"/>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4" name="Footer Placeholder 3">
            <a:extLst>
              <a:ext uri="{FF2B5EF4-FFF2-40B4-BE49-F238E27FC236}">
                <a16:creationId xmlns:a16="http://schemas.microsoft.com/office/drawing/2014/main" id="{41D7F2CD-A8DB-B371-FA1A-3F26DC536AE6}"/>
              </a:ext>
            </a:extLst>
          </p:cNvPr>
          <p:cNvSpPr>
            <a:spLocks noGrp="1"/>
          </p:cNvSpPr>
          <p:nvPr>
            <p:ph type="ftr" sz="quarter" idx="11"/>
          </p:nvPr>
        </p:nvSpPr>
        <p:spPr/>
        <p:txBody>
          <a:bodyPr/>
          <a:lstStyle/>
          <a:p>
            <a:endParaRPr lang="fr-CH"/>
          </a:p>
        </p:txBody>
      </p:sp>
      <p:sp>
        <p:nvSpPr>
          <p:cNvPr id="5" name="Slide Number Placeholder 4">
            <a:extLst>
              <a:ext uri="{FF2B5EF4-FFF2-40B4-BE49-F238E27FC236}">
                <a16:creationId xmlns:a16="http://schemas.microsoft.com/office/drawing/2014/main" id="{BF2260BB-DDC7-146F-DE68-1D0917B94581}"/>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096166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4FE9B6-9034-FCCA-F58C-EBF8DF97FCDA}"/>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3" name="Footer Placeholder 2">
            <a:extLst>
              <a:ext uri="{FF2B5EF4-FFF2-40B4-BE49-F238E27FC236}">
                <a16:creationId xmlns:a16="http://schemas.microsoft.com/office/drawing/2014/main" id="{13CC75D7-CEF5-D8A2-4056-74FD8647EDBC}"/>
              </a:ext>
            </a:extLst>
          </p:cNvPr>
          <p:cNvSpPr>
            <a:spLocks noGrp="1"/>
          </p:cNvSpPr>
          <p:nvPr>
            <p:ph type="ftr" sz="quarter" idx="11"/>
          </p:nvPr>
        </p:nvSpPr>
        <p:spPr/>
        <p:txBody>
          <a:bodyPr/>
          <a:lstStyle/>
          <a:p>
            <a:endParaRPr lang="fr-CH"/>
          </a:p>
        </p:txBody>
      </p:sp>
      <p:sp>
        <p:nvSpPr>
          <p:cNvPr id="4" name="Slide Number Placeholder 3">
            <a:extLst>
              <a:ext uri="{FF2B5EF4-FFF2-40B4-BE49-F238E27FC236}">
                <a16:creationId xmlns:a16="http://schemas.microsoft.com/office/drawing/2014/main" id="{614F97B9-6CF7-7BDA-6533-331941D97709}"/>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2749168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C59F7-C169-4149-2624-366B13BCE9D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Content Placeholder 2">
            <a:extLst>
              <a:ext uri="{FF2B5EF4-FFF2-40B4-BE49-F238E27FC236}">
                <a16:creationId xmlns:a16="http://schemas.microsoft.com/office/drawing/2014/main" id="{8E559975-E51A-DBA4-CDBA-396A29F231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Text Placeholder 3">
            <a:extLst>
              <a:ext uri="{FF2B5EF4-FFF2-40B4-BE49-F238E27FC236}">
                <a16:creationId xmlns:a16="http://schemas.microsoft.com/office/drawing/2014/main" id="{5D08576E-5CF4-6FB1-D72F-3381A2BA2E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48F4847-E872-9D0F-000C-5215F528F409}"/>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6" name="Footer Placeholder 5">
            <a:extLst>
              <a:ext uri="{FF2B5EF4-FFF2-40B4-BE49-F238E27FC236}">
                <a16:creationId xmlns:a16="http://schemas.microsoft.com/office/drawing/2014/main" id="{E06DA340-3352-E4AF-5ADB-7382F53B7C5D}"/>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490F3877-B3F0-4515-28A6-7F46FDCB480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3106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44EF9-FBBD-B425-C646-B88262D1E28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CH"/>
          </a:p>
        </p:txBody>
      </p:sp>
      <p:sp>
        <p:nvSpPr>
          <p:cNvPr id="3" name="Picture Placeholder 2">
            <a:extLst>
              <a:ext uri="{FF2B5EF4-FFF2-40B4-BE49-F238E27FC236}">
                <a16:creationId xmlns:a16="http://schemas.microsoft.com/office/drawing/2014/main" id="{2208ED01-7441-6949-510E-76E8AC726C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H"/>
          </a:p>
        </p:txBody>
      </p:sp>
      <p:sp>
        <p:nvSpPr>
          <p:cNvPr id="4" name="Text Placeholder 3">
            <a:extLst>
              <a:ext uri="{FF2B5EF4-FFF2-40B4-BE49-F238E27FC236}">
                <a16:creationId xmlns:a16="http://schemas.microsoft.com/office/drawing/2014/main" id="{27178E83-B28B-FE3F-0119-414B6AF23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2A6C379-A531-029A-A562-E667CDD067EC}"/>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6" name="Footer Placeholder 5">
            <a:extLst>
              <a:ext uri="{FF2B5EF4-FFF2-40B4-BE49-F238E27FC236}">
                <a16:creationId xmlns:a16="http://schemas.microsoft.com/office/drawing/2014/main" id="{E9414E93-65B1-48AF-96D9-38861FED8A76}"/>
              </a:ext>
            </a:extLst>
          </p:cNvPr>
          <p:cNvSpPr>
            <a:spLocks noGrp="1"/>
          </p:cNvSpPr>
          <p:nvPr>
            <p:ph type="ftr" sz="quarter" idx="11"/>
          </p:nvPr>
        </p:nvSpPr>
        <p:spPr/>
        <p:txBody>
          <a:bodyPr/>
          <a:lstStyle/>
          <a:p>
            <a:endParaRPr lang="fr-CH"/>
          </a:p>
        </p:txBody>
      </p:sp>
      <p:sp>
        <p:nvSpPr>
          <p:cNvPr id="7" name="Slide Number Placeholder 6">
            <a:extLst>
              <a:ext uri="{FF2B5EF4-FFF2-40B4-BE49-F238E27FC236}">
                <a16:creationId xmlns:a16="http://schemas.microsoft.com/office/drawing/2014/main" id="{E5F31FDD-528C-49E4-AEE1-C50451C9CA25}"/>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276997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11C74-9D8D-DE98-0723-6DC65A418EFC}"/>
              </a:ext>
            </a:extLst>
          </p:cNvPr>
          <p:cNvSpPr>
            <a:spLocks noGrp="1"/>
          </p:cNvSpPr>
          <p:nvPr>
            <p:ph type="title"/>
          </p:nvPr>
        </p:nvSpPr>
        <p:spPr/>
        <p:txBody>
          <a:bodyPr/>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074F581F-E34C-2941-4726-5FC0E457653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6992D6AE-9898-AC59-4CAC-291AD9A4EF8A}"/>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73F78BDD-FF4E-EFA5-B933-327F67A096C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321A00A4-1D65-C22F-D2B6-7D9075AC2CAF}"/>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1463188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B400BF-0E65-9B41-23DC-839A4446DE7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fr-CH"/>
          </a:p>
        </p:txBody>
      </p:sp>
      <p:sp>
        <p:nvSpPr>
          <p:cNvPr id="3" name="Vertical Text Placeholder 2">
            <a:extLst>
              <a:ext uri="{FF2B5EF4-FFF2-40B4-BE49-F238E27FC236}">
                <a16:creationId xmlns:a16="http://schemas.microsoft.com/office/drawing/2014/main" id="{9706F129-1721-10B9-8696-4FFE2DDAC6F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FB55CCBF-20F6-54F7-4979-35F3703557C1}"/>
              </a:ext>
            </a:extLst>
          </p:cNvPr>
          <p:cNvSpPr>
            <a:spLocks noGrp="1"/>
          </p:cNvSpPr>
          <p:nvPr>
            <p:ph type="dt" sz="half" idx="10"/>
          </p:nvPr>
        </p:nvSpPr>
        <p:spPr/>
        <p:txBody>
          <a:body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02047357-F77E-E268-BF7A-2CB049D79F30}"/>
              </a:ext>
            </a:extLst>
          </p:cNvPr>
          <p:cNvSpPr>
            <a:spLocks noGrp="1"/>
          </p:cNvSpPr>
          <p:nvPr>
            <p:ph type="ftr" sz="quarter" idx="11"/>
          </p:nvPr>
        </p:nvSpPr>
        <p:spPr/>
        <p:txBody>
          <a:bodyPr/>
          <a:lstStyle/>
          <a:p>
            <a:endParaRPr lang="fr-CH"/>
          </a:p>
        </p:txBody>
      </p:sp>
      <p:sp>
        <p:nvSpPr>
          <p:cNvPr id="6" name="Slide Number Placeholder 5">
            <a:extLst>
              <a:ext uri="{FF2B5EF4-FFF2-40B4-BE49-F238E27FC236}">
                <a16:creationId xmlns:a16="http://schemas.microsoft.com/office/drawing/2014/main" id="{16541460-8E5A-5E35-DE2D-F7536723F750}"/>
              </a:ext>
            </a:extLst>
          </p:cNvPr>
          <p:cNvSpPr>
            <a:spLocks noGrp="1"/>
          </p:cNvSpPr>
          <p:nvPr>
            <p:ph type="sldNum" sz="quarter" idx="12"/>
          </p:nvPr>
        </p:nvSpPr>
        <p:spPr/>
        <p:txBody>
          <a:bodyPr/>
          <a:lstStyle/>
          <a:p>
            <a:fld id="{61A7BC33-3344-4283-8D2A-FA384F602BEB}" type="slidenum">
              <a:rPr lang="fr-CH" smtClean="0"/>
              <a:t>‹#›</a:t>
            </a:fld>
            <a:endParaRPr lang="fr-CH"/>
          </a:p>
        </p:txBody>
      </p:sp>
    </p:spTree>
    <p:extLst>
      <p:ext uri="{BB962C8B-B14F-4D97-AF65-F5344CB8AC3E}">
        <p14:creationId xmlns:p14="http://schemas.microsoft.com/office/powerpoint/2010/main" val="33509598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2E08E9-B939-4B48-C4F1-79E64A3A476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fr-CH"/>
          </a:p>
        </p:txBody>
      </p:sp>
      <p:sp>
        <p:nvSpPr>
          <p:cNvPr id="3" name="Text Placeholder 2">
            <a:extLst>
              <a:ext uri="{FF2B5EF4-FFF2-40B4-BE49-F238E27FC236}">
                <a16:creationId xmlns:a16="http://schemas.microsoft.com/office/drawing/2014/main" id="{DC79B699-95E5-9505-0EBA-F19E5E86D6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CH"/>
          </a:p>
        </p:txBody>
      </p:sp>
      <p:sp>
        <p:nvSpPr>
          <p:cNvPr id="4" name="Date Placeholder 3">
            <a:extLst>
              <a:ext uri="{FF2B5EF4-FFF2-40B4-BE49-F238E27FC236}">
                <a16:creationId xmlns:a16="http://schemas.microsoft.com/office/drawing/2014/main" id="{C0A91060-D0E6-D496-B2FD-0F5DDAFDFE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ABDDBB-0918-4A38-BFF3-738DBDB6A6F7}" type="datetimeFigureOut">
              <a:rPr lang="fr-CH" smtClean="0"/>
              <a:t>03.06.26</a:t>
            </a:fld>
            <a:endParaRPr lang="fr-CH"/>
          </a:p>
        </p:txBody>
      </p:sp>
      <p:sp>
        <p:nvSpPr>
          <p:cNvPr id="5" name="Footer Placeholder 4">
            <a:extLst>
              <a:ext uri="{FF2B5EF4-FFF2-40B4-BE49-F238E27FC236}">
                <a16:creationId xmlns:a16="http://schemas.microsoft.com/office/drawing/2014/main" id="{903E92E0-1C09-9852-EAF6-57E5F84C2A6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H"/>
          </a:p>
        </p:txBody>
      </p:sp>
      <p:sp>
        <p:nvSpPr>
          <p:cNvPr id="6" name="Slide Number Placeholder 5">
            <a:extLst>
              <a:ext uri="{FF2B5EF4-FFF2-40B4-BE49-F238E27FC236}">
                <a16:creationId xmlns:a16="http://schemas.microsoft.com/office/drawing/2014/main" id="{504E2E05-3017-F6F1-3B26-55E48E26FC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1A7BC33-3344-4283-8D2A-FA384F602BEB}" type="slidenum">
              <a:rPr lang="fr-CH" smtClean="0"/>
              <a:t>‹#›</a:t>
            </a:fld>
            <a:endParaRPr lang="fr-CH"/>
          </a:p>
        </p:txBody>
      </p:sp>
    </p:spTree>
    <p:extLst>
      <p:ext uri="{BB962C8B-B14F-4D97-AF65-F5344CB8AC3E}">
        <p14:creationId xmlns:p14="http://schemas.microsoft.com/office/powerpoint/2010/main" val="1687827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00_C83A13B9.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i.org/10.3390/smartcities4010006"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3390/smartcities4010006" TargetMode="External"/><Relationship Id="rId2" Type="http://schemas.microsoft.com/office/2018/10/relationships/comments" Target="../comments/modernComment_102_88E6931F.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2" name="Rectangle 1051">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269C2F-6BFD-EFC2-398D-9FE490AB97CC}"/>
              </a:ext>
            </a:extLst>
          </p:cNvPr>
          <p:cNvSpPr>
            <a:spLocks noGrp="1"/>
          </p:cNvSpPr>
          <p:nvPr>
            <p:ph type="ctrTitle"/>
          </p:nvPr>
        </p:nvSpPr>
        <p:spPr>
          <a:xfrm>
            <a:off x="643468" y="643467"/>
            <a:ext cx="4908246" cy="4567137"/>
          </a:xfrm>
        </p:spPr>
        <p:txBody>
          <a:bodyPr>
            <a:normAutofit/>
          </a:bodyPr>
          <a:lstStyle/>
          <a:p>
            <a:pPr algn="l"/>
            <a:r>
              <a:rPr lang="fr-CH" sz="4400" dirty="0"/>
              <a:t>The 15-Minute City in Practice</a:t>
            </a:r>
            <a:br>
              <a:rPr lang="fr-CH" sz="4400" dirty="0"/>
            </a:br>
            <a:br>
              <a:rPr lang="fr-CH" sz="4400" dirty="0"/>
            </a:br>
            <a:r>
              <a:rPr lang="fr-CH" sz="4000" dirty="0" err="1"/>
              <a:t>Comparing</a:t>
            </a:r>
            <a:r>
              <a:rPr lang="fr-CH" sz="4000" dirty="0"/>
              <a:t> </a:t>
            </a:r>
            <a:r>
              <a:rPr lang="fr-CH" sz="4000" dirty="0" err="1"/>
              <a:t>theoretical</a:t>
            </a:r>
            <a:r>
              <a:rPr lang="fr-CH" sz="4000" dirty="0"/>
              <a:t> </a:t>
            </a:r>
            <a:r>
              <a:rPr lang="fr-CH" sz="4000" dirty="0" err="1"/>
              <a:t>accessibility</a:t>
            </a:r>
            <a:r>
              <a:rPr lang="fr-CH" sz="4000" dirty="0"/>
              <a:t> and real </a:t>
            </a:r>
            <a:r>
              <a:rPr lang="fr-CH" sz="4000" dirty="0" err="1"/>
              <a:t>mobility</a:t>
            </a:r>
            <a:r>
              <a:rPr lang="fr-CH" sz="4000" dirty="0"/>
              <a:t> patterns in Zurich</a:t>
            </a:r>
          </a:p>
        </p:txBody>
      </p:sp>
      <p:sp>
        <p:nvSpPr>
          <p:cNvPr id="3" name="Subtitle 2">
            <a:extLst>
              <a:ext uri="{FF2B5EF4-FFF2-40B4-BE49-F238E27FC236}">
                <a16:creationId xmlns:a16="http://schemas.microsoft.com/office/drawing/2014/main" id="{F45A3335-A6F0-3BBD-83BD-6F6034AF78D0}"/>
              </a:ext>
            </a:extLst>
          </p:cNvPr>
          <p:cNvSpPr>
            <a:spLocks noGrp="1"/>
          </p:cNvSpPr>
          <p:nvPr>
            <p:ph type="subTitle" idx="1"/>
          </p:nvPr>
        </p:nvSpPr>
        <p:spPr>
          <a:xfrm>
            <a:off x="643467" y="5277684"/>
            <a:ext cx="4620584" cy="775494"/>
          </a:xfrm>
        </p:spPr>
        <p:txBody>
          <a:bodyPr>
            <a:normAutofit fontScale="92500" lnSpcReduction="10000"/>
          </a:bodyPr>
          <a:lstStyle/>
          <a:p>
            <a:pPr algn="l"/>
            <a:r>
              <a:rPr lang="fr-CH" sz="1200" dirty="0"/>
              <a:t>Lucie Kern and Noémie Simon </a:t>
            </a:r>
          </a:p>
          <a:p>
            <a:pPr algn="l"/>
            <a:r>
              <a:rPr lang="fr-CH" sz="1200" dirty="0"/>
              <a:t>Patterns and Trends in </a:t>
            </a:r>
            <a:r>
              <a:rPr lang="fr-CH" sz="1200" dirty="0" err="1"/>
              <a:t>Environmental</a:t>
            </a:r>
            <a:r>
              <a:rPr lang="fr-CH" sz="1200" dirty="0"/>
              <a:t> Data</a:t>
            </a:r>
          </a:p>
          <a:p>
            <a:pPr algn="l"/>
            <a:r>
              <a:rPr lang="fr-CH" sz="1200" dirty="0"/>
              <a:t>03.06.2026</a:t>
            </a:r>
          </a:p>
        </p:txBody>
      </p:sp>
      <p:pic>
        <p:nvPicPr>
          <p:cNvPr id="1026" name="Picture 2" descr="Google Maps Zürich Stadtplan – Google Maps Italia – OVMN">
            <a:extLst>
              <a:ext uri="{FF2B5EF4-FFF2-40B4-BE49-F238E27FC236}">
                <a16:creationId xmlns:a16="http://schemas.microsoft.com/office/drawing/2014/main" id="{CD7F0A5B-B055-F6EE-B9F3-822F30A089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3054"/>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924933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DA82-47D2-51C6-A3D6-11A74E9A9A07}"/>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DEFCDC17-11EB-2D2C-FFDB-30F3F578D798}"/>
              </a:ext>
            </a:extLst>
          </p:cNvPr>
          <p:cNvSpPr/>
          <p:nvPr/>
        </p:nvSpPr>
        <p:spPr>
          <a:xfrm>
            <a:off x="0" y="6098413"/>
            <a:ext cx="12192000" cy="75958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72FCEE1F-FE97-034F-EF16-9CE410CFD77C}"/>
              </a:ext>
            </a:extLst>
          </p:cNvPr>
          <p:cNvSpPr>
            <a:spLocks noGrp="1"/>
          </p:cNvSpPr>
          <p:nvPr>
            <p:ph type="title"/>
          </p:nvPr>
        </p:nvSpPr>
        <p:spPr>
          <a:xfrm>
            <a:off x="778198" y="281213"/>
            <a:ext cx="7333342" cy="1325563"/>
          </a:xfrm>
        </p:spPr>
        <p:txBody>
          <a:bodyPr/>
          <a:lstStyle/>
          <a:p>
            <a:r>
              <a:rPr lang="fr-CH" dirty="0" err="1"/>
              <a:t>Context</a:t>
            </a:r>
            <a:r>
              <a:rPr lang="fr-CH" dirty="0"/>
              <a:t> &amp; Project Intro</a:t>
            </a:r>
          </a:p>
        </p:txBody>
      </p:sp>
      <p:sp>
        <p:nvSpPr>
          <p:cNvPr id="3" name="Content Placeholder 2">
            <a:extLst>
              <a:ext uri="{FF2B5EF4-FFF2-40B4-BE49-F238E27FC236}">
                <a16:creationId xmlns:a16="http://schemas.microsoft.com/office/drawing/2014/main" id="{77CF91B7-20C0-64E3-3C39-24123B078096}"/>
              </a:ext>
            </a:extLst>
          </p:cNvPr>
          <p:cNvSpPr>
            <a:spLocks noGrp="1"/>
          </p:cNvSpPr>
          <p:nvPr>
            <p:ph idx="1"/>
          </p:nvPr>
        </p:nvSpPr>
        <p:spPr>
          <a:xfrm>
            <a:off x="367004" y="3429877"/>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1CB79621-C30B-B1DE-1D8B-A8B276FF255C}"/>
              </a:ext>
            </a:extLst>
          </p:cNvPr>
          <p:cNvSpPr txBox="1">
            <a:spLocks/>
          </p:cNvSpPr>
          <p:nvPr/>
        </p:nvSpPr>
        <p:spPr>
          <a:xfrm>
            <a:off x="3420446" y="3395637"/>
            <a:ext cx="4298044"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r>
              <a:rPr lang="fr-CH" dirty="0" err="1"/>
              <a:t>We</a:t>
            </a:r>
            <a:r>
              <a:rPr lang="fr-CH" dirty="0"/>
              <a:t>  use </a:t>
            </a:r>
            <a:r>
              <a:rPr lang="fr-CH" dirty="0" err="1"/>
              <a:t>activity</a:t>
            </a:r>
            <a:r>
              <a:rPr lang="fr-CH" dirty="0"/>
              <a:t> </a:t>
            </a:r>
            <a:r>
              <a:rPr lang="fr-CH" dirty="0" err="1"/>
              <a:t>space</a:t>
            </a:r>
            <a:r>
              <a:rPr lang="fr-CH" dirty="0"/>
              <a:t> to  compare </a:t>
            </a:r>
            <a:r>
              <a:rPr lang="fr-CH" dirty="0" err="1"/>
              <a:t>theoretical</a:t>
            </a:r>
            <a:r>
              <a:rPr lang="fr-CH" dirty="0"/>
              <a:t> </a:t>
            </a:r>
            <a:r>
              <a:rPr lang="fr-CH" dirty="0" err="1"/>
              <a:t>accessibility</a:t>
            </a:r>
            <a:r>
              <a:rPr lang="fr-CH" dirty="0"/>
              <a:t> </a:t>
            </a:r>
            <a:r>
              <a:rPr lang="fr-CH" dirty="0" err="1"/>
              <a:t>with</a:t>
            </a:r>
            <a:r>
              <a:rPr lang="fr-CH" dirty="0"/>
              <a:t> </a:t>
            </a:r>
            <a:r>
              <a:rPr lang="fr-CH" dirty="0" err="1"/>
              <a:t>actual</a:t>
            </a:r>
            <a:r>
              <a:rPr lang="fr-CH" dirty="0"/>
              <a:t> </a:t>
            </a:r>
            <a:r>
              <a:rPr lang="fr-CH" dirty="0" err="1"/>
              <a:t>mobility</a:t>
            </a:r>
            <a:r>
              <a:rPr lang="fr-CH" dirty="0"/>
              <a:t> </a:t>
            </a:r>
            <a:r>
              <a:rPr lang="fr-CH" dirty="0" err="1"/>
              <a:t>behavior</a:t>
            </a:r>
            <a:r>
              <a:rPr lang="fr-CH" dirty="0"/>
              <a:t> </a:t>
            </a:r>
            <a:r>
              <a:rPr lang="fr-CH" dirty="0" err="1"/>
              <a:t>based</a:t>
            </a:r>
            <a:r>
              <a:rPr lang="fr-CH" dirty="0"/>
              <a:t> on the data </a:t>
            </a:r>
            <a:r>
              <a:rPr lang="fr-CH" dirty="0" err="1"/>
              <a:t>collected</a:t>
            </a:r>
            <a:r>
              <a:rPr lang="fr-CH" dirty="0"/>
              <a:t> </a:t>
            </a:r>
            <a:r>
              <a:rPr lang="fr-CH" dirty="0" err="1"/>
              <a:t>from</a:t>
            </a:r>
            <a:r>
              <a:rPr lang="fr-CH" dirty="0"/>
              <a:t> one </a:t>
            </a:r>
            <a:r>
              <a:rPr lang="fr-CH" dirty="0" err="1"/>
              <a:t>individual</a:t>
            </a:r>
            <a:r>
              <a:rPr lang="fr-CH" dirty="0"/>
              <a:t> living in Zurich</a:t>
            </a:r>
          </a:p>
          <a:p>
            <a:endParaRPr lang="en-001" dirty="0"/>
          </a:p>
          <a:p>
            <a:endParaRPr lang="fr-CH" dirty="0"/>
          </a:p>
        </p:txBody>
      </p:sp>
      <p:sp>
        <p:nvSpPr>
          <p:cNvPr id="7" name="Content Placeholder 2">
            <a:extLst>
              <a:ext uri="{FF2B5EF4-FFF2-40B4-BE49-F238E27FC236}">
                <a16:creationId xmlns:a16="http://schemas.microsoft.com/office/drawing/2014/main" id="{C9A5FF8E-7674-3AE6-41C1-310DD46EEAF3}"/>
              </a:ext>
            </a:extLst>
          </p:cNvPr>
          <p:cNvSpPr txBox="1">
            <a:spLocks/>
          </p:cNvSpPr>
          <p:nvPr/>
        </p:nvSpPr>
        <p:spPr>
          <a:xfrm>
            <a:off x="367004" y="1398190"/>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What is a 15-minute city ? </a:t>
            </a:r>
          </a:p>
        </p:txBody>
      </p:sp>
      <p:sp>
        <p:nvSpPr>
          <p:cNvPr id="9" name="TextBox 8">
            <a:extLst>
              <a:ext uri="{FF2B5EF4-FFF2-40B4-BE49-F238E27FC236}">
                <a16:creationId xmlns:a16="http://schemas.microsoft.com/office/drawing/2014/main" id="{4AE62CEF-6E98-95BB-232D-F5395E72B50E}"/>
              </a:ext>
            </a:extLst>
          </p:cNvPr>
          <p:cNvSpPr txBox="1"/>
          <p:nvPr/>
        </p:nvSpPr>
        <p:spPr>
          <a:xfrm>
            <a:off x="567871" y="6185818"/>
            <a:ext cx="11056257" cy="523220"/>
          </a:xfrm>
          <a:prstGeom prst="rect">
            <a:avLst/>
          </a:prstGeom>
          <a:noFill/>
        </p:spPr>
        <p:txBody>
          <a:bodyPr wrap="square">
            <a:spAutoFit/>
          </a:bodyPr>
          <a:lstStyle/>
          <a:p>
            <a:r>
              <a:rPr lang="en-001" sz="1400" dirty="0"/>
              <a:t>Moreno, C., Allam, Z., Chabaud, D., Gall, C., &amp; Pratlong, F. (2021). Introducing the “15-Minute City”: Sustainability, resilience and place identity in future post-pandemic cities. </a:t>
            </a:r>
            <a:r>
              <a:rPr lang="en-001" sz="1400" i="1" dirty="0"/>
              <a:t>Smart Cities, 4</a:t>
            </a:r>
            <a:r>
              <a:rPr lang="en-001" sz="1400" dirty="0"/>
              <a:t>(1), 93–111. </a:t>
            </a:r>
            <a:r>
              <a:rPr lang="en-001" sz="1400" dirty="0">
                <a:hlinkClick r:id="rId2"/>
              </a:rPr>
              <a:t>https://doi.org/10.3390/smartcities4010006</a:t>
            </a:r>
            <a:endParaRPr lang="en-001" sz="1400" dirty="0"/>
          </a:p>
        </p:txBody>
      </p:sp>
      <p:sp>
        <p:nvSpPr>
          <p:cNvPr id="10" name="Content Placeholder 2">
            <a:extLst>
              <a:ext uri="{FF2B5EF4-FFF2-40B4-BE49-F238E27FC236}">
                <a16:creationId xmlns:a16="http://schemas.microsoft.com/office/drawing/2014/main" id="{7A66A455-70CD-000A-B3F6-D11802F3E145}"/>
              </a:ext>
            </a:extLst>
          </p:cNvPr>
          <p:cNvSpPr txBox="1">
            <a:spLocks/>
          </p:cNvSpPr>
          <p:nvPr/>
        </p:nvSpPr>
        <p:spPr>
          <a:xfrm>
            <a:off x="348213" y="1871007"/>
            <a:ext cx="11328529"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FBE16033-5143-5AF8-D8E5-E6C66C35CF34}"/>
              </a:ext>
            </a:extLst>
          </p:cNvPr>
          <p:cNvSpPr txBox="1">
            <a:spLocks/>
          </p:cNvSpPr>
          <p:nvPr/>
        </p:nvSpPr>
        <p:spPr>
          <a:xfrm>
            <a:off x="302710" y="2964574"/>
            <a:ext cx="313524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Application Area</a:t>
            </a:r>
          </a:p>
        </p:txBody>
      </p:sp>
      <p:sp>
        <p:nvSpPr>
          <p:cNvPr id="13" name="Content Placeholder 2">
            <a:extLst>
              <a:ext uri="{FF2B5EF4-FFF2-40B4-BE49-F238E27FC236}">
                <a16:creationId xmlns:a16="http://schemas.microsoft.com/office/drawing/2014/main" id="{E24C2CE8-7351-DBCA-1961-356E8BF63419}"/>
              </a:ext>
            </a:extLst>
          </p:cNvPr>
          <p:cNvSpPr txBox="1">
            <a:spLocks/>
          </p:cNvSpPr>
          <p:nvPr/>
        </p:nvSpPr>
        <p:spPr>
          <a:xfrm>
            <a:off x="3420446" y="2967270"/>
            <a:ext cx="3437076"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Conceptual Model</a:t>
            </a:r>
          </a:p>
        </p:txBody>
      </p:sp>
      <p:sp>
        <p:nvSpPr>
          <p:cNvPr id="15" name="Content Placeholder 2">
            <a:extLst>
              <a:ext uri="{FF2B5EF4-FFF2-40B4-BE49-F238E27FC236}">
                <a16:creationId xmlns:a16="http://schemas.microsoft.com/office/drawing/2014/main" id="{211A4EE2-6988-06E5-97B5-3583CEABF439}"/>
              </a:ext>
            </a:extLst>
          </p:cNvPr>
          <p:cNvSpPr txBox="1">
            <a:spLocks/>
          </p:cNvSpPr>
          <p:nvPr/>
        </p:nvSpPr>
        <p:spPr>
          <a:xfrm>
            <a:off x="7731189" y="2968951"/>
            <a:ext cx="2085716"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Data</a:t>
            </a:r>
          </a:p>
        </p:txBody>
      </p:sp>
      <p:sp>
        <p:nvSpPr>
          <p:cNvPr id="18" name="Content Placeholder 2">
            <a:extLst>
              <a:ext uri="{FF2B5EF4-FFF2-40B4-BE49-F238E27FC236}">
                <a16:creationId xmlns:a16="http://schemas.microsoft.com/office/drawing/2014/main" id="{214E7150-6D34-BA9C-1FC7-E2FD88FAB998}"/>
              </a:ext>
            </a:extLst>
          </p:cNvPr>
          <p:cNvSpPr txBox="1">
            <a:spLocks/>
          </p:cNvSpPr>
          <p:nvPr/>
        </p:nvSpPr>
        <p:spPr>
          <a:xfrm>
            <a:off x="7743890" y="3429877"/>
            <a:ext cx="4212771" cy="1821347"/>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2200" dirty="0"/>
              <a:t>G</a:t>
            </a:r>
            <a:r>
              <a:rPr lang="en-001" sz="2200" dirty="0"/>
              <a:t>oogle timeline for individual mobility</a:t>
            </a:r>
          </a:p>
          <a:p>
            <a:r>
              <a:rPr lang="en-001" sz="2200" dirty="0"/>
              <a:t>OpenStreetMap for </a:t>
            </a:r>
            <a:r>
              <a:rPr lang="fr-CH" sz="2200" dirty="0"/>
              <a:t>road </a:t>
            </a:r>
            <a:r>
              <a:rPr lang="fr-CH" sz="2200" dirty="0" err="1"/>
              <a:t>networkt</a:t>
            </a:r>
            <a:r>
              <a:rPr lang="fr-CH" dirty="0"/>
              <a:t>, </a:t>
            </a:r>
            <a:r>
              <a:rPr lang="fr-CH" sz="2200" dirty="0"/>
              <a:t>transport infrastructure for </a:t>
            </a:r>
            <a:r>
              <a:rPr lang="fr-CH" sz="2200" dirty="0" err="1"/>
              <a:t>urban</a:t>
            </a:r>
            <a:r>
              <a:rPr lang="fr-CH" sz="2200" dirty="0"/>
              <a:t> </a:t>
            </a:r>
            <a:r>
              <a:rPr lang="fr-CH" sz="2200" dirty="0" err="1"/>
              <a:t>context</a:t>
            </a:r>
            <a:r>
              <a:rPr lang="fr-CH" sz="2200" dirty="0"/>
              <a:t> and Point of </a:t>
            </a:r>
            <a:r>
              <a:rPr lang="fr-CH" sz="2200" dirty="0" err="1"/>
              <a:t>Interest</a:t>
            </a:r>
            <a:r>
              <a:rPr lang="fr-CH" sz="2200" dirty="0"/>
              <a:t> </a:t>
            </a:r>
          </a:p>
          <a:p>
            <a:pPr lvl="1"/>
            <a:endParaRPr lang="en-001" sz="2200" dirty="0"/>
          </a:p>
        </p:txBody>
      </p:sp>
      <p:sp>
        <p:nvSpPr>
          <p:cNvPr id="22" name="TextBox 21">
            <a:extLst>
              <a:ext uri="{FF2B5EF4-FFF2-40B4-BE49-F238E27FC236}">
                <a16:creationId xmlns:a16="http://schemas.microsoft.com/office/drawing/2014/main" id="{4C50DE4D-9766-DAB7-AB84-B23FAE884ECD}"/>
              </a:ext>
            </a:extLst>
          </p:cNvPr>
          <p:cNvSpPr txBox="1"/>
          <p:nvPr/>
        </p:nvSpPr>
        <p:spPr>
          <a:xfrm>
            <a:off x="4551635" y="1418069"/>
            <a:ext cx="3179554" cy="369332"/>
          </a:xfrm>
          <a:prstGeom prst="rect">
            <a:avLst/>
          </a:prstGeom>
          <a:noFill/>
        </p:spPr>
        <p:txBody>
          <a:bodyPr wrap="square" rtlCol="0">
            <a:spAutoFit/>
          </a:bodyPr>
          <a:lstStyle/>
          <a:p>
            <a:r>
              <a:rPr lang="en-001" dirty="0"/>
              <a:t>🏠 🛒🎓 💼🌳 🍽️ 🚉  🏥</a:t>
            </a:r>
          </a:p>
        </p:txBody>
      </p:sp>
      <p:sp>
        <p:nvSpPr>
          <p:cNvPr id="5" name="Content Placeholder 2">
            <a:extLst>
              <a:ext uri="{FF2B5EF4-FFF2-40B4-BE49-F238E27FC236}">
                <a16:creationId xmlns:a16="http://schemas.microsoft.com/office/drawing/2014/main" id="{E0E1577B-0FC5-7ADD-8D00-CE43A480C513}"/>
              </a:ext>
            </a:extLst>
          </p:cNvPr>
          <p:cNvSpPr txBox="1">
            <a:spLocks/>
          </p:cNvSpPr>
          <p:nvPr/>
        </p:nvSpPr>
        <p:spPr>
          <a:xfrm>
            <a:off x="348213" y="5076912"/>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solidFill>
                  <a:srgbClr val="98B2CB"/>
                </a:solidFill>
              </a:rPr>
              <a:t>Goal</a:t>
            </a:r>
          </a:p>
        </p:txBody>
      </p:sp>
      <p:sp>
        <p:nvSpPr>
          <p:cNvPr id="6" name="Content Placeholder 2">
            <a:extLst>
              <a:ext uri="{FF2B5EF4-FFF2-40B4-BE49-F238E27FC236}">
                <a16:creationId xmlns:a16="http://schemas.microsoft.com/office/drawing/2014/main" id="{DC9BDEC1-11A3-FC9A-47DA-9997664BD104}"/>
              </a:ext>
            </a:extLst>
          </p:cNvPr>
          <p:cNvSpPr txBox="1">
            <a:spLocks/>
          </p:cNvSpPr>
          <p:nvPr/>
        </p:nvSpPr>
        <p:spPr>
          <a:xfrm>
            <a:off x="615042" y="5544529"/>
            <a:ext cx="3829021" cy="2198491"/>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indent="0">
              <a:buNone/>
            </a:pPr>
            <a:endParaRPr lang="fr-CH" sz="4600" dirty="0"/>
          </a:p>
          <a:p>
            <a:endParaRPr lang="en-001" dirty="0"/>
          </a:p>
          <a:p>
            <a:endParaRPr lang="fr-CH" dirty="0"/>
          </a:p>
        </p:txBody>
      </p:sp>
      <p:sp>
        <p:nvSpPr>
          <p:cNvPr id="11" name="TextBox 10">
            <a:extLst>
              <a:ext uri="{FF2B5EF4-FFF2-40B4-BE49-F238E27FC236}">
                <a16:creationId xmlns:a16="http://schemas.microsoft.com/office/drawing/2014/main" id="{1721DAEC-0A82-6021-A4E5-89B28C221F2F}"/>
              </a:ext>
            </a:extLst>
          </p:cNvPr>
          <p:cNvSpPr txBox="1"/>
          <p:nvPr/>
        </p:nvSpPr>
        <p:spPr>
          <a:xfrm>
            <a:off x="291322" y="5524491"/>
            <a:ext cx="11900678" cy="430887"/>
          </a:xfrm>
          <a:prstGeom prst="rect">
            <a:avLst/>
          </a:prstGeom>
          <a:noFill/>
        </p:spPr>
        <p:txBody>
          <a:bodyPr wrap="square">
            <a:spAutoFit/>
          </a:bodyPr>
          <a:lstStyle/>
          <a:p>
            <a:r>
              <a:rPr lang="fr-CH" sz="2200" dirty="0" err="1"/>
              <a:t>Understand</a:t>
            </a:r>
            <a:r>
              <a:rPr lang="fr-CH" sz="2200" dirty="0"/>
              <a:t> </a:t>
            </a:r>
            <a:r>
              <a:rPr lang="fr-CH" sz="2200" dirty="0" err="1"/>
              <a:t>whether</a:t>
            </a:r>
            <a:r>
              <a:rPr lang="fr-CH" sz="2200" dirty="0"/>
              <a:t> accessible infrastructure </a:t>
            </a:r>
            <a:r>
              <a:rPr lang="fr-CH" sz="2200" dirty="0" err="1"/>
              <a:t>is</a:t>
            </a:r>
            <a:r>
              <a:rPr lang="fr-CH" sz="2200" dirty="0"/>
              <a:t> </a:t>
            </a:r>
            <a:r>
              <a:rPr lang="fr-CH" sz="2200" dirty="0" err="1"/>
              <a:t>actually</a:t>
            </a:r>
            <a:r>
              <a:rPr lang="fr-CH" sz="2200" dirty="0"/>
              <a:t> </a:t>
            </a:r>
            <a:r>
              <a:rPr lang="fr-CH" sz="2200" dirty="0" err="1"/>
              <a:t>reflected</a:t>
            </a:r>
            <a:r>
              <a:rPr lang="fr-CH" sz="2200" dirty="0"/>
              <a:t> in </a:t>
            </a:r>
            <a:r>
              <a:rPr lang="fr-CH" sz="2200" dirty="0" err="1"/>
              <a:t>everyday</a:t>
            </a:r>
            <a:r>
              <a:rPr lang="fr-CH" sz="2200" dirty="0"/>
              <a:t> </a:t>
            </a:r>
            <a:r>
              <a:rPr lang="fr-CH" sz="2200" dirty="0" err="1"/>
              <a:t>mobility</a:t>
            </a:r>
            <a:r>
              <a:rPr lang="fr-CH" sz="2200" dirty="0"/>
              <a:t> </a:t>
            </a:r>
            <a:r>
              <a:rPr lang="fr-CH" sz="2200" dirty="0" err="1"/>
              <a:t>behavior</a:t>
            </a:r>
            <a:endParaRPr lang="fr-CH" sz="2200" dirty="0"/>
          </a:p>
        </p:txBody>
      </p:sp>
    </p:spTree>
    <p:extLst>
      <p:ext uri="{BB962C8B-B14F-4D97-AF65-F5344CB8AC3E}">
        <p14:creationId xmlns:p14="http://schemas.microsoft.com/office/powerpoint/2010/main" val="1311234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803951D-F116-DC10-6C43-19FFF7456671}"/>
              </a:ext>
            </a:extLst>
          </p:cNvPr>
          <p:cNvSpPr>
            <a:spLocks noGrp="1"/>
          </p:cNvSpPr>
          <p:nvPr>
            <p:ph sz="half" idx="1"/>
          </p:nvPr>
        </p:nvSpPr>
        <p:spPr>
          <a:xfrm>
            <a:off x="1203960" y="2426144"/>
            <a:ext cx="3907536" cy="1231456"/>
          </a:xfrm>
        </p:spPr>
        <p:txBody>
          <a:bodyPr>
            <a:normAutofit lnSpcReduction="10000"/>
          </a:bodyPr>
          <a:lstStyle/>
          <a:p>
            <a:pPr marL="0" indent="0">
              <a:buNone/>
            </a:pPr>
            <a:r>
              <a:rPr lang="fr-CH" sz="4400" dirty="0" err="1">
                <a:latin typeface="+mj-lt"/>
              </a:rPr>
              <a:t>Research</a:t>
            </a:r>
            <a:r>
              <a:rPr lang="fr-CH" sz="4400" dirty="0">
                <a:latin typeface="+mj-lt"/>
              </a:rPr>
              <a:t> questions </a:t>
            </a:r>
          </a:p>
        </p:txBody>
      </p:sp>
      <p:sp>
        <p:nvSpPr>
          <p:cNvPr id="6" name="Content Placeholder 5">
            <a:extLst>
              <a:ext uri="{FF2B5EF4-FFF2-40B4-BE49-F238E27FC236}">
                <a16:creationId xmlns:a16="http://schemas.microsoft.com/office/drawing/2014/main" id="{B41B92A7-C4DD-19B5-4CEE-1DEFC7F961BB}"/>
              </a:ext>
            </a:extLst>
          </p:cNvPr>
          <p:cNvSpPr>
            <a:spLocks noGrp="1"/>
          </p:cNvSpPr>
          <p:nvPr>
            <p:ph sz="half" idx="2"/>
          </p:nvPr>
        </p:nvSpPr>
        <p:spPr>
          <a:xfrm>
            <a:off x="5980176" y="866202"/>
            <a:ext cx="5181600" cy="5305997"/>
          </a:xfrm>
        </p:spPr>
        <p:txBody>
          <a:bodyPr>
            <a:normAutofit lnSpcReduction="10000"/>
          </a:bodyPr>
          <a:lstStyle/>
          <a:p>
            <a:pPr marL="0" indent="0">
              <a:buNone/>
            </a:pPr>
            <a:r>
              <a:rPr lang="fr-CH" sz="3500" dirty="0">
                <a:solidFill>
                  <a:srgbClr val="98B2CB"/>
                </a:solidFill>
              </a:rPr>
              <a:t>1.</a:t>
            </a:r>
            <a:r>
              <a:rPr lang="fr-CH" sz="3500" dirty="0"/>
              <a:t> </a:t>
            </a:r>
            <a:r>
              <a:rPr lang="fr-CH" sz="3500" dirty="0" err="1"/>
              <a:t>What</a:t>
            </a:r>
            <a:r>
              <a:rPr lang="fr-CH" sz="3500" dirty="0"/>
              <a:t> </a:t>
            </a:r>
            <a:r>
              <a:rPr lang="fr-CH" sz="3500" dirty="0" err="1"/>
              <a:t>share</a:t>
            </a:r>
            <a:r>
              <a:rPr lang="fr-CH" sz="3500" dirty="0"/>
              <a:t> of </a:t>
            </a:r>
            <a:r>
              <a:rPr lang="fr-CH" sz="3500" dirty="0" err="1"/>
              <a:t>daily</a:t>
            </a:r>
            <a:r>
              <a:rPr lang="fr-CH" sz="3500" dirty="0"/>
              <a:t> </a:t>
            </a:r>
            <a:r>
              <a:rPr lang="fr-CH" sz="3500" dirty="0" err="1"/>
              <a:t>activities</a:t>
            </a:r>
            <a:r>
              <a:rPr lang="fr-CH" sz="3500" dirty="0"/>
              <a:t> </a:t>
            </a:r>
            <a:r>
              <a:rPr lang="fr-CH" sz="3500" dirty="0" err="1"/>
              <a:t>occurs</a:t>
            </a:r>
            <a:r>
              <a:rPr lang="fr-CH" sz="3500" dirty="0"/>
              <a:t> </a:t>
            </a:r>
            <a:r>
              <a:rPr lang="fr-CH" sz="3500" dirty="0" err="1"/>
              <a:t>within</a:t>
            </a:r>
            <a:r>
              <a:rPr lang="fr-CH" sz="3500" dirty="0"/>
              <a:t> 15 minutes </a:t>
            </a:r>
            <a:r>
              <a:rPr lang="fr-CH" sz="3500" dirty="0" err="1"/>
              <a:t>from</a:t>
            </a:r>
            <a:r>
              <a:rPr lang="fr-CH" sz="3500" dirty="0"/>
              <a:t> home ? (per </a:t>
            </a:r>
            <a:r>
              <a:rPr lang="fr-CH" sz="3500" dirty="0" err="1"/>
              <a:t>means</a:t>
            </a:r>
            <a:r>
              <a:rPr lang="fr-CH" sz="3500" dirty="0"/>
              <a:t> of transportation)</a:t>
            </a:r>
          </a:p>
          <a:p>
            <a:pPr marL="0" indent="0">
              <a:buNone/>
            </a:pPr>
            <a:r>
              <a:rPr lang="fr-CH" sz="3500" dirty="0">
                <a:solidFill>
                  <a:srgbClr val="98B2CB"/>
                </a:solidFill>
              </a:rPr>
              <a:t>2.</a:t>
            </a:r>
            <a:r>
              <a:rPr lang="fr-CH" sz="3500" dirty="0"/>
              <a:t> How </a:t>
            </a:r>
            <a:r>
              <a:rPr lang="fr-CH" sz="3500" dirty="0" err="1"/>
              <a:t>does</a:t>
            </a:r>
            <a:r>
              <a:rPr lang="fr-CH" sz="3500" dirty="0"/>
              <a:t> </a:t>
            </a:r>
            <a:r>
              <a:rPr lang="fr-CH" sz="3500" dirty="0" err="1"/>
              <a:t>actual</a:t>
            </a:r>
            <a:r>
              <a:rPr lang="fr-CH" sz="3500" dirty="0"/>
              <a:t> </a:t>
            </a:r>
            <a:r>
              <a:rPr lang="fr-CH" sz="3500" dirty="0" err="1"/>
              <a:t>mobility</a:t>
            </a:r>
            <a:r>
              <a:rPr lang="fr-CH" sz="3500" dirty="0"/>
              <a:t> </a:t>
            </a:r>
            <a:r>
              <a:rPr lang="fr-CH" sz="3500" dirty="0" err="1"/>
              <a:t>differ</a:t>
            </a:r>
            <a:r>
              <a:rPr lang="fr-CH" sz="3500" dirty="0"/>
              <a:t> </a:t>
            </a:r>
            <a:r>
              <a:rPr lang="fr-CH" sz="3500" dirty="0" err="1"/>
              <a:t>from</a:t>
            </a:r>
            <a:r>
              <a:rPr lang="fr-CH" sz="3500" dirty="0"/>
              <a:t> the </a:t>
            </a:r>
            <a:r>
              <a:rPr lang="fr-CH" sz="3500" dirty="0" err="1"/>
              <a:t>theoretical</a:t>
            </a:r>
            <a:r>
              <a:rPr lang="fr-CH" sz="3500" dirty="0"/>
              <a:t> </a:t>
            </a:r>
            <a:r>
              <a:rPr lang="fr-CH" sz="3500" dirty="0" err="1"/>
              <a:t>accessibility</a:t>
            </a:r>
            <a:r>
              <a:rPr lang="fr-CH" sz="3500" dirty="0"/>
              <a:t>? </a:t>
            </a:r>
          </a:p>
          <a:p>
            <a:pPr marL="0" indent="0">
              <a:buNone/>
            </a:pPr>
            <a:r>
              <a:rPr lang="fr-CH" sz="3500" dirty="0">
                <a:solidFill>
                  <a:srgbClr val="98B2CB"/>
                </a:solidFill>
              </a:rPr>
              <a:t>3.</a:t>
            </a:r>
            <a:r>
              <a:rPr lang="fr-CH" sz="3500" dirty="0"/>
              <a:t> </a:t>
            </a:r>
            <a:r>
              <a:rPr lang="fr-CH" sz="3500" dirty="0" err="1"/>
              <a:t>Which</a:t>
            </a:r>
            <a:r>
              <a:rPr lang="fr-CH" sz="3500" dirty="0"/>
              <a:t> types of </a:t>
            </a:r>
            <a:r>
              <a:rPr lang="fr-CH" sz="3500" dirty="0" err="1"/>
              <a:t>activities</a:t>
            </a:r>
            <a:r>
              <a:rPr lang="fr-CH" sz="3500" dirty="0"/>
              <a:t> </a:t>
            </a:r>
            <a:r>
              <a:rPr lang="fr-CH" sz="3500" dirty="0" err="1"/>
              <a:t>most</a:t>
            </a:r>
            <a:r>
              <a:rPr lang="fr-CH" sz="3500" dirty="0"/>
              <a:t> </a:t>
            </a:r>
            <a:r>
              <a:rPr lang="fr-CH" sz="3500" dirty="0" err="1"/>
              <a:t>often</a:t>
            </a:r>
            <a:r>
              <a:rPr lang="fr-CH" sz="3500" dirty="0"/>
              <a:t> </a:t>
            </a:r>
            <a:r>
              <a:rPr lang="fr-CH" sz="3500" dirty="0" err="1"/>
              <a:t>occur</a:t>
            </a:r>
            <a:r>
              <a:rPr lang="fr-CH" sz="3500" dirty="0"/>
              <a:t> </a:t>
            </a:r>
            <a:r>
              <a:rPr lang="fr-CH" sz="3500" dirty="0" err="1"/>
              <a:t>beyond</a:t>
            </a:r>
            <a:r>
              <a:rPr lang="fr-CH" sz="3500" dirty="0"/>
              <a:t> a 15‑minute radius?</a:t>
            </a:r>
          </a:p>
          <a:p>
            <a:endParaRPr lang="fr-CH" dirty="0"/>
          </a:p>
        </p:txBody>
      </p:sp>
    </p:spTree>
    <p:extLst>
      <p:ext uri="{BB962C8B-B14F-4D97-AF65-F5344CB8AC3E}">
        <p14:creationId xmlns:p14="http://schemas.microsoft.com/office/powerpoint/2010/main" val="2745853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E109C-6D34-3899-2236-59C7379E8D40}"/>
              </a:ext>
            </a:extLst>
          </p:cNvPr>
          <p:cNvSpPr>
            <a:spLocks noGrp="1"/>
          </p:cNvSpPr>
          <p:nvPr>
            <p:ph type="title"/>
          </p:nvPr>
        </p:nvSpPr>
        <p:spPr/>
        <p:txBody>
          <a:bodyPr/>
          <a:lstStyle/>
          <a:p>
            <a:r>
              <a:rPr lang="fr-CH" dirty="0" err="1"/>
              <a:t>Research</a:t>
            </a:r>
            <a:r>
              <a:rPr lang="fr-CH" dirty="0"/>
              <a:t> plan</a:t>
            </a:r>
          </a:p>
        </p:txBody>
      </p:sp>
      <p:graphicFrame>
        <p:nvGraphicFramePr>
          <p:cNvPr id="10" name="Content Placeholder 2">
            <a:extLst>
              <a:ext uri="{FF2B5EF4-FFF2-40B4-BE49-F238E27FC236}">
                <a16:creationId xmlns:a16="http://schemas.microsoft.com/office/drawing/2014/main" id="{F0AF24CE-C5D3-D1BD-30C2-C0EACACE23B1}"/>
              </a:ext>
            </a:extLst>
          </p:cNvPr>
          <p:cNvGraphicFramePr>
            <a:graphicFrameLocks noGrp="1"/>
          </p:cNvGraphicFramePr>
          <p:nvPr>
            <p:ph idx="1"/>
            <p:extLst>
              <p:ext uri="{D42A27DB-BD31-4B8C-83A1-F6EECF244321}">
                <p14:modId xmlns:p14="http://schemas.microsoft.com/office/powerpoint/2010/main" val="14347568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2" name="Graphic 11" descr="Checkbox Ticked with solid fill">
            <a:extLst>
              <a:ext uri="{FF2B5EF4-FFF2-40B4-BE49-F238E27FC236}">
                <a16:creationId xmlns:a16="http://schemas.microsoft.com/office/drawing/2014/main" id="{A3023F9A-E358-3DBF-913D-70EF311A152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370297"/>
            <a:ext cx="730038" cy="730038"/>
          </a:xfrm>
          <a:prstGeom prst="rect">
            <a:avLst/>
          </a:prstGeom>
        </p:spPr>
      </p:pic>
      <p:pic>
        <p:nvPicPr>
          <p:cNvPr id="4" name="Graphic 3" descr="Checkbox Ticked with solid fill">
            <a:extLst>
              <a:ext uri="{FF2B5EF4-FFF2-40B4-BE49-F238E27FC236}">
                <a16:creationId xmlns:a16="http://schemas.microsoft.com/office/drawing/2014/main" id="{38B915E9-9DD5-D0F4-8165-7A9E5BCA020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1783928"/>
            <a:ext cx="730038" cy="730038"/>
          </a:xfrm>
          <a:prstGeom prst="rect">
            <a:avLst/>
          </a:prstGeom>
        </p:spPr>
      </p:pic>
      <p:pic>
        <p:nvPicPr>
          <p:cNvPr id="5" name="Graphic 4" descr="Checkbox Ticked with solid fill">
            <a:extLst>
              <a:ext uri="{FF2B5EF4-FFF2-40B4-BE49-F238E27FC236}">
                <a16:creationId xmlns:a16="http://schemas.microsoft.com/office/drawing/2014/main" id="{65FA58BF-3231-B8D6-4E08-A8E836ED05B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2992583"/>
            <a:ext cx="730038" cy="730038"/>
          </a:xfrm>
          <a:prstGeom prst="rect">
            <a:avLst/>
          </a:prstGeom>
        </p:spPr>
      </p:pic>
      <p:pic>
        <p:nvPicPr>
          <p:cNvPr id="6" name="Graphic 5" descr="Checkbox Ticked with solid fill">
            <a:extLst>
              <a:ext uri="{FF2B5EF4-FFF2-40B4-BE49-F238E27FC236}">
                <a16:creationId xmlns:a16="http://schemas.microsoft.com/office/drawing/2014/main" id="{68B16695-A7DE-7F0A-7798-7A04FB9C77B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23762" y="3614870"/>
            <a:ext cx="730038" cy="730038"/>
          </a:xfrm>
          <a:prstGeom prst="rect">
            <a:avLst/>
          </a:prstGeom>
        </p:spPr>
      </p:pic>
      <p:pic>
        <p:nvPicPr>
          <p:cNvPr id="3" name="Graphic 2" descr="Checkbox Ticked with solid fill">
            <a:extLst>
              <a:ext uri="{FF2B5EF4-FFF2-40B4-BE49-F238E27FC236}">
                <a16:creationId xmlns:a16="http://schemas.microsoft.com/office/drawing/2014/main" id="{FA2DE613-F1D5-2989-D88C-8E6AED6156D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93653" y="4273073"/>
            <a:ext cx="730038" cy="730038"/>
          </a:xfrm>
          <a:prstGeom prst="rect">
            <a:avLst/>
          </a:prstGeom>
        </p:spPr>
      </p:pic>
      <p:pic>
        <p:nvPicPr>
          <p:cNvPr id="7" name="Graphic 6" descr="Checkbox Ticked with solid fill">
            <a:extLst>
              <a:ext uri="{FF2B5EF4-FFF2-40B4-BE49-F238E27FC236}">
                <a16:creationId xmlns:a16="http://schemas.microsoft.com/office/drawing/2014/main" id="{E1F16737-3E02-BFA5-BEF3-8E01D6A8980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4859999"/>
            <a:ext cx="730038" cy="730038"/>
          </a:xfrm>
          <a:prstGeom prst="rect">
            <a:avLst/>
          </a:prstGeom>
        </p:spPr>
      </p:pic>
      <p:pic>
        <p:nvPicPr>
          <p:cNvPr id="8" name="Graphic 7" descr="Checkbox Ticked with solid fill">
            <a:extLst>
              <a:ext uri="{FF2B5EF4-FFF2-40B4-BE49-F238E27FC236}">
                <a16:creationId xmlns:a16="http://schemas.microsoft.com/office/drawing/2014/main" id="{3E0A8CC6-3214-EF38-9053-422EFD396D2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13423" y="5488622"/>
            <a:ext cx="730038" cy="730038"/>
          </a:xfrm>
          <a:prstGeom prst="rect">
            <a:avLst/>
          </a:prstGeom>
        </p:spPr>
      </p:pic>
    </p:spTree>
    <p:extLst>
      <p:ext uri="{BB962C8B-B14F-4D97-AF65-F5344CB8AC3E}">
        <p14:creationId xmlns:p14="http://schemas.microsoft.com/office/powerpoint/2010/main" val="1534447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D1728-17B5-5125-78E7-BBA36653063B}"/>
              </a:ext>
            </a:extLst>
          </p:cNvPr>
          <p:cNvSpPr>
            <a:spLocks noGrp="1"/>
          </p:cNvSpPr>
          <p:nvPr>
            <p:ph type="title"/>
          </p:nvPr>
        </p:nvSpPr>
        <p:spPr/>
        <p:txBody>
          <a:bodyPr/>
          <a:lstStyle/>
          <a:p>
            <a:endParaRPr lang="fr-CH"/>
          </a:p>
        </p:txBody>
      </p:sp>
      <p:sp>
        <p:nvSpPr>
          <p:cNvPr id="7" name="Content Placeholder 6">
            <a:extLst>
              <a:ext uri="{FF2B5EF4-FFF2-40B4-BE49-F238E27FC236}">
                <a16:creationId xmlns:a16="http://schemas.microsoft.com/office/drawing/2014/main" id="{DCCFBE5E-470E-8AAF-8F23-FDD7777AA6DC}"/>
              </a:ext>
            </a:extLst>
          </p:cNvPr>
          <p:cNvSpPr>
            <a:spLocks noGrp="1"/>
          </p:cNvSpPr>
          <p:nvPr>
            <p:ph idx="1"/>
          </p:nvPr>
        </p:nvSpPr>
        <p:spPr/>
        <p:txBody>
          <a:bodyPr/>
          <a:lstStyle/>
          <a:p>
            <a:endParaRPr lang="fr-CH"/>
          </a:p>
        </p:txBody>
      </p:sp>
      <p:pic>
        <p:nvPicPr>
          <p:cNvPr id="9" name="Picture 8" descr="The image displays a map overlaying various locations in ZURICH, indicating distances for different modes of transportation (walking, cycling, and public transport) from a central point.&#10;&#10;AI-generated content may be incorrect.">
            <a:extLst>
              <a:ext uri="{FF2B5EF4-FFF2-40B4-BE49-F238E27FC236}">
                <a16:creationId xmlns:a16="http://schemas.microsoft.com/office/drawing/2014/main" id="{2CAB6DAC-E835-6F5C-E5D4-339A9645C7BE}"/>
              </a:ext>
            </a:extLst>
          </p:cNvPr>
          <p:cNvPicPr>
            <a:picLocks noChangeAspect="1"/>
          </p:cNvPicPr>
          <p:nvPr/>
        </p:nvPicPr>
        <p:blipFill>
          <a:blip r:embed="rId2"/>
          <a:stretch>
            <a:fillRect/>
          </a:stretch>
        </p:blipFill>
        <p:spPr>
          <a:xfrm>
            <a:off x="198120" y="0"/>
            <a:ext cx="11795760" cy="6858000"/>
          </a:xfrm>
          <a:prstGeom prst="rect">
            <a:avLst/>
          </a:prstGeom>
        </p:spPr>
      </p:pic>
    </p:spTree>
    <p:extLst>
      <p:ext uri="{BB962C8B-B14F-4D97-AF65-F5344CB8AC3E}">
        <p14:creationId xmlns:p14="http://schemas.microsoft.com/office/powerpoint/2010/main" val="2036194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6B571-64C7-D483-4259-2AA222E5A467}"/>
              </a:ext>
            </a:extLst>
          </p:cNvPr>
          <p:cNvSpPr>
            <a:spLocks noGrp="1"/>
          </p:cNvSpPr>
          <p:nvPr>
            <p:ph type="title"/>
          </p:nvPr>
        </p:nvSpPr>
        <p:spPr/>
        <p:txBody>
          <a:bodyPr/>
          <a:lstStyle/>
          <a:p>
            <a:r>
              <a:rPr lang="en-001" dirty="0"/>
              <a:t>Activity Classification</a:t>
            </a:r>
          </a:p>
        </p:txBody>
      </p:sp>
      <p:graphicFrame>
        <p:nvGraphicFramePr>
          <p:cNvPr id="4" name="Content Placeholder 3">
            <a:extLst>
              <a:ext uri="{FF2B5EF4-FFF2-40B4-BE49-F238E27FC236}">
                <a16:creationId xmlns:a16="http://schemas.microsoft.com/office/drawing/2014/main" id="{97F66C15-9C7D-B904-24D4-E5E36631297A}"/>
              </a:ext>
            </a:extLst>
          </p:cNvPr>
          <p:cNvGraphicFramePr>
            <a:graphicFrameLocks noGrp="1"/>
          </p:cNvGraphicFramePr>
          <p:nvPr>
            <p:ph idx="1"/>
          </p:nvPr>
        </p:nvGraphicFramePr>
        <p:xfrm>
          <a:off x="838200" y="1957229"/>
          <a:ext cx="10515600" cy="4088130"/>
        </p:xfrm>
        <a:graphic>
          <a:graphicData uri="http://schemas.openxmlformats.org/drawingml/2006/table">
            <a:tbl>
              <a:tblPr/>
              <a:tblGrid>
                <a:gridCol w="5257800">
                  <a:extLst>
                    <a:ext uri="{9D8B030D-6E8A-4147-A177-3AD203B41FA5}">
                      <a16:colId xmlns:a16="http://schemas.microsoft.com/office/drawing/2014/main" val="1217507250"/>
                    </a:ext>
                  </a:extLst>
                </a:gridCol>
                <a:gridCol w="5257800">
                  <a:extLst>
                    <a:ext uri="{9D8B030D-6E8A-4147-A177-3AD203B41FA5}">
                      <a16:colId xmlns:a16="http://schemas.microsoft.com/office/drawing/2014/main" val="107188581"/>
                    </a:ext>
                  </a:extLst>
                </a:gridCol>
              </a:tblGrid>
              <a:tr h="0">
                <a:tc>
                  <a:txBody>
                    <a:bodyPr/>
                    <a:lstStyle/>
                    <a:p>
                      <a:pPr algn="ctr">
                        <a:buNone/>
                      </a:pPr>
                      <a:r>
                        <a:rPr lang="en-001" b="1">
                          <a:effectLst/>
                          <a:latin typeface=".AppleSystemUIFont"/>
                        </a:rPr>
                        <a:t>category</a:t>
                      </a:r>
                      <a:endParaRPr lang="en-001">
                        <a:effectLst/>
                        <a:latin typeface=".AppleSystemUIFont"/>
                      </a:endParaRP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lgn="ctr">
                        <a:buNone/>
                      </a:pPr>
                      <a:r>
                        <a:rPr lang="en-001" b="1">
                          <a:effectLst/>
                          <a:latin typeface=".AppleSystemUIFont"/>
                        </a:rPr>
                        <a:t>includes</a:t>
                      </a:r>
                      <a:endParaRPr lang="en-001">
                        <a:effectLst/>
                        <a:latin typeface=".AppleSystemUIFont"/>
                      </a:endParaRP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1860596659"/>
                  </a:ext>
                </a:extLst>
              </a:tr>
              <a:tr h="0">
                <a:tc>
                  <a:txBody>
                    <a:bodyPr/>
                    <a:lstStyle/>
                    <a:p>
                      <a:pPr>
                        <a:buNone/>
                      </a:pPr>
                      <a:r>
                        <a:rPr lang="en-001">
                          <a:effectLst/>
                          <a:latin typeface=".AppleSystemUIFont"/>
                        </a:rPr>
                        <a:t>transport</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train stations, tram stops, bus stops, airports </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1645749010"/>
                  </a:ext>
                </a:extLst>
              </a:tr>
              <a:tr h="0">
                <a:tc>
                  <a:txBody>
                    <a:bodyPr/>
                    <a:lstStyle/>
                    <a:p>
                      <a:pPr>
                        <a:buNone/>
                      </a:pPr>
                      <a:r>
                        <a:rPr lang="en-001">
                          <a:effectLst/>
                          <a:latin typeface=".AppleSystemUIFont"/>
                        </a:rPr>
                        <a:t>home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residence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3835203348"/>
                  </a:ext>
                </a:extLst>
              </a:tr>
              <a:tr h="0">
                <a:tc>
                  <a:txBody>
                    <a:bodyPr/>
                    <a:lstStyle/>
                    <a:p>
                      <a:pPr>
                        <a:buNone/>
                      </a:pPr>
                      <a:r>
                        <a:rPr lang="en-001">
                          <a:effectLst/>
                          <a:latin typeface=".AppleSystemUIFont"/>
                        </a:rPr>
                        <a:t>education</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university, school</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29801274"/>
                  </a:ext>
                </a:extLst>
              </a:tr>
              <a:tr h="0">
                <a:tc>
                  <a:txBody>
                    <a:bodyPr/>
                    <a:lstStyle/>
                    <a:p>
                      <a:pPr>
                        <a:buNone/>
                      </a:pPr>
                      <a:r>
                        <a:rPr lang="en-001">
                          <a:effectLst/>
                          <a:latin typeface=".AppleSystemUIFont"/>
                        </a:rPr>
                        <a:t>work</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workplace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497260111"/>
                  </a:ext>
                </a:extLst>
              </a:tr>
              <a:tr h="0">
                <a:tc>
                  <a:txBody>
                    <a:bodyPr/>
                    <a:lstStyle/>
                    <a:p>
                      <a:pPr>
                        <a:buNone/>
                      </a:pPr>
                      <a:r>
                        <a:rPr lang="en-001">
                          <a:effectLst/>
                          <a:latin typeface=".AppleSystemUIFont"/>
                        </a:rPr>
                        <a:t>shopping</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supermarket, stores, post office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1082639432"/>
                  </a:ext>
                </a:extLst>
              </a:tr>
              <a:tr h="0">
                <a:tc>
                  <a:txBody>
                    <a:bodyPr/>
                    <a:lstStyle/>
                    <a:p>
                      <a:pPr>
                        <a:buNone/>
                      </a:pPr>
                      <a:r>
                        <a:rPr lang="en-001">
                          <a:effectLst/>
                          <a:latin typeface=".AppleSystemUIFont"/>
                        </a:rPr>
                        <a:t>leisure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restaurants, bars, cinema, culture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800928364"/>
                  </a:ext>
                </a:extLst>
              </a:tr>
              <a:tr h="0">
                <a:tc>
                  <a:txBody>
                    <a:bodyPr/>
                    <a:lstStyle/>
                    <a:p>
                      <a:pPr>
                        <a:buNone/>
                      </a:pPr>
                      <a:r>
                        <a:rPr lang="en-001">
                          <a:effectLst/>
                          <a:latin typeface=".AppleSystemUIFont"/>
                        </a:rPr>
                        <a:t>sport</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gym, climbing, swimming</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3587844506"/>
                  </a:ext>
                </a:extLst>
              </a:tr>
              <a:tr h="0">
                <a:tc>
                  <a:txBody>
                    <a:bodyPr/>
                    <a:lstStyle/>
                    <a:p>
                      <a:pPr>
                        <a:buNone/>
                      </a:pPr>
                      <a:r>
                        <a:rPr lang="en-001">
                          <a:effectLst/>
                          <a:latin typeface=".AppleSystemUIFont"/>
                        </a:rPr>
                        <a:t>nature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hikes, parks, mountains</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162029881"/>
                  </a:ext>
                </a:extLst>
              </a:tr>
              <a:tr h="0">
                <a:tc>
                  <a:txBody>
                    <a:bodyPr/>
                    <a:lstStyle/>
                    <a:p>
                      <a:pPr>
                        <a:buNone/>
                      </a:pPr>
                      <a:r>
                        <a:rPr lang="en-001">
                          <a:effectLst/>
                          <a:latin typeface=".AppleSystemUIFont"/>
                        </a:rPr>
                        <a:t>social</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friends/family</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167449726"/>
                  </a:ext>
                </a:extLst>
              </a:tr>
              <a:tr h="0">
                <a:tc>
                  <a:txBody>
                    <a:bodyPr/>
                    <a:lstStyle/>
                    <a:p>
                      <a:pPr>
                        <a:buNone/>
                      </a:pPr>
                      <a:r>
                        <a:rPr lang="en-001">
                          <a:effectLst/>
                          <a:latin typeface=".AppleSystemUIFont"/>
                        </a:rPr>
                        <a:t>movement</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No POS ( reclassify to movement as record type instead of visit)</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1936953878"/>
                  </a:ext>
                </a:extLst>
              </a:tr>
              <a:tr h="0">
                <a:tc>
                  <a:txBody>
                    <a:bodyPr/>
                    <a:lstStyle/>
                    <a:p>
                      <a:pPr>
                        <a:buNone/>
                      </a:pPr>
                      <a:r>
                        <a:rPr lang="en-001">
                          <a:effectLst/>
                          <a:latin typeface=".AppleSystemUIFont"/>
                        </a:rPr>
                        <a:t>healthcare</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a:effectLst/>
                          <a:latin typeface=".AppleSystemUIFont"/>
                        </a:rPr>
                        <a:t>doctor, pharmacy</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405937287"/>
                  </a:ext>
                </a:extLst>
              </a:tr>
              <a:tr h="0">
                <a:tc>
                  <a:txBody>
                    <a:bodyPr/>
                    <a:lstStyle/>
                    <a:p>
                      <a:pPr>
                        <a:buNone/>
                      </a:pPr>
                      <a:r>
                        <a:rPr lang="en-001">
                          <a:effectLst/>
                          <a:latin typeface=".AppleSystemUIFont"/>
                        </a:rPr>
                        <a:t>unknown</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tc>
                  <a:txBody>
                    <a:bodyPr/>
                    <a:lstStyle/>
                    <a:p>
                      <a:pPr>
                        <a:buNone/>
                      </a:pPr>
                      <a:r>
                        <a:rPr lang="en-001" dirty="0">
                          <a:effectLst/>
                          <a:latin typeface=".AppleSystemUIFont"/>
                        </a:rPr>
                        <a:t>unresolved</a:t>
                      </a:r>
                    </a:p>
                  </a:txBody>
                  <a:tcPr marL="47625" marR="47625" marT="9525" marB="9525">
                    <a:lnL w="9525" cap="flat" cmpd="sng" algn="ctr">
                      <a:solidFill>
                        <a:srgbClr val="9A9A9A"/>
                      </a:solidFill>
                      <a:prstDash val="solid"/>
                      <a:round/>
                      <a:headEnd type="none" w="med" len="med"/>
                      <a:tailEnd type="none" w="med" len="med"/>
                    </a:lnL>
                    <a:lnR w="9525" cap="flat" cmpd="sng" algn="ctr">
                      <a:solidFill>
                        <a:srgbClr val="9A9A9A"/>
                      </a:solidFill>
                      <a:prstDash val="solid"/>
                      <a:round/>
                      <a:headEnd type="none" w="med" len="med"/>
                      <a:tailEnd type="none" w="med" len="med"/>
                    </a:lnR>
                    <a:lnT w="9525" cap="flat" cmpd="sng" algn="ctr">
                      <a:solidFill>
                        <a:srgbClr val="9A9A9A"/>
                      </a:solidFill>
                      <a:prstDash val="solid"/>
                      <a:round/>
                      <a:headEnd type="none" w="med" len="med"/>
                      <a:tailEnd type="none" w="med" len="med"/>
                    </a:lnT>
                    <a:lnB w="9525" cap="flat" cmpd="sng" algn="ctr">
                      <a:solidFill>
                        <a:srgbClr val="9A9A9A"/>
                      </a:solidFill>
                      <a:prstDash val="solid"/>
                      <a:round/>
                      <a:headEnd type="none" w="med" len="med"/>
                      <a:tailEnd type="none" w="med" len="med"/>
                    </a:lnB>
                    <a:noFill/>
                  </a:tcPr>
                </a:tc>
                <a:extLst>
                  <a:ext uri="{0D108BD9-81ED-4DB2-BD59-A6C34878D82A}">
                    <a16:rowId xmlns:a16="http://schemas.microsoft.com/office/drawing/2014/main" val="287304062"/>
                  </a:ext>
                </a:extLst>
              </a:tr>
            </a:tbl>
          </a:graphicData>
        </a:graphic>
      </p:graphicFrame>
    </p:spTree>
    <p:extLst>
      <p:ext uri="{BB962C8B-B14F-4D97-AF65-F5344CB8AC3E}">
        <p14:creationId xmlns:p14="http://schemas.microsoft.com/office/powerpoint/2010/main" val="410097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C54F4CE-85F0-46ED-80DA-9518C9251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DADD1FCA-8ACB-4958-81DD-4CDD6D3E1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802086" cy="6858000"/>
          </a:xfrm>
          <a:custGeom>
            <a:avLst/>
            <a:gdLst>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9647 w 5734864"/>
              <a:gd name="connsiteY33" fmla="*/ 1936120 h 6858000"/>
              <a:gd name="connsiteX34" fmla="*/ 714660 w 5734864"/>
              <a:gd name="connsiteY34" fmla="*/ 1982709 h 6858000"/>
              <a:gd name="connsiteX35" fmla="*/ 710759 w 5734864"/>
              <a:gd name="connsiteY35" fmla="*/ 2013010 h 6858000"/>
              <a:gd name="connsiteX36" fmla="*/ 697927 w 5734864"/>
              <a:gd name="connsiteY36" fmla="*/ 2069833 h 6858000"/>
              <a:gd name="connsiteX37" fmla="*/ 693594 w 5734864"/>
              <a:gd name="connsiteY37" fmla="*/ 2103731 h 6858000"/>
              <a:gd name="connsiteX38" fmla="*/ 691109 w 5734864"/>
              <a:gd name="connsiteY38" fmla="*/ 2124027 h 6858000"/>
              <a:gd name="connsiteX39" fmla="*/ 676593 w 5734864"/>
              <a:gd name="connsiteY39" fmla="*/ 2176182 h 6858000"/>
              <a:gd name="connsiteX40" fmla="*/ 633227 w 5734864"/>
              <a:gd name="connsiteY40" fmla="*/ 2258036 h 6858000"/>
              <a:gd name="connsiteX41" fmla="*/ 625564 w 5734864"/>
              <a:gd name="connsiteY41" fmla="*/ 2284567 h 6858000"/>
              <a:gd name="connsiteX42" fmla="*/ 627074 w 5734864"/>
              <a:gd name="connsiteY42" fmla="*/ 2289605 h 6858000"/>
              <a:gd name="connsiteX43" fmla="*/ 614574 w 5734864"/>
              <a:gd name="connsiteY43" fmla="*/ 2308717 h 6858000"/>
              <a:gd name="connsiteX44" fmla="*/ 606890 w 5734864"/>
              <a:gd name="connsiteY44" fmla="*/ 2320662 h 6858000"/>
              <a:gd name="connsiteX45" fmla="*/ 605558 w 5734864"/>
              <a:gd name="connsiteY45" fmla="*/ 2327897 h 6858000"/>
              <a:gd name="connsiteX46" fmla="*/ 602202 w 5734864"/>
              <a:gd name="connsiteY46" fmla="*/ 2357749 h 6858000"/>
              <a:gd name="connsiteX47" fmla="*/ 600213 w 5734864"/>
              <a:gd name="connsiteY47" fmla="*/ 2364905 h 6858000"/>
              <a:gd name="connsiteX48" fmla="*/ 597160 w 5734864"/>
              <a:gd name="connsiteY48" fmla="*/ 2388351 h 6858000"/>
              <a:gd name="connsiteX49" fmla="*/ 597982 w 5734864"/>
              <a:gd name="connsiteY49" fmla="*/ 2402296 h 6858000"/>
              <a:gd name="connsiteX50" fmla="*/ 593150 w 5734864"/>
              <a:gd name="connsiteY50" fmla="*/ 2420015 h 6858000"/>
              <a:gd name="connsiteX51" fmla="*/ 592833 w 5734864"/>
              <a:gd name="connsiteY51" fmla="*/ 2422749 h 6858000"/>
              <a:gd name="connsiteX52" fmla="*/ 594479 w 5734864"/>
              <a:gd name="connsiteY52" fmla="*/ 2426002 h 6858000"/>
              <a:gd name="connsiteX53" fmla="*/ 591963 w 5734864"/>
              <a:gd name="connsiteY53" fmla="*/ 2431950 h 6858000"/>
              <a:gd name="connsiteX54" fmla="*/ 591544 w 5734864"/>
              <a:gd name="connsiteY54" fmla="*/ 2433897 h 6858000"/>
              <a:gd name="connsiteX55" fmla="*/ 589519 w 5734864"/>
              <a:gd name="connsiteY55" fmla="*/ 2451398 h 6858000"/>
              <a:gd name="connsiteX56" fmla="*/ 590037 w 5734864"/>
              <a:gd name="connsiteY56" fmla="*/ 2455536 h 6858000"/>
              <a:gd name="connsiteX57" fmla="*/ 588179 w 5734864"/>
              <a:gd name="connsiteY57" fmla="*/ 2462981 h 6858000"/>
              <a:gd name="connsiteX58" fmla="*/ 583434 w 5734864"/>
              <a:gd name="connsiteY58" fmla="*/ 2503991 h 6858000"/>
              <a:gd name="connsiteX59" fmla="*/ 567942 w 5734864"/>
              <a:gd name="connsiteY59" fmla="*/ 2652936 h 6858000"/>
              <a:gd name="connsiteX60" fmla="*/ 573869 w 5734864"/>
              <a:gd name="connsiteY60" fmla="*/ 2670188 h 6858000"/>
              <a:gd name="connsiteX61" fmla="*/ 575243 w 5734864"/>
              <a:gd name="connsiteY61" fmla="*/ 2688114 h 6858000"/>
              <a:gd name="connsiteX62" fmla="*/ 573824 w 5734864"/>
              <a:gd name="connsiteY62" fmla="*/ 2689856 h 6858000"/>
              <a:gd name="connsiteX63" fmla="*/ 570699 w 5734864"/>
              <a:gd name="connsiteY63" fmla="*/ 2709353 h 6858000"/>
              <a:gd name="connsiteX64" fmla="*/ 573192 w 5734864"/>
              <a:gd name="connsiteY64" fmla="*/ 2714527 h 6858000"/>
              <a:gd name="connsiteX65" fmla="*/ 572044 w 5734864"/>
              <a:gd name="connsiteY65" fmla="*/ 2728187 h 6858000"/>
              <a:gd name="connsiteX66" fmla="*/ 572465 w 5734864"/>
              <a:gd name="connsiteY66" fmla="*/ 2755863 h 6858000"/>
              <a:gd name="connsiteX67" fmla="*/ 570028 w 5734864"/>
              <a:gd name="connsiteY67" fmla="*/ 2760324 h 6858000"/>
              <a:gd name="connsiteX68" fmla="*/ 566748 w 5734864"/>
              <a:gd name="connsiteY68" fmla="*/ 2800948 h 6858000"/>
              <a:gd name="connsiteX69" fmla="*/ 565509 w 5734864"/>
              <a:gd name="connsiteY69" fmla="*/ 2801167 h 6858000"/>
              <a:gd name="connsiteX70" fmla="*/ 559367 w 5734864"/>
              <a:gd name="connsiteY70" fmla="*/ 2811129 h 6858000"/>
              <a:gd name="connsiteX71" fmla="*/ 550354 w 5734864"/>
              <a:gd name="connsiteY71" fmla="*/ 2830949 h 6858000"/>
              <a:gd name="connsiteX72" fmla="*/ 514795 w 5734864"/>
              <a:gd name="connsiteY72" fmla="*/ 2872433 h 6858000"/>
              <a:gd name="connsiteX73" fmla="*/ 509875 w 5734864"/>
              <a:gd name="connsiteY73" fmla="*/ 2923099 h 6858000"/>
              <a:gd name="connsiteX74" fmla="*/ 509577 w 5734864"/>
              <a:gd name="connsiteY74" fmla="*/ 2923197 h 6858000"/>
              <a:gd name="connsiteX75" fmla="*/ 507597 w 5734864"/>
              <a:gd name="connsiteY75" fmla="*/ 2931868 h 6858000"/>
              <a:gd name="connsiteX76" fmla="*/ 507379 w 5734864"/>
              <a:gd name="connsiteY76" fmla="*/ 2938322 h 6858000"/>
              <a:gd name="connsiteX77" fmla="*/ 504725 w 5734864"/>
              <a:gd name="connsiteY77" fmla="*/ 2954519 h 6858000"/>
              <a:gd name="connsiteX78" fmla="*/ 502018 w 5734864"/>
              <a:gd name="connsiteY78" fmla="*/ 2959643 h 6858000"/>
              <a:gd name="connsiteX79" fmla="*/ 498360 w 5734864"/>
              <a:gd name="connsiteY79" fmla="*/ 2961019 h 6858000"/>
              <a:gd name="connsiteX80" fmla="*/ 498483 w 5734864"/>
              <a:gd name="connsiteY80" fmla="*/ 2962590 h 6858000"/>
              <a:gd name="connsiteX81" fmla="*/ 484403 w 5734864"/>
              <a:gd name="connsiteY81" fmla="*/ 2990538 h 6858000"/>
              <a:gd name="connsiteX82" fmla="*/ 463075 w 5734864"/>
              <a:gd name="connsiteY82" fmla="*/ 3055956 h 6858000"/>
              <a:gd name="connsiteX83" fmla="*/ 455013 w 5734864"/>
              <a:gd name="connsiteY83" fmla="*/ 3094482 h 6858000"/>
              <a:gd name="connsiteX84" fmla="*/ 428391 w 5734864"/>
              <a:gd name="connsiteY84" fmla="*/ 3198850 h 6858000"/>
              <a:gd name="connsiteX85" fmla="*/ 401440 w 5734864"/>
              <a:gd name="connsiteY85" fmla="*/ 3307560 h 6858000"/>
              <a:gd name="connsiteX86" fmla="*/ 386076 w 5734864"/>
              <a:gd name="connsiteY86" fmla="*/ 3373943 h 6858000"/>
              <a:gd name="connsiteX87" fmla="*/ 374726 w 5734864"/>
              <a:gd name="connsiteY87" fmla="*/ 3381364 h 6858000"/>
              <a:gd name="connsiteX88" fmla="*/ 369145 w 5734864"/>
              <a:gd name="connsiteY88" fmla="*/ 3383729 h 6858000"/>
              <a:gd name="connsiteX89" fmla="*/ 364294 w 5734864"/>
              <a:gd name="connsiteY89" fmla="*/ 3414159 h 6858000"/>
              <a:gd name="connsiteX90" fmla="*/ 366450 w 5734864"/>
              <a:gd name="connsiteY90" fmla="*/ 3436925 h 6858000"/>
              <a:gd name="connsiteX91" fmla="*/ 351743 w 5734864"/>
              <a:gd name="connsiteY91" fmla="*/ 3521619 h 6858000"/>
              <a:gd name="connsiteX92" fmla="*/ 345784 w 5734864"/>
              <a:gd name="connsiteY92" fmla="*/ 3603757 h 6858000"/>
              <a:gd name="connsiteX93" fmla="*/ 344198 w 5734864"/>
              <a:gd name="connsiteY93" fmla="*/ 3652424 h 6858000"/>
              <a:gd name="connsiteX94" fmla="*/ 352450 w 5734864"/>
              <a:gd name="connsiteY94" fmla="*/ 3665222 h 6858000"/>
              <a:gd name="connsiteX95" fmla="*/ 342621 w 5734864"/>
              <a:gd name="connsiteY95" fmla="*/ 3700804 h 6858000"/>
              <a:gd name="connsiteX96" fmla="*/ 341514 w 5734864"/>
              <a:gd name="connsiteY96" fmla="*/ 3734774 h 6858000"/>
              <a:gd name="connsiteX97" fmla="*/ 340607 w 5734864"/>
              <a:gd name="connsiteY97" fmla="*/ 3785153 h 6858000"/>
              <a:gd name="connsiteX98" fmla="*/ 340707 w 5734864"/>
              <a:gd name="connsiteY98" fmla="*/ 3788177 h 6858000"/>
              <a:gd name="connsiteX99" fmla="*/ 340361 w 5734864"/>
              <a:gd name="connsiteY99" fmla="*/ 3798803 h 6858000"/>
              <a:gd name="connsiteX100" fmla="*/ 339642 w 5734864"/>
              <a:gd name="connsiteY100" fmla="*/ 3838750 h 6858000"/>
              <a:gd name="connsiteX101" fmla="*/ 360295 w 5734864"/>
              <a:gd name="connsiteY101" fmla="*/ 4015196 h 6858000"/>
              <a:gd name="connsiteX102" fmla="*/ 339043 w 5734864"/>
              <a:gd name="connsiteY102" fmla="*/ 4052778 h 6858000"/>
              <a:gd name="connsiteX103" fmla="*/ 339343 w 5734864"/>
              <a:gd name="connsiteY103" fmla="*/ 4096257 h 6858000"/>
              <a:gd name="connsiteX104" fmla="*/ 340786 w 5734864"/>
              <a:gd name="connsiteY104" fmla="*/ 4321136 h 6858000"/>
              <a:gd name="connsiteX105" fmla="*/ 343158 w 5734864"/>
              <a:gd name="connsiteY105" fmla="*/ 4429174 h 6858000"/>
              <a:gd name="connsiteX106" fmla="*/ 334599 w 5734864"/>
              <a:gd name="connsiteY106" fmla="*/ 4449938 h 6858000"/>
              <a:gd name="connsiteX107" fmla="*/ 332890 w 5734864"/>
              <a:gd name="connsiteY107" fmla="*/ 4453515 h 6858000"/>
              <a:gd name="connsiteX108" fmla="*/ 331105 w 5734864"/>
              <a:gd name="connsiteY108" fmla="*/ 4467941 h 6858000"/>
              <a:gd name="connsiteX109" fmla="*/ 324289 w 5734864"/>
              <a:gd name="connsiteY109" fmla="*/ 4471861 h 6858000"/>
              <a:gd name="connsiteX110" fmla="*/ 317079 w 5734864"/>
              <a:gd name="connsiteY110" fmla="*/ 4493468 h 6858000"/>
              <a:gd name="connsiteX111" fmla="*/ 315557 w 5734864"/>
              <a:gd name="connsiteY111" fmla="*/ 4520067 h 6858000"/>
              <a:gd name="connsiteX112" fmla="*/ 315240 w 5734864"/>
              <a:gd name="connsiteY112" fmla="*/ 4536872 h 6858000"/>
              <a:gd name="connsiteX113" fmla="*/ 316200 w 5734864"/>
              <a:gd name="connsiteY113" fmla="*/ 4538297 h 6858000"/>
              <a:gd name="connsiteX114" fmla="*/ 317507 w 5734864"/>
              <a:gd name="connsiteY114" fmla="*/ 4547582 h 6858000"/>
              <a:gd name="connsiteX115" fmla="*/ 323078 w 5734864"/>
              <a:gd name="connsiteY115" fmla="*/ 4592102 h 6858000"/>
              <a:gd name="connsiteX116" fmla="*/ 328722 w 5734864"/>
              <a:gd name="connsiteY116" fmla="*/ 4667914 h 6858000"/>
              <a:gd name="connsiteX117" fmla="*/ 335597 w 5734864"/>
              <a:gd name="connsiteY117" fmla="*/ 4695035 h 6858000"/>
              <a:gd name="connsiteX118" fmla="*/ 339485 w 5734864"/>
              <a:gd name="connsiteY118" fmla="*/ 4695979 h 6858000"/>
              <a:gd name="connsiteX119" fmla="*/ 341089 w 5734864"/>
              <a:gd name="connsiteY119" fmla="*/ 4704268 h 6858000"/>
              <a:gd name="connsiteX120" fmla="*/ 342177 w 5734864"/>
              <a:gd name="connsiteY120" fmla="*/ 4706060 h 6858000"/>
              <a:gd name="connsiteX121" fmla="*/ 347751 w 5734864"/>
              <a:gd name="connsiteY121" fmla="*/ 4716754 h 6858000"/>
              <a:gd name="connsiteX122" fmla="*/ 344125 w 5734864"/>
              <a:gd name="connsiteY122" fmla="*/ 4764669 h 6858000"/>
              <a:gd name="connsiteX123" fmla="*/ 340188 w 5734864"/>
              <a:gd name="connsiteY123" fmla="*/ 4779386 h 6858000"/>
              <a:gd name="connsiteX124" fmla="*/ 335146 w 5734864"/>
              <a:gd name="connsiteY124" fmla="*/ 4787491 h 6858000"/>
              <a:gd name="connsiteX125" fmla="*/ 319124 w 5734864"/>
              <a:gd name="connsiteY125" fmla="*/ 4843514 h 6858000"/>
              <a:gd name="connsiteX126" fmla="*/ 305956 w 5734864"/>
              <a:gd name="connsiteY126" fmla="*/ 4881505 h 6858000"/>
              <a:gd name="connsiteX127" fmla="*/ 301062 w 5734864"/>
              <a:gd name="connsiteY127" fmla="*/ 4889332 h 6858000"/>
              <a:gd name="connsiteX128" fmla="*/ 302141 w 5734864"/>
              <a:gd name="connsiteY128" fmla="*/ 4899400 h 6858000"/>
              <a:gd name="connsiteX129" fmla="*/ 304424 w 5734864"/>
              <a:gd name="connsiteY129" fmla="*/ 4902664 h 6858000"/>
              <a:gd name="connsiteX130" fmla="*/ 293123 w 5734864"/>
              <a:gd name="connsiteY130" fmla="*/ 4932769 h 6858000"/>
              <a:gd name="connsiteX131" fmla="*/ 292275 w 5734864"/>
              <a:gd name="connsiteY131" fmla="*/ 4936482 h 6858000"/>
              <a:gd name="connsiteX132" fmla="*/ 288304 w 5734864"/>
              <a:gd name="connsiteY132" fmla="*/ 4962325 h 6858000"/>
              <a:gd name="connsiteX133" fmla="*/ 287420 w 5734864"/>
              <a:gd name="connsiteY133" fmla="*/ 5042193 h 6858000"/>
              <a:gd name="connsiteX134" fmla="*/ 287020 w 5734864"/>
              <a:gd name="connsiteY134" fmla="*/ 5065655 h 6858000"/>
              <a:gd name="connsiteX135" fmla="*/ 288488 w 5734864"/>
              <a:gd name="connsiteY135" fmla="*/ 5082216 h 6858000"/>
              <a:gd name="connsiteX136" fmla="*/ 282763 w 5734864"/>
              <a:gd name="connsiteY136" fmla="*/ 5127114 h 6858000"/>
              <a:gd name="connsiteX137" fmla="*/ 269316 w 5734864"/>
              <a:gd name="connsiteY137" fmla="*/ 5202682 h 6858000"/>
              <a:gd name="connsiteX138" fmla="*/ 269174 w 5734864"/>
              <a:gd name="connsiteY138" fmla="*/ 5230835 h 6858000"/>
              <a:gd name="connsiteX139" fmla="*/ 272679 w 5734864"/>
              <a:gd name="connsiteY139" fmla="*/ 5232660 h 6858000"/>
              <a:gd name="connsiteX140" fmla="*/ 272160 w 5734864"/>
              <a:gd name="connsiteY140" fmla="*/ 5241150 h 6858000"/>
              <a:gd name="connsiteX141" fmla="*/ 272760 w 5734864"/>
              <a:gd name="connsiteY141" fmla="*/ 5243156 h 6858000"/>
              <a:gd name="connsiteX142" fmla="*/ 275462 w 5734864"/>
              <a:gd name="connsiteY142" fmla="*/ 5254919 h 6858000"/>
              <a:gd name="connsiteX143" fmla="*/ 262897 w 5734864"/>
              <a:gd name="connsiteY143" fmla="*/ 5286259 h 6858000"/>
              <a:gd name="connsiteX144" fmla="*/ 252761 w 5734864"/>
              <a:gd name="connsiteY144" fmla="*/ 5357801 h 6858000"/>
              <a:gd name="connsiteX145" fmla="*/ 242360 w 5734864"/>
              <a:gd name="connsiteY145" fmla="*/ 5460080 h 6858000"/>
              <a:gd name="connsiteX146" fmla="*/ 229880 w 5734864"/>
              <a:gd name="connsiteY146" fmla="*/ 5539714 h 6858000"/>
              <a:gd name="connsiteX147" fmla="*/ 204283 w 5734864"/>
              <a:gd name="connsiteY147" fmla="*/ 5639080 h 6858000"/>
              <a:gd name="connsiteX148" fmla="*/ 198948 w 5734864"/>
              <a:gd name="connsiteY148" fmla="*/ 5710958 h 6858000"/>
              <a:gd name="connsiteX149" fmla="*/ 192367 w 5734864"/>
              <a:gd name="connsiteY149" fmla="*/ 5719859 h 6858000"/>
              <a:gd name="connsiteX150" fmla="*/ 188035 w 5734864"/>
              <a:gd name="connsiteY150" fmla="*/ 5729935 h 6858000"/>
              <a:gd name="connsiteX151" fmla="*/ 188428 w 5734864"/>
              <a:gd name="connsiteY151" fmla="*/ 5731182 h 6858000"/>
              <a:gd name="connsiteX152" fmla="*/ 181635 w 5734864"/>
              <a:gd name="connsiteY152" fmla="*/ 5753538 h 6858000"/>
              <a:gd name="connsiteX153" fmla="*/ 169744 w 5734864"/>
              <a:gd name="connsiteY153" fmla="*/ 5796307 h 6858000"/>
              <a:gd name="connsiteX154" fmla="*/ 170351 w 5734864"/>
              <a:gd name="connsiteY154" fmla="*/ 5796644 h 6858000"/>
              <a:gd name="connsiteX155" fmla="*/ 171559 w 5734864"/>
              <a:gd name="connsiteY155" fmla="*/ 5803435 h 6858000"/>
              <a:gd name="connsiteX156" fmla="*/ 172284 w 5734864"/>
              <a:gd name="connsiteY156" fmla="*/ 5816391 h 6858000"/>
              <a:gd name="connsiteX157" fmla="*/ 182542 w 5734864"/>
              <a:gd name="connsiteY157" fmla="*/ 5846382 h 6858000"/>
              <a:gd name="connsiteX158" fmla="*/ 175877 w 5734864"/>
              <a:gd name="connsiteY158" fmla="*/ 5871336 h 6858000"/>
              <a:gd name="connsiteX159" fmla="*/ 174910 w 5734864"/>
              <a:gd name="connsiteY159" fmla="*/ 5876376 h 6858000"/>
              <a:gd name="connsiteX160" fmla="*/ 175047 w 5734864"/>
              <a:gd name="connsiteY160" fmla="*/ 5876483 h 6858000"/>
              <a:gd name="connsiteX161" fmla="*/ 174335 w 5734864"/>
              <a:gd name="connsiteY161" fmla="*/ 5881814 h 6858000"/>
              <a:gd name="connsiteX162" fmla="*/ 171273 w 5734864"/>
              <a:gd name="connsiteY162" fmla="*/ 5895339 h 6858000"/>
              <a:gd name="connsiteX163" fmla="*/ 171658 w 5734864"/>
              <a:gd name="connsiteY163" fmla="*/ 5898749 h 6858000"/>
              <a:gd name="connsiteX164" fmla="*/ 174658 w 5734864"/>
              <a:gd name="connsiteY164" fmla="*/ 5919558 h 6858000"/>
              <a:gd name="connsiteX165" fmla="*/ 169099 w 5734864"/>
              <a:gd name="connsiteY165" fmla="*/ 5984417 h 6858000"/>
              <a:gd name="connsiteX166" fmla="*/ 162007 w 5734864"/>
              <a:gd name="connsiteY166" fmla="*/ 6049043 h 6858000"/>
              <a:gd name="connsiteX167" fmla="*/ 156875 w 5734864"/>
              <a:gd name="connsiteY167" fmla="*/ 6114000 h 6858000"/>
              <a:gd name="connsiteX168" fmla="*/ 165441 w 5734864"/>
              <a:gd name="connsiteY168" fmla="*/ 6146938 h 6858000"/>
              <a:gd name="connsiteX169" fmla="*/ 165177 w 5734864"/>
              <a:gd name="connsiteY169" fmla="*/ 6150658 h 6858000"/>
              <a:gd name="connsiteX170" fmla="*/ 161772 w 5734864"/>
              <a:gd name="connsiteY170" fmla="*/ 6160011 h 6858000"/>
              <a:gd name="connsiteX171" fmla="*/ 160051 w 5734864"/>
              <a:gd name="connsiteY171" fmla="*/ 6163393 h 6858000"/>
              <a:gd name="connsiteX172" fmla="*/ 158473 w 5734864"/>
              <a:gd name="connsiteY172" fmla="*/ 6168628 h 6858000"/>
              <a:gd name="connsiteX173" fmla="*/ 158573 w 5734864"/>
              <a:gd name="connsiteY173" fmla="*/ 6168799 h 6858000"/>
              <a:gd name="connsiteX174" fmla="*/ 146463 w 5734864"/>
              <a:gd name="connsiteY174" fmla="*/ 6196671 h 6858000"/>
              <a:gd name="connsiteX175" fmla="*/ 150209 w 5734864"/>
              <a:gd name="connsiteY175" fmla="*/ 6232365 h 6858000"/>
              <a:gd name="connsiteX176" fmla="*/ 148544 w 5734864"/>
              <a:gd name="connsiteY176" fmla="*/ 6246162 h 6858000"/>
              <a:gd name="connsiteX177" fmla="*/ 148403 w 5734864"/>
              <a:gd name="connsiteY177" fmla="*/ 6253754 h 6858000"/>
              <a:gd name="connsiteX178" fmla="*/ 138880 w 5734864"/>
              <a:gd name="connsiteY178" fmla="*/ 6276449 h 6858000"/>
              <a:gd name="connsiteX179" fmla="*/ 138683 w 5734864"/>
              <a:gd name="connsiteY179" fmla="*/ 6279721 h 6858000"/>
              <a:gd name="connsiteX180" fmla="*/ 130721 w 5734864"/>
              <a:gd name="connsiteY180" fmla="*/ 6293675 h 6858000"/>
              <a:gd name="connsiteX181" fmla="*/ 120717 w 5734864"/>
              <a:gd name="connsiteY181" fmla="*/ 6313967 h 6858000"/>
              <a:gd name="connsiteX182" fmla="*/ 120841 w 5734864"/>
              <a:gd name="connsiteY182" fmla="*/ 6315437 h 6858000"/>
              <a:gd name="connsiteX183" fmla="*/ 115208 w 5734864"/>
              <a:gd name="connsiteY183" fmla="*/ 6324024 h 6858000"/>
              <a:gd name="connsiteX184" fmla="*/ 101217 w 5734864"/>
              <a:gd name="connsiteY184" fmla="*/ 6365923 h 6858000"/>
              <a:gd name="connsiteX185" fmla="*/ 74946 w 5734864"/>
              <a:gd name="connsiteY185" fmla="*/ 6556817 h 6858000"/>
              <a:gd name="connsiteX186" fmla="*/ 16001 w 5734864"/>
              <a:gd name="connsiteY186" fmla="*/ 6808678 h 6858000"/>
              <a:gd name="connsiteX187" fmla="*/ 0 w 5734864"/>
              <a:gd name="connsiteY187" fmla="*/ 6858000 h 6858000"/>
              <a:gd name="connsiteX188" fmla="*/ 5734864 w 5734864"/>
              <a:gd name="connsiteY188" fmla="*/ 685800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6695 w 5734864"/>
              <a:gd name="connsiteY13" fmla="*/ 1035077 h 6858000"/>
              <a:gd name="connsiteX14" fmla="*/ 847865 w 5734864"/>
              <a:gd name="connsiteY14" fmla="*/ 1070795 h 6858000"/>
              <a:gd name="connsiteX15" fmla="*/ 862786 w 5734864"/>
              <a:gd name="connsiteY15" fmla="*/ 1238994 h 6858000"/>
              <a:gd name="connsiteX16" fmla="*/ 859345 w 5734864"/>
              <a:gd name="connsiteY16" fmla="*/ 1380427 h 6858000"/>
              <a:gd name="connsiteX17" fmla="*/ 855172 w 5734864"/>
              <a:gd name="connsiteY17" fmla="*/ 1435262 h 6858000"/>
              <a:gd name="connsiteX18" fmla="*/ 860494 w 5734864"/>
              <a:gd name="connsiteY18" fmla="*/ 1453861 h 6858000"/>
              <a:gd name="connsiteX19" fmla="*/ 853731 w 5734864"/>
              <a:gd name="connsiteY19" fmla="*/ 1467047 h 6858000"/>
              <a:gd name="connsiteX20" fmla="*/ 845847 w 5734864"/>
              <a:gd name="connsiteY20" fmla="*/ 1502307 h 6858000"/>
              <a:gd name="connsiteX21" fmla="*/ 817613 w 5734864"/>
              <a:gd name="connsiteY21" fmla="*/ 1565166 h 6858000"/>
              <a:gd name="connsiteX22" fmla="*/ 804223 w 5734864"/>
              <a:gd name="connsiteY22" fmla="*/ 1601941 h 6858000"/>
              <a:gd name="connsiteX23" fmla="*/ 791773 w 5734864"/>
              <a:gd name="connsiteY23" fmla="*/ 1627005 h 6858000"/>
              <a:gd name="connsiteX24" fmla="*/ 774645 w 5734864"/>
              <a:gd name="connsiteY24" fmla="*/ 1699922 h 6858000"/>
              <a:gd name="connsiteX25" fmla="*/ 752343 w 5734864"/>
              <a:gd name="connsiteY25" fmla="*/ 1824604 h 6858000"/>
              <a:gd name="connsiteX26" fmla="*/ 746254 w 5734864"/>
              <a:gd name="connsiteY26" fmla="*/ 1850222 h 6858000"/>
              <a:gd name="connsiteX27" fmla="*/ 728600 w 5734864"/>
              <a:gd name="connsiteY27" fmla="*/ 1869603 h 6858000"/>
              <a:gd name="connsiteX28" fmla="*/ 724396 w 5734864"/>
              <a:gd name="connsiteY28" fmla="*/ 1883104 h 6858000"/>
              <a:gd name="connsiteX29" fmla="*/ 722165 w 5734864"/>
              <a:gd name="connsiteY29" fmla="*/ 1885924 h 6858000"/>
              <a:gd name="connsiteX30" fmla="*/ 721338 w 5734864"/>
              <a:gd name="connsiteY30" fmla="*/ 1887123 h 6858000"/>
              <a:gd name="connsiteX31" fmla="*/ 714840 w 5734864"/>
              <a:gd name="connsiteY31" fmla="*/ 1902274 h 6858000"/>
              <a:gd name="connsiteX32" fmla="*/ 722847 w 5734864"/>
              <a:gd name="connsiteY32" fmla="*/ 1929891 h 6858000"/>
              <a:gd name="connsiteX33" fmla="*/ 714660 w 5734864"/>
              <a:gd name="connsiteY33" fmla="*/ 1982709 h 6858000"/>
              <a:gd name="connsiteX34" fmla="*/ 710759 w 5734864"/>
              <a:gd name="connsiteY34" fmla="*/ 2013010 h 6858000"/>
              <a:gd name="connsiteX35" fmla="*/ 697927 w 5734864"/>
              <a:gd name="connsiteY35" fmla="*/ 2069833 h 6858000"/>
              <a:gd name="connsiteX36" fmla="*/ 693594 w 5734864"/>
              <a:gd name="connsiteY36" fmla="*/ 2103731 h 6858000"/>
              <a:gd name="connsiteX37" fmla="*/ 691109 w 5734864"/>
              <a:gd name="connsiteY37" fmla="*/ 2124027 h 6858000"/>
              <a:gd name="connsiteX38" fmla="*/ 676593 w 5734864"/>
              <a:gd name="connsiteY38" fmla="*/ 2176182 h 6858000"/>
              <a:gd name="connsiteX39" fmla="*/ 633227 w 5734864"/>
              <a:gd name="connsiteY39" fmla="*/ 2258036 h 6858000"/>
              <a:gd name="connsiteX40" fmla="*/ 625564 w 5734864"/>
              <a:gd name="connsiteY40" fmla="*/ 2284567 h 6858000"/>
              <a:gd name="connsiteX41" fmla="*/ 627074 w 5734864"/>
              <a:gd name="connsiteY41" fmla="*/ 2289605 h 6858000"/>
              <a:gd name="connsiteX42" fmla="*/ 614574 w 5734864"/>
              <a:gd name="connsiteY42" fmla="*/ 2308717 h 6858000"/>
              <a:gd name="connsiteX43" fmla="*/ 606890 w 5734864"/>
              <a:gd name="connsiteY43" fmla="*/ 2320662 h 6858000"/>
              <a:gd name="connsiteX44" fmla="*/ 605558 w 5734864"/>
              <a:gd name="connsiteY44" fmla="*/ 2327897 h 6858000"/>
              <a:gd name="connsiteX45" fmla="*/ 602202 w 5734864"/>
              <a:gd name="connsiteY45" fmla="*/ 2357749 h 6858000"/>
              <a:gd name="connsiteX46" fmla="*/ 600213 w 5734864"/>
              <a:gd name="connsiteY46" fmla="*/ 2364905 h 6858000"/>
              <a:gd name="connsiteX47" fmla="*/ 597160 w 5734864"/>
              <a:gd name="connsiteY47" fmla="*/ 2388351 h 6858000"/>
              <a:gd name="connsiteX48" fmla="*/ 597982 w 5734864"/>
              <a:gd name="connsiteY48" fmla="*/ 2402296 h 6858000"/>
              <a:gd name="connsiteX49" fmla="*/ 593150 w 5734864"/>
              <a:gd name="connsiteY49" fmla="*/ 2420015 h 6858000"/>
              <a:gd name="connsiteX50" fmla="*/ 592833 w 5734864"/>
              <a:gd name="connsiteY50" fmla="*/ 2422749 h 6858000"/>
              <a:gd name="connsiteX51" fmla="*/ 594479 w 5734864"/>
              <a:gd name="connsiteY51" fmla="*/ 2426002 h 6858000"/>
              <a:gd name="connsiteX52" fmla="*/ 591963 w 5734864"/>
              <a:gd name="connsiteY52" fmla="*/ 2431950 h 6858000"/>
              <a:gd name="connsiteX53" fmla="*/ 591544 w 5734864"/>
              <a:gd name="connsiteY53" fmla="*/ 2433897 h 6858000"/>
              <a:gd name="connsiteX54" fmla="*/ 589519 w 5734864"/>
              <a:gd name="connsiteY54" fmla="*/ 2451398 h 6858000"/>
              <a:gd name="connsiteX55" fmla="*/ 590037 w 5734864"/>
              <a:gd name="connsiteY55" fmla="*/ 2455536 h 6858000"/>
              <a:gd name="connsiteX56" fmla="*/ 588179 w 5734864"/>
              <a:gd name="connsiteY56" fmla="*/ 2462981 h 6858000"/>
              <a:gd name="connsiteX57" fmla="*/ 583434 w 5734864"/>
              <a:gd name="connsiteY57" fmla="*/ 2503991 h 6858000"/>
              <a:gd name="connsiteX58" fmla="*/ 567942 w 5734864"/>
              <a:gd name="connsiteY58" fmla="*/ 2652936 h 6858000"/>
              <a:gd name="connsiteX59" fmla="*/ 573869 w 5734864"/>
              <a:gd name="connsiteY59" fmla="*/ 2670188 h 6858000"/>
              <a:gd name="connsiteX60" fmla="*/ 575243 w 5734864"/>
              <a:gd name="connsiteY60" fmla="*/ 2688114 h 6858000"/>
              <a:gd name="connsiteX61" fmla="*/ 573824 w 5734864"/>
              <a:gd name="connsiteY61" fmla="*/ 2689856 h 6858000"/>
              <a:gd name="connsiteX62" fmla="*/ 570699 w 5734864"/>
              <a:gd name="connsiteY62" fmla="*/ 2709353 h 6858000"/>
              <a:gd name="connsiteX63" fmla="*/ 573192 w 5734864"/>
              <a:gd name="connsiteY63" fmla="*/ 2714527 h 6858000"/>
              <a:gd name="connsiteX64" fmla="*/ 572044 w 5734864"/>
              <a:gd name="connsiteY64" fmla="*/ 2728187 h 6858000"/>
              <a:gd name="connsiteX65" fmla="*/ 572465 w 5734864"/>
              <a:gd name="connsiteY65" fmla="*/ 2755863 h 6858000"/>
              <a:gd name="connsiteX66" fmla="*/ 570028 w 5734864"/>
              <a:gd name="connsiteY66" fmla="*/ 2760324 h 6858000"/>
              <a:gd name="connsiteX67" fmla="*/ 566748 w 5734864"/>
              <a:gd name="connsiteY67" fmla="*/ 2800948 h 6858000"/>
              <a:gd name="connsiteX68" fmla="*/ 565509 w 5734864"/>
              <a:gd name="connsiteY68" fmla="*/ 2801167 h 6858000"/>
              <a:gd name="connsiteX69" fmla="*/ 559367 w 5734864"/>
              <a:gd name="connsiteY69" fmla="*/ 2811129 h 6858000"/>
              <a:gd name="connsiteX70" fmla="*/ 550354 w 5734864"/>
              <a:gd name="connsiteY70" fmla="*/ 2830949 h 6858000"/>
              <a:gd name="connsiteX71" fmla="*/ 514795 w 5734864"/>
              <a:gd name="connsiteY71" fmla="*/ 2872433 h 6858000"/>
              <a:gd name="connsiteX72" fmla="*/ 509875 w 5734864"/>
              <a:gd name="connsiteY72" fmla="*/ 2923099 h 6858000"/>
              <a:gd name="connsiteX73" fmla="*/ 509577 w 5734864"/>
              <a:gd name="connsiteY73" fmla="*/ 2923197 h 6858000"/>
              <a:gd name="connsiteX74" fmla="*/ 507597 w 5734864"/>
              <a:gd name="connsiteY74" fmla="*/ 2931868 h 6858000"/>
              <a:gd name="connsiteX75" fmla="*/ 507379 w 5734864"/>
              <a:gd name="connsiteY75" fmla="*/ 2938322 h 6858000"/>
              <a:gd name="connsiteX76" fmla="*/ 504725 w 5734864"/>
              <a:gd name="connsiteY76" fmla="*/ 2954519 h 6858000"/>
              <a:gd name="connsiteX77" fmla="*/ 502018 w 5734864"/>
              <a:gd name="connsiteY77" fmla="*/ 2959643 h 6858000"/>
              <a:gd name="connsiteX78" fmla="*/ 498360 w 5734864"/>
              <a:gd name="connsiteY78" fmla="*/ 2961019 h 6858000"/>
              <a:gd name="connsiteX79" fmla="*/ 498483 w 5734864"/>
              <a:gd name="connsiteY79" fmla="*/ 2962590 h 6858000"/>
              <a:gd name="connsiteX80" fmla="*/ 484403 w 5734864"/>
              <a:gd name="connsiteY80" fmla="*/ 2990538 h 6858000"/>
              <a:gd name="connsiteX81" fmla="*/ 463075 w 5734864"/>
              <a:gd name="connsiteY81" fmla="*/ 3055956 h 6858000"/>
              <a:gd name="connsiteX82" fmla="*/ 455013 w 5734864"/>
              <a:gd name="connsiteY82" fmla="*/ 3094482 h 6858000"/>
              <a:gd name="connsiteX83" fmla="*/ 428391 w 5734864"/>
              <a:gd name="connsiteY83" fmla="*/ 3198850 h 6858000"/>
              <a:gd name="connsiteX84" fmla="*/ 401440 w 5734864"/>
              <a:gd name="connsiteY84" fmla="*/ 3307560 h 6858000"/>
              <a:gd name="connsiteX85" fmla="*/ 386076 w 5734864"/>
              <a:gd name="connsiteY85" fmla="*/ 3373943 h 6858000"/>
              <a:gd name="connsiteX86" fmla="*/ 374726 w 5734864"/>
              <a:gd name="connsiteY86" fmla="*/ 3381364 h 6858000"/>
              <a:gd name="connsiteX87" fmla="*/ 369145 w 5734864"/>
              <a:gd name="connsiteY87" fmla="*/ 3383729 h 6858000"/>
              <a:gd name="connsiteX88" fmla="*/ 364294 w 5734864"/>
              <a:gd name="connsiteY88" fmla="*/ 3414159 h 6858000"/>
              <a:gd name="connsiteX89" fmla="*/ 366450 w 5734864"/>
              <a:gd name="connsiteY89" fmla="*/ 3436925 h 6858000"/>
              <a:gd name="connsiteX90" fmla="*/ 351743 w 5734864"/>
              <a:gd name="connsiteY90" fmla="*/ 3521619 h 6858000"/>
              <a:gd name="connsiteX91" fmla="*/ 345784 w 5734864"/>
              <a:gd name="connsiteY91" fmla="*/ 3603757 h 6858000"/>
              <a:gd name="connsiteX92" fmla="*/ 344198 w 5734864"/>
              <a:gd name="connsiteY92" fmla="*/ 3652424 h 6858000"/>
              <a:gd name="connsiteX93" fmla="*/ 352450 w 5734864"/>
              <a:gd name="connsiteY93" fmla="*/ 3665222 h 6858000"/>
              <a:gd name="connsiteX94" fmla="*/ 342621 w 5734864"/>
              <a:gd name="connsiteY94" fmla="*/ 3700804 h 6858000"/>
              <a:gd name="connsiteX95" fmla="*/ 341514 w 5734864"/>
              <a:gd name="connsiteY95" fmla="*/ 3734774 h 6858000"/>
              <a:gd name="connsiteX96" fmla="*/ 340607 w 5734864"/>
              <a:gd name="connsiteY96" fmla="*/ 3785153 h 6858000"/>
              <a:gd name="connsiteX97" fmla="*/ 340707 w 5734864"/>
              <a:gd name="connsiteY97" fmla="*/ 3788177 h 6858000"/>
              <a:gd name="connsiteX98" fmla="*/ 340361 w 5734864"/>
              <a:gd name="connsiteY98" fmla="*/ 3798803 h 6858000"/>
              <a:gd name="connsiteX99" fmla="*/ 339642 w 5734864"/>
              <a:gd name="connsiteY99" fmla="*/ 3838750 h 6858000"/>
              <a:gd name="connsiteX100" fmla="*/ 360295 w 5734864"/>
              <a:gd name="connsiteY100" fmla="*/ 4015196 h 6858000"/>
              <a:gd name="connsiteX101" fmla="*/ 339043 w 5734864"/>
              <a:gd name="connsiteY101" fmla="*/ 4052778 h 6858000"/>
              <a:gd name="connsiteX102" fmla="*/ 339343 w 5734864"/>
              <a:gd name="connsiteY102" fmla="*/ 4096257 h 6858000"/>
              <a:gd name="connsiteX103" fmla="*/ 340786 w 5734864"/>
              <a:gd name="connsiteY103" fmla="*/ 4321136 h 6858000"/>
              <a:gd name="connsiteX104" fmla="*/ 343158 w 5734864"/>
              <a:gd name="connsiteY104" fmla="*/ 4429174 h 6858000"/>
              <a:gd name="connsiteX105" fmla="*/ 334599 w 5734864"/>
              <a:gd name="connsiteY105" fmla="*/ 4449938 h 6858000"/>
              <a:gd name="connsiteX106" fmla="*/ 332890 w 5734864"/>
              <a:gd name="connsiteY106" fmla="*/ 4453515 h 6858000"/>
              <a:gd name="connsiteX107" fmla="*/ 331105 w 5734864"/>
              <a:gd name="connsiteY107" fmla="*/ 4467941 h 6858000"/>
              <a:gd name="connsiteX108" fmla="*/ 324289 w 5734864"/>
              <a:gd name="connsiteY108" fmla="*/ 4471861 h 6858000"/>
              <a:gd name="connsiteX109" fmla="*/ 317079 w 5734864"/>
              <a:gd name="connsiteY109" fmla="*/ 4493468 h 6858000"/>
              <a:gd name="connsiteX110" fmla="*/ 315557 w 5734864"/>
              <a:gd name="connsiteY110" fmla="*/ 4520067 h 6858000"/>
              <a:gd name="connsiteX111" fmla="*/ 315240 w 5734864"/>
              <a:gd name="connsiteY111" fmla="*/ 4536872 h 6858000"/>
              <a:gd name="connsiteX112" fmla="*/ 316200 w 5734864"/>
              <a:gd name="connsiteY112" fmla="*/ 4538297 h 6858000"/>
              <a:gd name="connsiteX113" fmla="*/ 317507 w 5734864"/>
              <a:gd name="connsiteY113" fmla="*/ 4547582 h 6858000"/>
              <a:gd name="connsiteX114" fmla="*/ 323078 w 5734864"/>
              <a:gd name="connsiteY114" fmla="*/ 4592102 h 6858000"/>
              <a:gd name="connsiteX115" fmla="*/ 328722 w 5734864"/>
              <a:gd name="connsiteY115" fmla="*/ 4667914 h 6858000"/>
              <a:gd name="connsiteX116" fmla="*/ 335597 w 5734864"/>
              <a:gd name="connsiteY116" fmla="*/ 4695035 h 6858000"/>
              <a:gd name="connsiteX117" fmla="*/ 339485 w 5734864"/>
              <a:gd name="connsiteY117" fmla="*/ 4695979 h 6858000"/>
              <a:gd name="connsiteX118" fmla="*/ 341089 w 5734864"/>
              <a:gd name="connsiteY118" fmla="*/ 4704268 h 6858000"/>
              <a:gd name="connsiteX119" fmla="*/ 342177 w 5734864"/>
              <a:gd name="connsiteY119" fmla="*/ 4706060 h 6858000"/>
              <a:gd name="connsiteX120" fmla="*/ 347751 w 5734864"/>
              <a:gd name="connsiteY120" fmla="*/ 4716754 h 6858000"/>
              <a:gd name="connsiteX121" fmla="*/ 344125 w 5734864"/>
              <a:gd name="connsiteY121" fmla="*/ 4764669 h 6858000"/>
              <a:gd name="connsiteX122" fmla="*/ 340188 w 5734864"/>
              <a:gd name="connsiteY122" fmla="*/ 4779386 h 6858000"/>
              <a:gd name="connsiteX123" fmla="*/ 335146 w 5734864"/>
              <a:gd name="connsiteY123" fmla="*/ 4787491 h 6858000"/>
              <a:gd name="connsiteX124" fmla="*/ 319124 w 5734864"/>
              <a:gd name="connsiteY124" fmla="*/ 4843514 h 6858000"/>
              <a:gd name="connsiteX125" fmla="*/ 305956 w 5734864"/>
              <a:gd name="connsiteY125" fmla="*/ 4881505 h 6858000"/>
              <a:gd name="connsiteX126" fmla="*/ 301062 w 5734864"/>
              <a:gd name="connsiteY126" fmla="*/ 4889332 h 6858000"/>
              <a:gd name="connsiteX127" fmla="*/ 302141 w 5734864"/>
              <a:gd name="connsiteY127" fmla="*/ 4899400 h 6858000"/>
              <a:gd name="connsiteX128" fmla="*/ 304424 w 5734864"/>
              <a:gd name="connsiteY128" fmla="*/ 4902664 h 6858000"/>
              <a:gd name="connsiteX129" fmla="*/ 293123 w 5734864"/>
              <a:gd name="connsiteY129" fmla="*/ 4932769 h 6858000"/>
              <a:gd name="connsiteX130" fmla="*/ 292275 w 5734864"/>
              <a:gd name="connsiteY130" fmla="*/ 4936482 h 6858000"/>
              <a:gd name="connsiteX131" fmla="*/ 288304 w 5734864"/>
              <a:gd name="connsiteY131" fmla="*/ 4962325 h 6858000"/>
              <a:gd name="connsiteX132" fmla="*/ 287420 w 5734864"/>
              <a:gd name="connsiteY132" fmla="*/ 5042193 h 6858000"/>
              <a:gd name="connsiteX133" fmla="*/ 287020 w 5734864"/>
              <a:gd name="connsiteY133" fmla="*/ 5065655 h 6858000"/>
              <a:gd name="connsiteX134" fmla="*/ 288488 w 5734864"/>
              <a:gd name="connsiteY134" fmla="*/ 5082216 h 6858000"/>
              <a:gd name="connsiteX135" fmla="*/ 282763 w 5734864"/>
              <a:gd name="connsiteY135" fmla="*/ 5127114 h 6858000"/>
              <a:gd name="connsiteX136" fmla="*/ 269316 w 5734864"/>
              <a:gd name="connsiteY136" fmla="*/ 5202682 h 6858000"/>
              <a:gd name="connsiteX137" fmla="*/ 269174 w 5734864"/>
              <a:gd name="connsiteY137" fmla="*/ 5230835 h 6858000"/>
              <a:gd name="connsiteX138" fmla="*/ 272679 w 5734864"/>
              <a:gd name="connsiteY138" fmla="*/ 5232660 h 6858000"/>
              <a:gd name="connsiteX139" fmla="*/ 272160 w 5734864"/>
              <a:gd name="connsiteY139" fmla="*/ 5241150 h 6858000"/>
              <a:gd name="connsiteX140" fmla="*/ 272760 w 5734864"/>
              <a:gd name="connsiteY140" fmla="*/ 5243156 h 6858000"/>
              <a:gd name="connsiteX141" fmla="*/ 275462 w 5734864"/>
              <a:gd name="connsiteY141" fmla="*/ 5254919 h 6858000"/>
              <a:gd name="connsiteX142" fmla="*/ 262897 w 5734864"/>
              <a:gd name="connsiteY142" fmla="*/ 5286259 h 6858000"/>
              <a:gd name="connsiteX143" fmla="*/ 252761 w 5734864"/>
              <a:gd name="connsiteY143" fmla="*/ 5357801 h 6858000"/>
              <a:gd name="connsiteX144" fmla="*/ 242360 w 5734864"/>
              <a:gd name="connsiteY144" fmla="*/ 5460080 h 6858000"/>
              <a:gd name="connsiteX145" fmla="*/ 229880 w 5734864"/>
              <a:gd name="connsiteY145" fmla="*/ 5539714 h 6858000"/>
              <a:gd name="connsiteX146" fmla="*/ 204283 w 5734864"/>
              <a:gd name="connsiteY146" fmla="*/ 5639080 h 6858000"/>
              <a:gd name="connsiteX147" fmla="*/ 198948 w 5734864"/>
              <a:gd name="connsiteY147" fmla="*/ 5710958 h 6858000"/>
              <a:gd name="connsiteX148" fmla="*/ 192367 w 5734864"/>
              <a:gd name="connsiteY148" fmla="*/ 5719859 h 6858000"/>
              <a:gd name="connsiteX149" fmla="*/ 188035 w 5734864"/>
              <a:gd name="connsiteY149" fmla="*/ 5729935 h 6858000"/>
              <a:gd name="connsiteX150" fmla="*/ 188428 w 5734864"/>
              <a:gd name="connsiteY150" fmla="*/ 5731182 h 6858000"/>
              <a:gd name="connsiteX151" fmla="*/ 181635 w 5734864"/>
              <a:gd name="connsiteY151" fmla="*/ 5753538 h 6858000"/>
              <a:gd name="connsiteX152" fmla="*/ 169744 w 5734864"/>
              <a:gd name="connsiteY152" fmla="*/ 5796307 h 6858000"/>
              <a:gd name="connsiteX153" fmla="*/ 170351 w 5734864"/>
              <a:gd name="connsiteY153" fmla="*/ 5796644 h 6858000"/>
              <a:gd name="connsiteX154" fmla="*/ 171559 w 5734864"/>
              <a:gd name="connsiteY154" fmla="*/ 5803435 h 6858000"/>
              <a:gd name="connsiteX155" fmla="*/ 172284 w 5734864"/>
              <a:gd name="connsiteY155" fmla="*/ 5816391 h 6858000"/>
              <a:gd name="connsiteX156" fmla="*/ 182542 w 5734864"/>
              <a:gd name="connsiteY156" fmla="*/ 5846382 h 6858000"/>
              <a:gd name="connsiteX157" fmla="*/ 175877 w 5734864"/>
              <a:gd name="connsiteY157" fmla="*/ 5871336 h 6858000"/>
              <a:gd name="connsiteX158" fmla="*/ 174910 w 5734864"/>
              <a:gd name="connsiteY158" fmla="*/ 5876376 h 6858000"/>
              <a:gd name="connsiteX159" fmla="*/ 175047 w 5734864"/>
              <a:gd name="connsiteY159" fmla="*/ 5876483 h 6858000"/>
              <a:gd name="connsiteX160" fmla="*/ 174335 w 5734864"/>
              <a:gd name="connsiteY160" fmla="*/ 5881814 h 6858000"/>
              <a:gd name="connsiteX161" fmla="*/ 171273 w 5734864"/>
              <a:gd name="connsiteY161" fmla="*/ 5895339 h 6858000"/>
              <a:gd name="connsiteX162" fmla="*/ 171658 w 5734864"/>
              <a:gd name="connsiteY162" fmla="*/ 5898749 h 6858000"/>
              <a:gd name="connsiteX163" fmla="*/ 174658 w 5734864"/>
              <a:gd name="connsiteY163" fmla="*/ 5919558 h 6858000"/>
              <a:gd name="connsiteX164" fmla="*/ 169099 w 5734864"/>
              <a:gd name="connsiteY164" fmla="*/ 5984417 h 6858000"/>
              <a:gd name="connsiteX165" fmla="*/ 162007 w 5734864"/>
              <a:gd name="connsiteY165" fmla="*/ 6049043 h 6858000"/>
              <a:gd name="connsiteX166" fmla="*/ 156875 w 5734864"/>
              <a:gd name="connsiteY166" fmla="*/ 6114000 h 6858000"/>
              <a:gd name="connsiteX167" fmla="*/ 165441 w 5734864"/>
              <a:gd name="connsiteY167" fmla="*/ 6146938 h 6858000"/>
              <a:gd name="connsiteX168" fmla="*/ 165177 w 5734864"/>
              <a:gd name="connsiteY168" fmla="*/ 6150658 h 6858000"/>
              <a:gd name="connsiteX169" fmla="*/ 161772 w 5734864"/>
              <a:gd name="connsiteY169" fmla="*/ 6160011 h 6858000"/>
              <a:gd name="connsiteX170" fmla="*/ 160051 w 5734864"/>
              <a:gd name="connsiteY170" fmla="*/ 6163393 h 6858000"/>
              <a:gd name="connsiteX171" fmla="*/ 158473 w 5734864"/>
              <a:gd name="connsiteY171" fmla="*/ 6168628 h 6858000"/>
              <a:gd name="connsiteX172" fmla="*/ 158573 w 5734864"/>
              <a:gd name="connsiteY172" fmla="*/ 6168799 h 6858000"/>
              <a:gd name="connsiteX173" fmla="*/ 146463 w 5734864"/>
              <a:gd name="connsiteY173" fmla="*/ 6196671 h 6858000"/>
              <a:gd name="connsiteX174" fmla="*/ 150209 w 5734864"/>
              <a:gd name="connsiteY174" fmla="*/ 6232365 h 6858000"/>
              <a:gd name="connsiteX175" fmla="*/ 148544 w 5734864"/>
              <a:gd name="connsiteY175" fmla="*/ 6246162 h 6858000"/>
              <a:gd name="connsiteX176" fmla="*/ 148403 w 5734864"/>
              <a:gd name="connsiteY176" fmla="*/ 6253754 h 6858000"/>
              <a:gd name="connsiteX177" fmla="*/ 138880 w 5734864"/>
              <a:gd name="connsiteY177" fmla="*/ 6276449 h 6858000"/>
              <a:gd name="connsiteX178" fmla="*/ 138683 w 5734864"/>
              <a:gd name="connsiteY178" fmla="*/ 6279721 h 6858000"/>
              <a:gd name="connsiteX179" fmla="*/ 130721 w 5734864"/>
              <a:gd name="connsiteY179" fmla="*/ 6293675 h 6858000"/>
              <a:gd name="connsiteX180" fmla="*/ 120717 w 5734864"/>
              <a:gd name="connsiteY180" fmla="*/ 6313967 h 6858000"/>
              <a:gd name="connsiteX181" fmla="*/ 120841 w 5734864"/>
              <a:gd name="connsiteY181" fmla="*/ 6315437 h 6858000"/>
              <a:gd name="connsiteX182" fmla="*/ 115208 w 5734864"/>
              <a:gd name="connsiteY182" fmla="*/ 6324024 h 6858000"/>
              <a:gd name="connsiteX183" fmla="*/ 101217 w 5734864"/>
              <a:gd name="connsiteY183" fmla="*/ 6365923 h 6858000"/>
              <a:gd name="connsiteX184" fmla="*/ 74946 w 5734864"/>
              <a:gd name="connsiteY184" fmla="*/ 6556817 h 6858000"/>
              <a:gd name="connsiteX185" fmla="*/ 16001 w 5734864"/>
              <a:gd name="connsiteY185" fmla="*/ 6808678 h 6858000"/>
              <a:gd name="connsiteX186" fmla="*/ 0 w 5734864"/>
              <a:gd name="connsiteY186" fmla="*/ 6858000 h 6858000"/>
              <a:gd name="connsiteX187" fmla="*/ 5734864 w 5734864"/>
              <a:gd name="connsiteY187" fmla="*/ 6858000 h 6858000"/>
              <a:gd name="connsiteX188" fmla="*/ 5734864 w 5734864"/>
              <a:gd name="connsiteY188" fmla="*/ 0 h 6858000"/>
              <a:gd name="connsiteX0" fmla="*/ 5734864 w 5734864"/>
              <a:gd name="connsiteY0" fmla="*/ 0 h 6858000"/>
              <a:gd name="connsiteX1" fmla="*/ 771611 w 5734864"/>
              <a:gd name="connsiteY1" fmla="*/ 0 h 6858000"/>
              <a:gd name="connsiteX2" fmla="*/ 771679 w 5734864"/>
              <a:gd name="connsiteY2" fmla="*/ 49108 h 6858000"/>
              <a:gd name="connsiteX3" fmla="*/ 794248 w 5734864"/>
              <a:gd name="connsiteY3" fmla="*/ 200968 h 6858000"/>
              <a:gd name="connsiteX4" fmla="*/ 801749 w 5734864"/>
              <a:gd name="connsiteY4" fmla="*/ 414071 h 6858000"/>
              <a:gd name="connsiteX5" fmla="*/ 818548 w 5734864"/>
              <a:gd name="connsiteY5" fmla="*/ 585467 h 6858000"/>
              <a:gd name="connsiteX6" fmla="*/ 857476 w 5734864"/>
              <a:gd name="connsiteY6" fmla="*/ 800623 h 6858000"/>
              <a:gd name="connsiteX7" fmla="*/ 851083 w 5734864"/>
              <a:gd name="connsiteY7" fmla="*/ 878903 h 6858000"/>
              <a:gd name="connsiteX8" fmla="*/ 873564 w 5734864"/>
              <a:gd name="connsiteY8" fmla="*/ 943826 h 6858000"/>
              <a:gd name="connsiteX9" fmla="*/ 864705 w 5734864"/>
              <a:gd name="connsiteY9" fmla="*/ 973328 h 6858000"/>
              <a:gd name="connsiteX10" fmla="*/ 862869 w 5734864"/>
              <a:gd name="connsiteY10" fmla="*/ 978457 h 6858000"/>
              <a:gd name="connsiteX11" fmla="*/ 862233 w 5734864"/>
              <a:gd name="connsiteY11" fmla="*/ 998041 h 6858000"/>
              <a:gd name="connsiteX12" fmla="*/ 853665 w 5734864"/>
              <a:gd name="connsiteY12" fmla="*/ 1004750 h 6858000"/>
              <a:gd name="connsiteX13" fmla="*/ 847865 w 5734864"/>
              <a:gd name="connsiteY13" fmla="*/ 1070795 h 6858000"/>
              <a:gd name="connsiteX14" fmla="*/ 862786 w 5734864"/>
              <a:gd name="connsiteY14" fmla="*/ 1238994 h 6858000"/>
              <a:gd name="connsiteX15" fmla="*/ 859345 w 5734864"/>
              <a:gd name="connsiteY15" fmla="*/ 1380427 h 6858000"/>
              <a:gd name="connsiteX16" fmla="*/ 855172 w 5734864"/>
              <a:gd name="connsiteY16" fmla="*/ 1435262 h 6858000"/>
              <a:gd name="connsiteX17" fmla="*/ 860494 w 5734864"/>
              <a:gd name="connsiteY17" fmla="*/ 1453861 h 6858000"/>
              <a:gd name="connsiteX18" fmla="*/ 853731 w 5734864"/>
              <a:gd name="connsiteY18" fmla="*/ 1467047 h 6858000"/>
              <a:gd name="connsiteX19" fmla="*/ 845847 w 5734864"/>
              <a:gd name="connsiteY19" fmla="*/ 1502307 h 6858000"/>
              <a:gd name="connsiteX20" fmla="*/ 817613 w 5734864"/>
              <a:gd name="connsiteY20" fmla="*/ 1565166 h 6858000"/>
              <a:gd name="connsiteX21" fmla="*/ 804223 w 5734864"/>
              <a:gd name="connsiteY21" fmla="*/ 1601941 h 6858000"/>
              <a:gd name="connsiteX22" fmla="*/ 791773 w 5734864"/>
              <a:gd name="connsiteY22" fmla="*/ 1627005 h 6858000"/>
              <a:gd name="connsiteX23" fmla="*/ 774645 w 5734864"/>
              <a:gd name="connsiteY23" fmla="*/ 1699922 h 6858000"/>
              <a:gd name="connsiteX24" fmla="*/ 752343 w 5734864"/>
              <a:gd name="connsiteY24" fmla="*/ 1824604 h 6858000"/>
              <a:gd name="connsiteX25" fmla="*/ 746254 w 5734864"/>
              <a:gd name="connsiteY25" fmla="*/ 1850222 h 6858000"/>
              <a:gd name="connsiteX26" fmla="*/ 728600 w 5734864"/>
              <a:gd name="connsiteY26" fmla="*/ 1869603 h 6858000"/>
              <a:gd name="connsiteX27" fmla="*/ 724396 w 5734864"/>
              <a:gd name="connsiteY27" fmla="*/ 1883104 h 6858000"/>
              <a:gd name="connsiteX28" fmla="*/ 722165 w 5734864"/>
              <a:gd name="connsiteY28" fmla="*/ 1885924 h 6858000"/>
              <a:gd name="connsiteX29" fmla="*/ 721338 w 5734864"/>
              <a:gd name="connsiteY29" fmla="*/ 1887123 h 6858000"/>
              <a:gd name="connsiteX30" fmla="*/ 714840 w 5734864"/>
              <a:gd name="connsiteY30" fmla="*/ 1902274 h 6858000"/>
              <a:gd name="connsiteX31" fmla="*/ 722847 w 5734864"/>
              <a:gd name="connsiteY31" fmla="*/ 1929891 h 6858000"/>
              <a:gd name="connsiteX32" fmla="*/ 714660 w 5734864"/>
              <a:gd name="connsiteY32" fmla="*/ 1982709 h 6858000"/>
              <a:gd name="connsiteX33" fmla="*/ 710759 w 5734864"/>
              <a:gd name="connsiteY33" fmla="*/ 2013010 h 6858000"/>
              <a:gd name="connsiteX34" fmla="*/ 697927 w 5734864"/>
              <a:gd name="connsiteY34" fmla="*/ 2069833 h 6858000"/>
              <a:gd name="connsiteX35" fmla="*/ 693594 w 5734864"/>
              <a:gd name="connsiteY35" fmla="*/ 2103731 h 6858000"/>
              <a:gd name="connsiteX36" fmla="*/ 691109 w 5734864"/>
              <a:gd name="connsiteY36" fmla="*/ 2124027 h 6858000"/>
              <a:gd name="connsiteX37" fmla="*/ 676593 w 5734864"/>
              <a:gd name="connsiteY37" fmla="*/ 2176182 h 6858000"/>
              <a:gd name="connsiteX38" fmla="*/ 633227 w 5734864"/>
              <a:gd name="connsiteY38" fmla="*/ 2258036 h 6858000"/>
              <a:gd name="connsiteX39" fmla="*/ 625564 w 5734864"/>
              <a:gd name="connsiteY39" fmla="*/ 2284567 h 6858000"/>
              <a:gd name="connsiteX40" fmla="*/ 627074 w 5734864"/>
              <a:gd name="connsiteY40" fmla="*/ 2289605 h 6858000"/>
              <a:gd name="connsiteX41" fmla="*/ 614574 w 5734864"/>
              <a:gd name="connsiteY41" fmla="*/ 2308717 h 6858000"/>
              <a:gd name="connsiteX42" fmla="*/ 606890 w 5734864"/>
              <a:gd name="connsiteY42" fmla="*/ 2320662 h 6858000"/>
              <a:gd name="connsiteX43" fmla="*/ 605558 w 5734864"/>
              <a:gd name="connsiteY43" fmla="*/ 2327897 h 6858000"/>
              <a:gd name="connsiteX44" fmla="*/ 602202 w 5734864"/>
              <a:gd name="connsiteY44" fmla="*/ 2357749 h 6858000"/>
              <a:gd name="connsiteX45" fmla="*/ 600213 w 5734864"/>
              <a:gd name="connsiteY45" fmla="*/ 2364905 h 6858000"/>
              <a:gd name="connsiteX46" fmla="*/ 597160 w 5734864"/>
              <a:gd name="connsiteY46" fmla="*/ 2388351 h 6858000"/>
              <a:gd name="connsiteX47" fmla="*/ 597982 w 5734864"/>
              <a:gd name="connsiteY47" fmla="*/ 2402296 h 6858000"/>
              <a:gd name="connsiteX48" fmla="*/ 593150 w 5734864"/>
              <a:gd name="connsiteY48" fmla="*/ 2420015 h 6858000"/>
              <a:gd name="connsiteX49" fmla="*/ 592833 w 5734864"/>
              <a:gd name="connsiteY49" fmla="*/ 2422749 h 6858000"/>
              <a:gd name="connsiteX50" fmla="*/ 594479 w 5734864"/>
              <a:gd name="connsiteY50" fmla="*/ 2426002 h 6858000"/>
              <a:gd name="connsiteX51" fmla="*/ 591963 w 5734864"/>
              <a:gd name="connsiteY51" fmla="*/ 2431950 h 6858000"/>
              <a:gd name="connsiteX52" fmla="*/ 591544 w 5734864"/>
              <a:gd name="connsiteY52" fmla="*/ 2433897 h 6858000"/>
              <a:gd name="connsiteX53" fmla="*/ 589519 w 5734864"/>
              <a:gd name="connsiteY53" fmla="*/ 2451398 h 6858000"/>
              <a:gd name="connsiteX54" fmla="*/ 590037 w 5734864"/>
              <a:gd name="connsiteY54" fmla="*/ 2455536 h 6858000"/>
              <a:gd name="connsiteX55" fmla="*/ 588179 w 5734864"/>
              <a:gd name="connsiteY55" fmla="*/ 2462981 h 6858000"/>
              <a:gd name="connsiteX56" fmla="*/ 583434 w 5734864"/>
              <a:gd name="connsiteY56" fmla="*/ 2503991 h 6858000"/>
              <a:gd name="connsiteX57" fmla="*/ 567942 w 5734864"/>
              <a:gd name="connsiteY57" fmla="*/ 2652936 h 6858000"/>
              <a:gd name="connsiteX58" fmla="*/ 573869 w 5734864"/>
              <a:gd name="connsiteY58" fmla="*/ 2670188 h 6858000"/>
              <a:gd name="connsiteX59" fmla="*/ 575243 w 5734864"/>
              <a:gd name="connsiteY59" fmla="*/ 2688114 h 6858000"/>
              <a:gd name="connsiteX60" fmla="*/ 573824 w 5734864"/>
              <a:gd name="connsiteY60" fmla="*/ 2689856 h 6858000"/>
              <a:gd name="connsiteX61" fmla="*/ 570699 w 5734864"/>
              <a:gd name="connsiteY61" fmla="*/ 2709353 h 6858000"/>
              <a:gd name="connsiteX62" fmla="*/ 573192 w 5734864"/>
              <a:gd name="connsiteY62" fmla="*/ 2714527 h 6858000"/>
              <a:gd name="connsiteX63" fmla="*/ 572044 w 5734864"/>
              <a:gd name="connsiteY63" fmla="*/ 2728187 h 6858000"/>
              <a:gd name="connsiteX64" fmla="*/ 572465 w 5734864"/>
              <a:gd name="connsiteY64" fmla="*/ 2755863 h 6858000"/>
              <a:gd name="connsiteX65" fmla="*/ 570028 w 5734864"/>
              <a:gd name="connsiteY65" fmla="*/ 2760324 h 6858000"/>
              <a:gd name="connsiteX66" fmla="*/ 566748 w 5734864"/>
              <a:gd name="connsiteY66" fmla="*/ 2800948 h 6858000"/>
              <a:gd name="connsiteX67" fmla="*/ 565509 w 5734864"/>
              <a:gd name="connsiteY67" fmla="*/ 2801167 h 6858000"/>
              <a:gd name="connsiteX68" fmla="*/ 559367 w 5734864"/>
              <a:gd name="connsiteY68" fmla="*/ 2811129 h 6858000"/>
              <a:gd name="connsiteX69" fmla="*/ 550354 w 5734864"/>
              <a:gd name="connsiteY69" fmla="*/ 2830949 h 6858000"/>
              <a:gd name="connsiteX70" fmla="*/ 514795 w 5734864"/>
              <a:gd name="connsiteY70" fmla="*/ 2872433 h 6858000"/>
              <a:gd name="connsiteX71" fmla="*/ 509875 w 5734864"/>
              <a:gd name="connsiteY71" fmla="*/ 2923099 h 6858000"/>
              <a:gd name="connsiteX72" fmla="*/ 509577 w 5734864"/>
              <a:gd name="connsiteY72" fmla="*/ 2923197 h 6858000"/>
              <a:gd name="connsiteX73" fmla="*/ 507597 w 5734864"/>
              <a:gd name="connsiteY73" fmla="*/ 2931868 h 6858000"/>
              <a:gd name="connsiteX74" fmla="*/ 507379 w 5734864"/>
              <a:gd name="connsiteY74" fmla="*/ 2938322 h 6858000"/>
              <a:gd name="connsiteX75" fmla="*/ 504725 w 5734864"/>
              <a:gd name="connsiteY75" fmla="*/ 2954519 h 6858000"/>
              <a:gd name="connsiteX76" fmla="*/ 502018 w 5734864"/>
              <a:gd name="connsiteY76" fmla="*/ 2959643 h 6858000"/>
              <a:gd name="connsiteX77" fmla="*/ 498360 w 5734864"/>
              <a:gd name="connsiteY77" fmla="*/ 2961019 h 6858000"/>
              <a:gd name="connsiteX78" fmla="*/ 498483 w 5734864"/>
              <a:gd name="connsiteY78" fmla="*/ 2962590 h 6858000"/>
              <a:gd name="connsiteX79" fmla="*/ 484403 w 5734864"/>
              <a:gd name="connsiteY79" fmla="*/ 2990538 h 6858000"/>
              <a:gd name="connsiteX80" fmla="*/ 463075 w 5734864"/>
              <a:gd name="connsiteY80" fmla="*/ 3055956 h 6858000"/>
              <a:gd name="connsiteX81" fmla="*/ 455013 w 5734864"/>
              <a:gd name="connsiteY81" fmla="*/ 3094482 h 6858000"/>
              <a:gd name="connsiteX82" fmla="*/ 428391 w 5734864"/>
              <a:gd name="connsiteY82" fmla="*/ 3198850 h 6858000"/>
              <a:gd name="connsiteX83" fmla="*/ 401440 w 5734864"/>
              <a:gd name="connsiteY83" fmla="*/ 3307560 h 6858000"/>
              <a:gd name="connsiteX84" fmla="*/ 386076 w 5734864"/>
              <a:gd name="connsiteY84" fmla="*/ 3373943 h 6858000"/>
              <a:gd name="connsiteX85" fmla="*/ 374726 w 5734864"/>
              <a:gd name="connsiteY85" fmla="*/ 3381364 h 6858000"/>
              <a:gd name="connsiteX86" fmla="*/ 369145 w 5734864"/>
              <a:gd name="connsiteY86" fmla="*/ 3383729 h 6858000"/>
              <a:gd name="connsiteX87" fmla="*/ 364294 w 5734864"/>
              <a:gd name="connsiteY87" fmla="*/ 3414159 h 6858000"/>
              <a:gd name="connsiteX88" fmla="*/ 366450 w 5734864"/>
              <a:gd name="connsiteY88" fmla="*/ 3436925 h 6858000"/>
              <a:gd name="connsiteX89" fmla="*/ 351743 w 5734864"/>
              <a:gd name="connsiteY89" fmla="*/ 3521619 h 6858000"/>
              <a:gd name="connsiteX90" fmla="*/ 345784 w 5734864"/>
              <a:gd name="connsiteY90" fmla="*/ 3603757 h 6858000"/>
              <a:gd name="connsiteX91" fmla="*/ 344198 w 5734864"/>
              <a:gd name="connsiteY91" fmla="*/ 3652424 h 6858000"/>
              <a:gd name="connsiteX92" fmla="*/ 352450 w 5734864"/>
              <a:gd name="connsiteY92" fmla="*/ 3665222 h 6858000"/>
              <a:gd name="connsiteX93" fmla="*/ 342621 w 5734864"/>
              <a:gd name="connsiteY93" fmla="*/ 3700804 h 6858000"/>
              <a:gd name="connsiteX94" fmla="*/ 341514 w 5734864"/>
              <a:gd name="connsiteY94" fmla="*/ 3734774 h 6858000"/>
              <a:gd name="connsiteX95" fmla="*/ 340607 w 5734864"/>
              <a:gd name="connsiteY95" fmla="*/ 3785153 h 6858000"/>
              <a:gd name="connsiteX96" fmla="*/ 340707 w 5734864"/>
              <a:gd name="connsiteY96" fmla="*/ 3788177 h 6858000"/>
              <a:gd name="connsiteX97" fmla="*/ 340361 w 5734864"/>
              <a:gd name="connsiteY97" fmla="*/ 3798803 h 6858000"/>
              <a:gd name="connsiteX98" fmla="*/ 339642 w 5734864"/>
              <a:gd name="connsiteY98" fmla="*/ 3838750 h 6858000"/>
              <a:gd name="connsiteX99" fmla="*/ 360295 w 5734864"/>
              <a:gd name="connsiteY99" fmla="*/ 4015196 h 6858000"/>
              <a:gd name="connsiteX100" fmla="*/ 339043 w 5734864"/>
              <a:gd name="connsiteY100" fmla="*/ 4052778 h 6858000"/>
              <a:gd name="connsiteX101" fmla="*/ 339343 w 5734864"/>
              <a:gd name="connsiteY101" fmla="*/ 4096257 h 6858000"/>
              <a:gd name="connsiteX102" fmla="*/ 340786 w 5734864"/>
              <a:gd name="connsiteY102" fmla="*/ 4321136 h 6858000"/>
              <a:gd name="connsiteX103" fmla="*/ 343158 w 5734864"/>
              <a:gd name="connsiteY103" fmla="*/ 4429174 h 6858000"/>
              <a:gd name="connsiteX104" fmla="*/ 334599 w 5734864"/>
              <a:gd name="connsiteY104" fmla="*/ 4449938 h 6858000"/>
              <a:gd name="connsiteX105" fmla="*/ 332890 w 5734864"/>
              <a:gd name="connsiteY105" fmla="*/ 4453515 h 6858000"/>
              <a:gd name="connsiteX106" fmla="*/ 331105 w 5734864"/>
              <a:gd name="connsiteY106" fmla="*/ 4467941 h 6858000"/>
              <a:gd name="connsiteX107" fmla="*/ 324289 w 5734864"/>
              <a:gd name="connsiteY107" fmla="*/ 4471861 h 6858000"/>
              <a:gd name="connsiteX108" fmla="*/ 317079 w 5734864"/>
              <a:gd name="connsiteY108" fmla="*/ 4493468 h 6858000"/>
              <a:gd name="connsiteX109" fmla="*/ 315557 w 5734864"/>
              <a:gd name="connsiteY109" fmla="*/ 4520067 h 6858000"/>
              <a:gd name="connsiteX110" fmla="*/ 315240 w 5734864"/>
              <a:gd name="connsiteY110" fmla="*/ 4536872 h 6858000"/>
              <a:gd name="connsiteX111" fmla="*/ 316200 w 5734864"/>
              <a:gd name="connsiteY111" fmla="*/ 4538297 h 6858000"/>
              <a:gd name="connsiteX112" fmla="*/ 317507 w 5734864"/>
              <a:gd name="connsiteY112" fmla="*/ 4547582 h 6858000"/>
              <a:gd name="connsiteX113" fmla="*/ 323078 w 5734864"/>
              <a:gd name="connsiteY113" fmla="*/ 4592102 h 6858000"/>
              <a:gd name="connsiteX114" fmla="*/ 328722 w 5734864"/>
              <a:gd name="connsiteY114" fmla="*/ 4667914 h 6858000"/>
              <a:gd name="connsiteX115" fmla="*/ 335597 w 5734864"/>
              <a:gd name="connsiteY115" fmla="*/ 4695035 h 6858000"/>
              <a:gd name="connsiteX116" fmla="*/ 339485 w 5734864"/>
              <a:gd name="connsiteY116" fmla="*/ 4695979 h 6858000"/>
              <a:gd name="connsiteX117" fmla="*/ 341089 w 5734864"/>
              <a:gd name="connsiteY117" fmla="*/ 4704268 h 6858000"/>
              <a:gd name="connsiteX118" fmla="*/ 342177 w 5734864"/>
              <a:gd name="connsiteY118" fmla="*/ 4706060 h 6858000"/>
              <a:gd name="connsiteX119" fmla="*/ 347751 w 5734864"/>
              <a:gd name="connsiteY119" fmla="*/ 4716754 h 6858000"/>
              <a:gd name="connsiteX120" fmla="*/ 344125 w 5734864"/>
              <a:gd name="connsiteY120" fmla="*/ 4764669 h 6858000"/>
              <a:gd name="connsiteX121" fmla="*/ 340188 w 5734864"/>
              <a:gd name="connsiteY121" fmla="*/ 4779386 h 6858000"/>
              <a:gd name="connsiteX122" fmla="*/ 335146 w 5734864"/>
              <a:gd name="connsiteY122" fmla="*/ 4787491 h 6858000"/>
              <a:gd name="connsiteX123" fmla="*/ 319124 w 5734864"/>
              <a:gd name="connsiteY123" fmla="*/ 4843514 h 6858000"/>
              <a:gd name="connsiteX124" fmla="*/ 305956 w 5734864"/>
              <a:gd name="connsiteY124" fmla="*/ 4881505 h 6858000"/>
              <a:gd name="connsiteX125" fmla="*/ 301062 w 5734864"/>
              <a:gd name="connsiteY125" fmla="*/ 4889332 h 6858000"/>
              <a:gd name="connsiteX126" fmla="*/ 302141 w 5734864"/>
              <a:gd name="connsiteY126" fmla="*/ 4899400 h 6858000"/>
              <a:gd name="connsiteX127" fmla="*/ 304424 w 5734864"/>
              <a:gd name="connsiteY127" fmla="*/ 4902664 h 6858000"/>
              <a:gd name="connsiteX128" fmla="*/ 293123 w 5734864"/>
              <a:gd name="connsiteY128" fmla="*/ 4932769 h 6858000"/>
              <a:gd name="connsiteX129" fmla="*/ 292275 w 5734864"/>
              <a:gd name="connsiteY129" fmla="*/ 4936482 h 6858000"/>
              <a:gd name="connsiteX130" fmla="*/ 288304 w 5734864"/>
              <a:gd name="connsiteY130" fmla="*/ 4962325 h 6858000"/>
              <a:gd name="connsiteX131" fmla="*/ 287420 w 5734864"/>
              <a:gd name="connsiteY131" fmla="*/ 5042193 h 6858000"/>
              <a:gd name="connsiteX132" fmla="*/ 287020 w 5734864"/>
              <a:gd name="connsiteY132" fmla="*/ 5065655 h 6858000"/>
              <a:gd name="connsiteX133" fmla="*/ 288488 w 5734864"/>
              <a:gd name="connsiteY133" fmla="*/ 5082216 h 6858000"/>
              <a:gd name="connsiteX134" fmla="*/ 282763 w 5734864"/>
              <a:gd name="connsiteY134" fmla="*/ 5127114 h 6858000"/>
              <a:gd name="connsiteX135" fmla="*/ 269316 w 5734864"/>
              <a:gd name="connsiteY135" fmla="*/ 5202682 h 6858000"/>
              <a:gd name="connsiteX136" fmla="*/ 269174 w 5734864"/>
              <a:gd name="connsiteY136" fmla="*/ 5230835 h 6858000"/>
              <a:gd name="connsiteX137" fmla="*/ 272679 w 5734864"/>
              <a:gd name="connsiteY137" fmla="*/ 5232660 h 6858000"/>
              <a:gd name="connsiteX138" fmla="*/ 272160 w 5734864"/>
              <a:gd name="connsiteY138" fmla="*/ 5241150 h 6858000"/>
              <a:gd name="connsiteX139" fmla="*/ 272760 w 5734864"/>
              <a:gd name="connsiteY139" fmla="*/ 5243156 h 6858000"/>
              <a:gd name="connsiteX140" fmla="*/ 275462 w 5734864"/>
              <a:gd name="connsiteY140" fmla="*/ 5254919 h 6858000"/>
              <a:gd name="connsiteX141" fmla="*/ 262897 w 5734864"/>
              <a:gd name="connsiteY141" fmla="*/ 5286259 h 6858000"/>
              <a:gd name="connsiteX142" fmla="*/ 252761 w 5734864"/>
              <a:gd name="connsiteY142" fmla="*/ 5357801 h 6858000"/>
              <a:gd name="connsiteX143" fmla="*/ 242360 w 5734864"/>
              <a:gd name="connsiteY143" fmla="*/ 5460080 h 6858000"/>
              <a:gd name="connsiteX144" fmla="*/ 229880 w 5734864"/>
              <a:gd name="connsiteY144" fmla="*/ 5539714 h 6858000"/>
              <a:gd name="connsiteX145" fmla="*/ 204283 w 5734864"/>
              <a:gd name="connsiteY145" fmla="*/ 5639080 h 6858000"/>
              <a:gd name="connsiteX146" fmla="*/ 198948 w 5734864"/>
              <a:gd name="connsiteY146" fmla="*/ 5710958 h 6858000"/>
              <a:gd name="connsiteX147" fmla="*/ 192367 w 5734864"/>
              <a:gd name="connsiteY147" fmla="*/ 5719859 h 6858000"/>
              <a:gd name="connsiteX148" fmla="*/ 188035 w 5734864"/>
              <a:gd name="connsiteY148" fmla="*/ 5729935 h 6858000"/>
              <a:gd name="connsiteX149" fmla="*/ 188428 w 5734864"/>
              <a:gd name="connsiteY149" fmla="*/ 5731182 h 6858000"/>
              <a:gd name="connsiteX150" fmla="*/ 181635 w 5734864"/>
              <a:gd name="connsiteY150" fmla="*/ 5753538 h 6858000"/>
              <a:gd name="connsiteX151" fmla="*/ 169744 w 5734864"/>
              <a:gd name="connsiteY151" fmla="*/ 5796307 h 6858000"/>
              <a:gd name="connsiteX152" fmla="*/ 170351 w 5734864"/>
              <a:gd name="connsiteY152" fmla="*/ 5796644 h 6858000"/>
              <a:gd name="connsiteX153" fmla="*/ 171559 w 5734864"/>
              <a:gd name="connsiteY153" fmla="*/ 5803435 h 6858000"/>
              <a:gd name="connsiteX154" fmla="*/ 172284 w 5734864"/>
              <a:gd name="connsiteY154" fmla="*/ 5816391 h 6858000"/>
              <a:gd name="connsiteX155" fmla="*/ 182542 w 5734864"/>
              <a:gd name="connsiteY155" fmla="*/ 5846382 h 6858000"/>
              <a:gd name="connsiteX156" fmla="*/ 175877 w 5734864"/>
              <a:gd name="connsiteY156" fmla="*/ 5871336 h 6858000"/>
              <a:gd name="connsiteX157" fmla="*/ 174910 w 5734864"/>
              <a:gd name="connsiteY157" fmla="*/ 5876376 h 6858000"/>
              <a:gd name="connsiteX158" fmla="*/ 175047 w 5734864"/>
              <a:gd name="connsiteY158" fmla="*/ 5876483 h 6858000"/>
              <a:gd name="connsiteX159" fmla="*/ 174335 w 5734864"/>
              <a:gd name="connsiteY159" fmla="*/ 5881814 h 6858000"/>
              <a:gd name="connsiteX160" fmla="*/ 171273 w 5734864"/>
              <a:gd name="connsiteY160" fmla="*/ 5895339 h 6858000"/>
              <a:gd name="connsiteX161" fmla="*/ 171658 w 5734864"/>
              <a:gd name="connsiteY161" fmla="*/ 5898749 h 6858000"/>
              <a:gd name="connsiteX162" fmla="*/ 174658 w 5734864"/>
              <a:gd name="connsiteY162" fmla="*/ 5919558 h 6858000"/>
              <a:gd name="connsiteX163" fmla="*/ 169099 w 5734864"/>
              <a:gd name="connsiteY163" fmla="*/ 5984417 h 6858000"/>
              <a:gd name="connsiteX164" fmla="*/ 162007 w 5734864"/>
              <a:gd name="connsiteY164" fmla="*/ 6049043 h 6858000"/>
              <a:gd name="connsiteX165" fmla="*/ 156875 w 5734864"/>
              <a:gd name="connsiteY165" fmla="*/ 6114000 h 6858000"/>
              <a:gd name="connsiteX166" fmla="*/ 165441 w 5734864"/>
              <a:gd name="connsiteY166" fmla="*/ 6146938 h 6858000"/>
              <a:gd name="connsiteX167" fmla="*/ 165177 w 5734864"/>
              <a:gd name="connsiteY167" fmla="*/ 6150658 h 6858000"/>
              <a:gd name="connsiteX168" fmla="*/ 161772 w 5734864"/>
              <a:gd name="connsiteY168" fmla="*/ 6160011 h 6858000"/>
              <a:gd name="connsiteX169" fmla="*/ 160051 w 5734864"/>
              <a:gd name="connsiteY169" fmla="*/ 6163393 h 6858000"/>
              <a:gd name="connsiteX170" fmla="*/ 158473 w 5734864"/>
              <a:gd name="connsiteY170" fmla="*/ 6168628 h 6858000"/>
              <a:gd name="connsiteX171" fmla="*/ 158573 w 5734864"/>
              <a:gd name="connsiteY171" fmla="*/ 6168799 h 6858000"/>
              <a:gd name="connsiteX172" fmla="*/ 146463 w 5734864"/>
              <a:gd name="connsiteY172" fmla="*/ 6196671 h 6858000"/>
              <a:gd name="connsiteX173" fmla="*/ 150209 w 5734864"/>
              <a:gd name="connsiteY173" fmla="*/ 6232365 h 6858000"/>
              <a:gd name="connsiteX174" fmla="*/ 148544 w 5734864"/>
              <a:gd name="connsiteY174" fmla="*/ 6246162 h 6858000"/>
              <a:gd name="connsiteX175" fmla="*/ 148403 w 5734864"/>
              <a:gd name="connsiteY175" fmla="*/ 6253754 h 6858000"/>
              <a:gd name="connsiteX176" fmla="*/ 138880 w 5734864"/>
              <a:gd name="connsiteY176" fmla="*/ 6276449 h 6858000"/>
              <a:gd name="connsiteX177" fmla="*/ 138683 w 5734864"/>
              <a:gd name="connsiteY177" fmla="*/ 6279721 h 6858000"/>
              <a:gd name="connsiteX178" fmla="*/ 130721 w 5734864"/>
              <a:gd name="connsiteY178" fmla="*/ 6293675 h 6858000"/>
              <a:gd name="connsiteX179" fmla="*/ 120717 w 5734864"/>
              <a:gd name="connsiteY179" fmla="*/ 6313967 h 6858000"/>
              <a:gd name="connsiteX180" fmla="*/ 120841 w 5734864"/>
              <a:gd name="connsiteY180" fmla="*/ 6315437 h 6858000"/>
              <a:gd name="connsiteX181" fmla="*/ 115208 w 5734864"/>
              <a:gd name="connsiteY181" fmla="*/ 6324024 h 6858000"/>
              <a:gd name="connsiteX182" fmla="*/ 101217 w 5734864"/>
              <a:gd name="connsiteY182" fmla="*/ 6365923 h 6858000"/>
              <a:gd name="connsiteX183" fmla="*/ 74946 w 5734864"/>
              <a:gd name="connsiteY183" fmla="*/ 6556817 h 6858000"/>
              <a:gd name="connsiteX184" fmla="*/ 16001 w 5734864"/>
              <a:gd name="connsiteY184" fmla="*/ 6808678 h 6858000"/>
              <a:gd name="connsiteX185" fmla="*/ 0 w 5734864"/>
              <a:gd name="connsiteY185" fmla="*/ 6858000 h 6858000"/>
              <a:gd name="connsiteX186" fmla="*/ 5734864 w 5734864"/>
              <a:gd name="connsiteY186" fmla="*/ 6858000 h 6858000"/>
              <a:gd name="connsiteX187" fmla="*/ 5734864 w 5734864"/>
              <a:gd name="connsiteY18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5734864" h="6858000">
                <a:moveTo>
                  <a:pt x="5734864" y="0"/>
                </a:moveTo>
                <a:lnTo>
                  <a:pt x="771611" y="0"/>
                </a:lnTo>
                <a:cubicBezTo>
                  <a:pt x="771634" y="16369"/>
                  <a:pt x="771656" y="32739"/>
                  <a:pt x="771679" y="49108"/>
                </a:cubicBezTo>
                <a:cubicBezTo>
                  <a:pt x="775201" y="55622"/>
                  <a:pt x="788724" y="196721"/>
                  <a:pt x="794248" y="200968"/>
                </a:cubicBezTo>
                <a:lnTo>
                  <a:pt x="801749" y="414071"/>
                </a:lnTo>
                <a:cubicBezTo>
                  <a:pt x="807329" y="440933"/>
                  <a:pt x="835107" y="598697"/>
                  <a:pt x="818548" y="585467"/>
                </a:cubicBezTo>
                <a:cubicBezTo>
                  <a:pt x="856197" y="664140"/>
                  <a:pt x="837895" y="708473"/>
                  <a:pt x="857476" y="800623"/>
                </a:cubicBezTo>
                <a:cubicBezTo>
                  <a:pt x="822401" y="857344"/>
                  <a:pt x="855723" y="824571"/>
                  <a:pt x="851083" y="878903"/>
                </a:cubicBezTo>
                <a:cubicBezTo>
                  <a:pt x="884811" y="859448"/>
                  <a:pt x="834648" y="946397"/>
                  <a:pt x="873564" y="943826"/>
                </a:cubicBezTo>
                <a:cubicBezTo>
                  <a:pt x="871487" y="953795"/>
                  <a:pt x="868248" y="963533"/>
                  <a:pt x="864705" y="973328"/>
                </a:cubicBezTo>
                <a:lnTo>
                  <a:pt x="862869" y="978457"/>
                </a:lnTo>
                <a:lnTo>
                  <a:pt x="862233" y="998041"/>
                </a:lnTo>
                <a:lnTo>
                  <a:pt x="853665" y="1004750"/>
                </a:lnTo>
                <a:lnTo>
                  <a:pt x="847865" y="1070795"/>
                </a:lnTo>
                <a:cubicBezTo>
                  <a:pt x="870234" y="1110486"/>
                  <a:pt x="833172" y="1190441"/>
                  <a:pt x="862786" y="1238994"/>
                </a:cubicBezTo>
                <a:cubicBezTo>
                  <a:pt x="864699" y="1290599"/>
                  <a:pt x="860615" y="1347716"/>
                  <a:pt x="859345" y="1380427"/>
                </a:cubicBezTo>
                <a:cubicBezTo>
                  <a:pt x="845703" y="1396391"/>
                  <a:pt x="873184" y="1435525"/>
                  <a:pt x="855172" y="1435262"/>
                </a:cubicBezTo>
                <a:lnTo>
                  <a:pt x="860494" y="1453861"/>
                </a:lnTo>
                <a:lnTo>
                  <a:pt x="853731" y="1467047"/>
                </a:lnTo>
                <a:cubicBezTo>
                  <a:pt x="846549" y="1480528"/>
                  <a:pt x="841728" y="1491093"/>
                  <a:pt x="845847" y="1502307"/>
                </a:cubicBezTo>
                <a:lnTo>
                  <a:pt x="817613" y="1565166"/>
                </a:lnTo>
                <a:cubicBezTo>
                  <a:pt x="805468" y="1557258"/>
                  <a:pt x="816534" y="1596564"/>
                  <a:pt x="804223" y="1601941"/>
                </a:cubicBezTo>
                <a:cubicBezTo>
                  <a:pt x="794287" y="1604654"/>
                  <a:pt x="795328" y="1617209"/>
                  <a:pt x="791773" y="1627005"/>
                </a:cubicBezTo>
                <a:cubicBezTo>
                  <a:pt x="781684" y="1634393"/>
                  <a:pt x="772978" y="1683187"/>
                  <a:pt x="774645" y="1699922"/>
                </a:cubicBezTo>
                <a:cubicBezTo>
                  <a:pt x="785341" y="1746767"/>
                  <a:pt x="744845" y="1787099"/>
                  <a:pt x="752343" y="1824604"/>
                </a:cubicBezTo>
                <a:cubicBezTo>
                  <a:pt x="751502" y="1834578"/>
                  <a:pt x="749297" y="1842929"/>
                  <a:pt x="746254" y="1850222"/>
                </a:cubicBezTo>
                <a:lnTo>
                  <a:pt x="728600" y="1869603"/>
                </a:lnTo>
                <a:lnTo>
                  <a:pt x="724396" y="1883104"/>
                </a:lnTo>
                <a:lnTo>
                  <a:pt x="722165" y="1885924"/>
                </a:lnTo>
                <a:lnTo>
                  <a:pt x="721338" y="1887123"/>
                </a:lnTo>
                <a:lnTo>
                  <a:pt x="714840" y="1902274"/>
                </a:lnTo>
                <a:lnTo>
                  <a:pt x="722847" y="1929891"/>
                </a:lnTo>
                <a:lnTo>
                  <a:pt x="714660" y="1982709"/>
                </a:lnTo>
                <a:cubicBezTo>
                  <a:pt x="727725" y="2006201"/>
                  <a:pt x="714739" y="1997091"/>
                  <a:pt x="710759" y="2013010"/>
                </a:cubicBezTo>
                <a:cubicBezTo>
                  <a:pt x="707970" y="2027531"/>
                  <a:pt x="700788" y="2054714"/>
                  <a:pt x="697927" y="2069833"/>
                </a:cubicBezTo>
                <a:cubicBezTo>
                  <a:pt x="685211" y="2080229"/>
                  <a:pt x="698762" y="2088241"/>
                  <a:pt x="693594" y="2103731"/>
                </a:cubicBezTo>
                <a:cubicBezTo>
                  <a:pt x="688481" y="2110649"/>
                  <a:pt x="687183" y="2115973"/>
                  <a:pt x="691109" y="2124027"/>
                </a:cubicBezTo>
                <a:cubicBezTo>
                  <a:pt x="666413" y="2155740"/>
                  <a:pt x="688031" y="2144874"/>
                  <a:pt x="676593" y="2176182"/>
                </a:cubicBezTo>
                <a:cubicBezTo>
                  <a:pt x="665190" y="2202944"/>
                  <a:pt x="656416" y="2233857"/>
                  <a:pt x="633227" y="2258036"/>
                </a:cubicBezTo>
                <a:cubicBezTo>
                  <a:pt x="626930" y="2262191"/>
                  <a:pt x="623498" y="2274069"/>
                  <a:pt x="625564" y="2284567"/>
                </a:cubicBezTo>
                <a:cubicBezTo>
                  <a:pt x="625918" y="2286374"/>
                  <a:pt x="626427" y="2288071"/>
                  <a:pt x="627074" y="2289605"/>
                </a:cubicBezTo>
                <a:cubicBezTo>
                  <a:pt x="619029" y="2296628"/>
                  <a:pt x="616453" y="2303188"/>
                  <a:pt x="614574" y="2308717"/>
                </a:cubicBezTo>
                <a:lnTo>
                  <a:pt x="606890" y="2320662"/>
                </a:lnTo>
                <a:lnTo>
                  <a:pt x="605558" y="2327897"/>
                </a:lnTo>
                <a:lnTo>
                  <a:pt x="602202" y="2357749"/>
                </a:lnTo>
                <a:lnTo>
                  <a:pt x="600213" y="2364905"/>
                </a:lnTo>
                <a:lnTo>
                  <a:pt x="597160" y="2388351"/>
                </a:lnTo>
                <a:lnTo>
                  <a:pt x="597982" y="2402296"/>
                </a:lnTo>
                <a:lnTo>
                  <a:pt x="593150" y="2420015"/>
                </a:lnTo>
                <a:cubicBezTo>
                  <a:pt x="593044" y="2420926"/>
                  <a:pt x="592939" y="2421838"/>
                  <a:pt x="592833" y="2422749"/>
                </a:cubicBezTo>
                <a:lnTo>
                  <a:pt x="594479" y="2426002"/>
                </a:lnTo>
                <a:cubicBezTo>
                  <a:pt x="594168" y="2427683"/>
                  <a:pt x="593118" y="2429721"/>
                  <a:pt x="591963" y="2431950"/>
                </a:cubicBezTo>
                <a:cubicBezTo>
                  <a:pt x="591823" y="2432599"/>
                  <a:pt x="591684" y="2433248"/>
                  <a:pt x="591544" y="2433897"/>
                </a:cubicBezTo>
                <a:lnTo>
                  <a:pt x="589519" y="2451398"/>
                </a:lnTo>
                <a:cubicBezTo>
                  <a:pt x="589692" y="2452777"/>
                  <a:pt x="589864" y="2454157"/>
                  <a:pt x="590037" y="2455536"/>
                </a:cubicBezTo>
                <a:lnTo>
                  <a:pt x="588179" y="2462981"/>
                </a:lnTo>
                <a:lnTo>
                  <a:pt x="583434" y="2503991"/>
                </a:lnTo>
                <a:cubicBezTo>
                  <a:pt x="576530" y="2566058"/>
                  <a:pt x="570433" y="2625224"/>
                  <a:pt x="567942" y="2652936"/>
                </a:cubicBezTo>
                <a:cubicBezTo>
                  <a:pt x="570864" y="2658290"/>
                  <a:pt x="572739" y="2664095"/>
                  <a:pt x="573869" y="2670188"/>
                </a:cubicBezTo>
                <a:lnTo>
                  <a:pt x="575243" y="2688114"/>
                </a:lnTo>
                <a:lnTo>
                  <a:pt x="573824" y="2689856"/>
                </a:lnTo>
                <a:cubicBezTo>
                  <a:pt x="569972" y="2698471"/>
                  <a:pt x="569572" y="2704494"/>
                  <a:pt x="570699" y="2709353"/>
                </a:cubicBezTo>
                <a:lnTo>
                  <a:pt x="573192" y="2714527"/>
                </a:lnTo>
                <a:cubicBezTo>
                  <a:pt x="572809" y="2719080"/>
                  <a:pt x="572427" y="2723634"/>
                  <a:pt x="572044" y="2728187"/>
                </a:cubicBezTo>
                <a:cubicBezTo>
                  <a:pt x="572184" y="2737412"/>
                  <a:pt x="572325" y="2746638"/>
                  <a:pt x="572465" y="2755863"/>
                </a:cubicBezTo>
                <a:lnTo>
                  <a:pt x="570028" y="2760324"/>
                </a:lnTo>
                <a:lnTo>
                  <a:pt x="566748" y="2800948"/>
                </a:lnTo>
                <a:lnTo>
                  <a:pt x="565509" y="2801167"/>
                </a:lnTo>
                <a:cubicBezTo>
                  <a:pt x="562655" y="2802587"/>
                  <a:pt x="560408" y="2805381"/>
                  <a:pt x="559367" y="2811129"/>
                </a:cubicBezTo>
                <a:cubicBezTo>
                  <a:pt x="543471" y="2797318"/>
                  <a:pt x="552020" y="2812773"/>
                  <a:pt x="550354" y="2830949"/>
                </a:cubicBezTo>
                <a:cubicBezTo>
                  <a:pt x="525292" y="2813553"/>
                  <a:pt x="531129" y="2868192"/>
                  <a:pt x="514795" y="2872433"/>
                </a:cubicBezTo>
                <a:lnTo>
                  <a:pt x="509875" y="2923099"/>
                </a:lnTo>
                <a:lnTo>
                  <a:pt x="509577" y="2923197"/>
                </a:lnTo>
                <a:cubicBezTo>
                  <a:pt x="508704" y="2924865"/>
                  <a:pt x="508038" y="2927556"/>
                  <a:pt x="507597" y="2931868"/>
                </a:cubicBezTo>
                <a:cubicBezTo>
                  <a:pt x="507524" y="2934019"/>
                  <a:pt x="507452" y="2936171"/>
                  <a:pt x="507379" y="2938322"/>
                </a:cubicBezTo>
                <a:lnTo>
                  <a:pt x="504725" y="2954519"/>
                </a:lnTo>
                <a:lnTo>
                  <a:pt x="502018" y="2959643"/>
                </a:lnTo>
                <a:lnTo>
                  <a:pt x="498360" y="2961019"/>
                </a:lnTo>
                <a:lnTo>
                  <a:pt x="498483" y="2962590"/>
                </a:lnTo>
                <a:cubicBezTo>
                  <a:pt x="502388" y="2975027"/>
                  <a:pt x="510202" y="2980016"/>
                  <a:pt x="484403" y="2990538"/>
                </a:cubicBezTo>
                <a:cubicBezTo>
                  <a:pt x="489425" y="3018352"/>
                  <a:pt x="474337" y="3021029"/>
                  <a:pt x="463075" y="3055956"/>
                </a:cubicBezTo>
                <a:cubicBezTo>
                  <a:pt x="469487" y="3072485"/>
                  <a:pt x="464165" y="3083955"/>
                  <a:pt x="455013" y="3094482"/>
                </a:cubicBezTo>
                <a:cubicBezTo>
                  <a:pt x="453131" y="3130054"/>
                  <a:pt x="437643" y="3160106"/>
                  <a:pt x="428391" y="3198850"/>
                </a:cubicBezTo>
                <a:lnTo>
                  <a:pt x="401440" y="3307560"/>
                </a:lnTo>
                <a:lnTo>
                  <a:pt x="386076" y="3373943"/>
                </a:lnTo>
                <a:cubicBezTo>
                  <a:pt x="386236" y="3376061"/>
                  <a:pt x="380537" y="3378856"/>
                  <a:pt x="374726" y="3381364"/>
                </a:cubicBezTo>
                <a:lnTo>
                  <a:pt x="369145" y="3383729"/>
                </a:lnTo>
                <a:lnTo>
                  <a:pt x="364294" y="3414159"/>
                </a:lnTo>
                <a:lnTo>
                  <a:pt x="366450" y="3436925"/>
                </a:lnTo>
                <a:lnTo>
                  <a:pt x="351743" y="3521619"/>
                </a:lnTo>
                <a:lnTo>
                  <a:pt x="345784" y="3603757"/>
                </a:lnTo>
                <a:cubicBezTo>
                  <a:pt x="345255" y="3619979"/>
                  <a:pt x="344727" y="3636202"/>
                  <a:pt x="344198" y="3652424"/>
                </a:cubicBezTo>
                <a:lnTo>
                  <a:pt x="352450" y="3665222"/>
                </a:lnTo>
                <a:lnTo>
                  <a:pt x="342621" y="3700804"/>
                </a:lnTo>
                <a:lnTo>
                  <a:pt x="341514" y="3734774"/>
                </a:lnTo>
                <a:cubicBezTo>
                  <a:pt x="341212" y="3751567"/>
                  <a:pt x="340909" y="3768360"/>
                  <a:pt x="340607" y="3785153"/>
                </a:cubicBezTo>
                <a:cubicBezTo>
                  <a:pt x="340640" y="3786161"/>
                  <a:pt x="340674" y="3787169"/>
                  <a:pt x="340707" y="3788177"/>
                </a:cubicBezTo>
                <a:cubicBezTo>
                  <a:pt x="340592" y="3791719"/>
                  <a:pt x="340476" y="3795261"/>
                  <a:pt x="340361" y="3798803"/>
                </a:cubicBezTo>
                <a:cubicBezTo>
                  <a:pt x="340121" y="3812119"/>
                  <a:pt x="339882" y="3825434"/>
                  <a:pt x="339642" y="3838750"/>
                </a:cubicBezTo>
                <a:cubicBezTo>
                  <a:pt x="337363" y="3949044"/>
                  <a:pt x="361794" y="3960437"/>
                  <a:pt x="360295" y="4015196"/>
                </a:cubicBezTo>
                <a:lnTo>
                  <a:pt x="339043" y="4052778"/>
                </a:lnTo>
                <a:lnTo>
                  <a:pt x="339343" y="4096257"/>
                </a:lnTo>
                <a:cubicBezTo>
                  <a:pt x="362058" y="4159145"/>
                  <a:pt x="332404" y="4250479"/>
                  <a:pt x="340786" y="4321136"/>
                </a:cubicBezTo>
                <a:cubicBezTo>
                  <a:pt x="341421" y="4376624"/>
                  <a:pt x="344189" y="4407708"/>
                  <a:pt x="343158" y="4429174"/>
                </a:cubicBezTo>
                <a:cubicBezTo>
                  <a:pt x="340948" y="4436304"/>
                  <a:pt x="337887" y="4443121"/>
                  <a:pt x="334599" y="4449938"/>
                </a:cubicBezTo>
                <a:lnTo>
                  <a:pt x="332890" y="4453515"/>
                </a:lnTo>
                <a:lnTo>
                  <a:pt x="331105" y="4467941"/>
                </a:lnTo>
                <a:lnTo>
                  <a:pt x="324289" y="4471861"/>
                </a:lnTo>
                <a:lnTo>
                  <a:pt x="317079" y="4493468"/>
                </a:lnTo>
                <a:cubicBezTo>
                  <a:pt x="315353" y="4501584"/>
                  <a:pt x="314639" y="4510343"/>
                  <a:pt x="315557" y="4520067"/>
                </a:cubicBezTo>
                <a:cubicBezTo>
                  <a:pt x="315451" y="4525669"/>
                  <a:pt x="315346" y="4531270"/>
                  <a:pt x="315240" y="4536872"/>
                </a:cubicBezTo>
                <a:lnTo>
                  <a:pt x="316200" y="4538297"/>
                </a:lnTo>
                <a:cubicBezTo>
                  <a:pt x="316738" y="4541182"/>
                  <a:pt x="316785" y="4544563"/>
                  <a:pt x="317507" y="4547582"/>
                </a:cubicBezTo>
                <a:cubicBezTo>
                  <a:pt x="322716" y="4552468"/>
                  <a:pt x="324912" y="4582137"/>
                  <a:pt x="323078" y="4592102"/>
                </a:cubicBezTo>
                <a:cubicBezTo>
                  <a:pt x="314597" y="4619728"/>
                  <a:pt x="334923" y="4645745"/>
                  <a:pt x="328722" y="4667914"/>
                </a:cubicBezTo>
                <a:cubicBezTo>
                  <a:pt x="330810" y="4685069"/>
                  <a:pt x="333803" y="4690356"/>
                  <a:pt x="335597" y="4695035"/>
                </a:cubicBezTo>
                <a:lnTo>
                  <a:pt x="339485" y="4695979"/>
                </a:lnTo>
                <a:lnTo>
                  <a:pt x="341089" y="4704268"/>
                </a:lnTo>
                <a:lnTo>
                  <a:pt x="342177" y="4706060"/>
                </a:lnTo>
                <a:cubicBezTo>
                  <a:pt x="344268" y="4709474"/>
                  <a:pt x="346234" y="4712931"/>
                  <a:pt x="347751" y="4716754"/>
                </a:cubicBezTo>
                <a:lnTo>
                  <a:pt x="344125" y="4764669"/>
                </a:lnTo>
                <a:lnTo>
                  <a:pt x="340188" y="4779386"/>
                </a:lnTo>
                <a:lnTo>
                  <a:pt x="335146" y="4787491"/>
                </a:lnTo>
                <a:lnTo>
                  <a:pt x="319124" y="4843514"/>
                </a:lnTo>
                <a:lnTo>
                  <a:pt x="305956" y="4881505"/>
                </a:lnTo>
                <a:lnTo>
                  <a:pt x="301062" y="4889332"/>
                </a:lnTo>
                <a:lnTo>
                  <a:pt x="302141" y="4899400"/>
                </a:lnTo>
                <a:cubicBezTo>
                  <a:pt x="302767" y="4900706"/>
                  <a:pt x="303536" y="4901803"/>
                  <a:pt x="304424" y="4902664"/>
                </a:cubicBezTo>
                <a:lnTo>
                  <a:pt x="293123" y="4932769"/>
                </a:lnTo>
                <a:lnTo>
                  <a:pt x="292275" y="4936482"/>
                </a:lnTo>
                <a:lnTo>
                  <a:pt x="288304" y="4962325"/>
                </a:lnTo>
                <a:cubicBezTo>
                  <a:pt x="288009" y="4988948"/>
                  <a:pt x="287715" y="5015570"/>
                  <a:pt x="287420" y="5042193"/>
                </a:cubicBezTo>
                <a:cubicBezTo>
                  <a:pt x="295373" y="5039737"/>
                  <a:pt x="281659" y="5060438"/>
                  <a:pt x="287020" y="5065655"/>
                </a:cubicBezTo>
                <a:cubicBezTo>
                  <a:pt x="291675" y="5068928"/>
                  <a:pt x="288601" y="5075970"/>
                  <a:pt x="288488" y="5082216"/>
                </a:cubicBezTo>
                <a:cubicBezTo>
                  <a:pt x="292282" y="5088207"/>
                  <a:pt x="287008" y="5117775"/>
                  <a:pt x="282763" y="5127114"/>
                </a:cubicBezTo>
                <a:cubicBezTo>
                  <a:pt x="267723" y="5152218"/>
                  <a:pt x="280799" y="5182399"/>
                  <a:pt x="269316" y="5202682"/>
                </a:cubicBezTo>
                <a:cubicBezTo>
                  <a:pt x="267050" y="5219969"/>
                  <a:pt x="268614" y="5225841"/>
                  <a:pt x="269174" y="5230835"/>
                </a:cubicBezTo>
                <a:lnTo>
                  <a:pt x="272679" y="5232660"/>
                </a:lnTo>
                <a:lnTo>
                  <a:pt x="272160" y="5241150"/>
                </a:lnTo>
                <a:lnTo>
                  <a:pt x="272760" y="5243156"/>
                </a:lnTo>
                <a:cubicBezTo>
                  <a:pt x="273922" y="5246984"/>
                  <a:pt x="274952" y="5250824"/>
                  <a:pt x="275462" y="5254919"/>
                </a:cubicBezTo>
                <a:cubicBezTo>
                  <a:pt x="258407" y="5258851"/>
                  <a:pt x="276976" y="5290392"/>
                  <a:pt x="262897" y="5286259"/>
                </a:cubicBezTo>
                <a:cubicBezTo>
                  <a:pt x="262724" y="5309439"/>
                  <a:pt x="239612" y="5337531"/>
                  <a:pt x="252761" y="5357801"/>
                </a:cubicBezTo>
                <a:cubicBezTo>
                  <a:pt x="248775" y="5392256"/>
                  <a:pt x="247799" y="5423412"/>
                  <a:pt x="242360" y="5460080"/>
                </a:cubicBezTo>
                <a:cubicBezTo>
                  <a:pt x="232632" y="5488478"/>
                  <a:pt x="242025" y="5519143"/>
                  <a:pt x="229880" y="5539714"/>
                </a:cubicBezTo>
                <a:cubicBezTo>
                  <a:pt x="230558" y="5572454"/>
                  <a:pt x="222150" y="5613340"/>
                  <a:pt x="204283" y="5639080"/>
                </a:cubicBezTo>
                <a:cubicBezTo>
                  <a:pt x="201596" y="5674226"/>
                  <a:pt x="191051" y="5680198"/>
                  <a:pt x="198948" y="5710958"/>
                </a:cubicBezTo>
                <a:cubicBezTo>
                  <a:pt x="196338" y="5713534"/>
                  <a:pt x="194185" y="5716550"/>
                  <a:pt x="192367" y="5719859"/>
                </a:cubicBezTo>
                <a:lnTo>
                  <a:pt x="188035" y="5729935"/>
                </a:lnTo>
                <a:lnTo>
                  <a:pt x="188428" y="5731182"/>
                </a:lnTo>
                <a:lnTo>
                  <a:pt x="181635" y="5753538"/>
                </a:lnTo>
                <a:lnTo>
                  <a:pt x="169744" y="5796307"/>
                </a:lnTo>
                <a:lnTo>
                  <a:pt x="170351" y="5796644"/>
                </a:lnTo>
                <a:cubicBezTo>
                  <a:pt x="171558" y="5797954"/>
                  <a:pt x="172173" y="5799948"/>
                  <a:pt x="171559" y="5803435"/>
                </a:cubicBezTo>
                <a:cubicBezTo>
                  <a:pt x="182664" y="5798231"/>
                  <a:pt x="175075" y="5805646"/>
                  <a:pt x="172284" y="5816391"/>
                </a:cubicBezTo>
                <a:cubicBezTo>
                  <a:pt x="188911" y="5810703"/>
                  <a:pt x="174844" y="5841128"/>
                  <a:pt x="182542" y="5846382"/>
                </a:cubicBezTo>
                <a:cubicBezTo>
                  <a:pt x="180118" y="5854404"/>
                  <a:pt x="177856" y="5862781"/>
                  <a:pt x="175877" y="5871336"/>
                </a:cubicBezTo>
                <a:lnTo>
                  <a:pt x="174910" y="5876376"/>
                </a:lnTo>
                <a:lnTo>
                  <a:pt x="175047" y="5876483"/>
                </a:lnTo>
                <a:cubicBezTo>
                  <a:pt x="175167" y="5877594"/>
                  <a:pt x="174973" y="5879257"/>
                  <a:pt x="174335" y="5881814"/>
                </a:cubicBezTo>
                <a:lnTo>
                  <a:pt x="171273" y="5895339"/>
                </a:lnTo>
                <a:cubicBezTo>
                  <a:pt x="171401" y="5896476"/>
                  <a:pt x="171530" y="5897612"/>
                  <a:pt x="171658" y="5898749"/>
                </a:cubicBezTo>
                <a:lnTo>
                  <a:pt x="174658" y="5919558"/>
                </a:lnTo>
                <a:cubicBezTo>
                  <a:pt x="173958" y="5933601"/>
                  <a:pt x="171208" y="5962838"/>
                  <a:pt x="169099" y="5984417"/>
                </a:cubicBezTo>
                <a:cubicBezTo>
                  <a:pt x="162916" y="6005205"/>
                  <a:pt x="164971" y="6025162"/>
                  <a:pt x="162007" y="6049043"/>
                </a:cubicBezTo>
                <a:cubicBezTo>
                  <a:pt x="150795" y="6073830"/>
                  <a:pt x="160091" y="6088483"/>
                  <a:pt x="156875" y="6114000"/>
                </a:cubicBezTo>
                <a:cubicBezTo>
                  <a:pt x="141597" y="6134477"/>
                  <a:pt x="163381" y="6133378"/>
                  <a:pt x="165441" y="6146938"/>
                </a:cubicBezTo>
                <a:lnTo>
                  <a:pt x="165177" y="6150658"/>
                </a:lnTo>
                <a:lnTo>
                  <a:pt x="161772" y="6160011"/>
                </a:lnTo>
                <a:lnTo>
                  <a:pt x="160051" y="6163393"/>
                </a:lnTo>
                <a:cubicBezTo>
                  <a:pt x="159032" y="6165775"/>
                  <a:pt x="158564" y="6167421"/>
                  <a:pt x="158473" y="6168628"/>
                </a:cubicBezTo>
                <a:cubicBezTo>
                  <a:pt x="158506" y="6168685"/>
                  <a:pt x="158540" y="6168742"/>
                  <a:pt x="158573" y="6168799"/>
                </a:cubicBezTo>
                <a:lnTo>
                  <a:pt x="146463" y="6196671"/>
                </a:lnTo>
                <a:cubicBezTo>
                  <a:pt x="152348" y="6205503"/>
                  <a:pt x="134460" y="6231012"/>
                  <a:pt x="150209" y="6232365"/>
                </a:cubicBezTo>
                <a:cubicBezTo>
                  <a:pt x="145821" y="6242321"/>
                  <a:pt x="137774" y="6246719"/>
                  <a:pt x="148544" y="6246162"/>
                </a:cubicBezTo>
                <a:cubicBezTo>
                  <a:pt x="147378" y="6249522"/>
                  <a:pt x="147566" y="6251866"/>
                  <a:pt x="148403" y="6253754"/>
                </a:cubicBezTo>
                <a:lnTo>
                  <a:pt x="138880" y="6276449"/>
                </a:lnTo>
                <a:cubicBezTo>
                  <a:pt x="138814" y="6277540"/>
                  <a:pt x="138749" y="6278630"/>
                  <a:pt x="138683" y="6279721"/>
                </a:cubicBezTo>
                <a:lnTo>
                  <a:pt x="130721" y="6293675"/>
                </a:lnTo>
                <a:lnTo>
                  <a:pt x="120717" y="6313967"/>
                </a:lnTo>
                <a:cubicBezTo>
                  <a:pt x="120758" y="6314457"/>
                  <a:pt x="120800" y="6314947"/>
                  <a:pt x="120841" y="6315437"/>
                </a:cubicBezTo>
                <a:lnTo>
                  <a:pt x="115208" y="6324024"/>
                </a:lnTo>
                <a:cubicBezTo>
                  <a:pt x="113007" y="6326672"/>
                  <a:pt x="103991" y="6364381"/>
                  <a:pt x="101217" y="6365923"/>
                </a:cubicBezTo>
                <a:lnTo>
                  <a:pt x="74946" y="6556817"/>
                </a:lnTo>
                <a:cubicBezTo>
                  <a:pt x="55357" y="6665926"/>
                  <a:pt x="35695" y="6744075"/>
                  <a:pt x="16001" y="6808678"/>
                </a:cubicBezTo>
                <a:lnTo>
                  <a:pt x="0" y="6858000"/>
                </a:lnTo>
                <a:lnTo>
                  <a:pt x="5734864" y="6858000"/>
                </a:lnTo>
                <a:lnTo>
                  <a:pt x="5734864"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F246B98-9AC8-1731-91BA-EC33F21B2854}"/>
              </a:ext>
            </a:extLst>
          </p:cNvPr>
          <p:cNvSpPr>
            <a:spLocks noGrp="1"/>
          </p:cNvSpPr>
          <p:nvPr>
            <p:ph type="title"/>
          </p:nvPr>
        </p:nvSpPr>
        <p:spPr>
          <a:xfrm>
            <a:off x="773408" y="992094"/>
            <a:ext cx="3616913" cy="2795160"/>
          </a:xfrm>
        </p:spPr>
        <p:txBody>
          <a:bodyPr vert="horz" lIns="91440" tIns="45720" rIns="91440" bIns="45720" rtlCol="0" anchor="b">
            <a:normAutofit/>
          </a:bodyPr>
          <a:lstStyle/>
          <a:p>
            <a:pPr algn="ctr"/>
            <a:r>
              <a:rPr lang="en-US" kern="1200">
                <a:solidFill>
                  <a:schemeClr val="tx1"/>
                </a:solidFill>
                <a:latin typeface="+mj-lt"/>
                <a:ea typeface="+mj-ea"/>
                <a:cs typeface="+mj-cs"/>
              </a:rPr>
              <a:t>Preliminary results</a:t>
            </a:r>
          </a:p>
        </p:txBody>
      </p:sp>
      <p:sp>
        <p:nvSpPr>
          <p:cNvPr id="3" name="Content Placeholder 2">
            <a:extLst>
              <a:ext uri="{FF2B5EF4-FFF2-40B4-BE49-F238E27FC236}">
                <a16:creationId xmlns:a16="http://schemas.microsoft.com/office/drawing/2014/main" id="{1FF8A667-72FF-F0DD-A8E9-3680D2ED163B}"/>
              </a:ext>
            </a:extLst>
          </p:cNvPr>
          <p:cNvSpPr>
            <a:spLocks noGrp="1"/>
          </p:cNvSpPr>
          <p:nvPr>
            <p:ph idx="1"/>
          </p:nvPr>
        </p:nvSpPr>
        <p:spPr>
          <a:xfrm>
            <a:off x="996287" y="4121253"/>
            <a:ext cx="3125337" cy="1136843"/>
          </a:xfrm>
        </p:spPr>
        <p:txBody>
          <a:bodyPr vert="horz" lIns="91440" tIns="45720" rIns="91440" bIns="45720" rtlCol="0">
            <a:normAutofit/>
          </a:bodyPr>
          <a:lstStyle/>
          <a:p>
            <a:pPr marL="0" indent="0" algn="ctr">
              <a:buNone/>
            </a:pPr>
            <a:r>
              <a:rPr lang="en-US" sz="1800" kern="1200">
                <a:solidFill>
                  <a:schemeClr val="tx1"/>
                </a:solidFill>
                <a:latin typeface="+mn-lt"/>
                <a:ea typeface="+mn-ea"/>
                <a:cs typeface="+mn-cs"/>
              </a:rPr>
              <a:t>What proportion of activities occur within 15 minutes?</a:t>
            </a:r>
          </a:p>
        </p:txBody>
      </p:sp>
      <p:pic>
        <p:nvPicPr>
          <p:cNvPr id="5" name="Picture 4">
            <a:extLst>
              <a:ext uri="{FF2B5EF4-FFF2-40B4-BE49-F238E27FC236}">
                <a16:creationId xmlns:a16="http://schemas.microsoft.com/office/drawing/2014/main" id="{628520E5-8B76-0B19-1B10-529E5F63A3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37443" y="877008"/>
            <a:ext cx="6726835" cy="4708783"/>
          </a:xfrm>
          <a:prstGeom prst="rect">
            <a:avLst/>
          </a:prstGeom>
        </p:spPr>
      </p:pic>
    </p:spTree>
    <p:extLst>
      <p:ext uri="{BB962C8B-B14F-4D97-AF65-F5344CB8AC3E}">
        <p14:creationId xmlns:p14="http://schemas.microsoft.com/office/powerpoint/2010/main" val="512293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B53E3-DD75-3FA3-4F10-61511F0AD0DD}"/>
              </a:ext>
            </a:extLst>
          </p:cNvPr>
          <p:cNvSpPr>
            <a:spLocks noGrp="1"/>
          </p:cNvSpPr>
          <p:nvPr>
            <p:ph type="title"/>
          </p:nvPr>
        </p:nvSpPr>
        <p:spPr>
          <a:xfrm rot="16200000">
            <a:off x="-4071730" y="91364"/>
            <a:ext cx="10515600" cy="1325563"/>
          </a:xfrm>
        </p:spPr>
        <p:txBody>
          <a:bodyPr>
            <a:normAutofit/>
          </a:bodyPr>
          <a:lstStyle/>
          <a:p>
            <a:r>
              <a:rPr lang="en-001" b="1" dirty="0"/>
              <a:t>Accessibility Gap</a:t>
            </a:r>
            <a:endParaRPr lang="en-001" dirty="0"/>
          </a:p>
        </p:txBody>
      </p:sp>
      <p:pic>
        <p:nvPicPr>
          <p:cNvPr id="8" name="Picture 7">
            <a:extLst>
              <a:ext uri="{FF2B5EF4-FFF2-40B4-BE49-F238E27FC236}">
                <a16:creationId xmlns:a16="http://schemas.microsoft.com/office/drawing/2014/main" id="{826849BE-0450-BC5F-269F-A7C9C7FCB8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48852" y="475849"/>
            <a:ext cx="8964922" cy="6133894"/>
          </a:xfrm>
          <a:prstGeom prst="rect">
            <a:avLst/>
          </a:prstGeom>
        </p:spPr>
      </p:pic>
    </p:spTree>
    <p:extLst>
      <p:ext uri="{BB962C8B-B14F-4D97-AF65-F5344CB8AC3E}">
        <p14:creationId xmlns:p14="http://schemas.microsoft.com/office/powerpoint/2010/main" val="1701537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FD0A6-936D-1217-2307-54883D928515}"/>
              </a:ext>
            </a:extLst>
          </p:cNvPr>
          <p:cNvSpPr>
            <a:spLocks noGrp="1"/>
          </p:cNvSpPr>
          <p:nvPr>
            <p:ph type="title"/>
          </p:nvPr>
        </p:nvSpPr>
        <p:spPr/>
        <p:txBody>
          <a:bodyPr>
            <a:normAutofit/>
          </a:bodyPr>
          <a:lstStyle/>
          <a:p>
            <a:r>
              <a:rPr lang="en-001" sz="4000" dirty="0"/>
              <a:t>Activities occurring beyond the 15-minute city</a:t>
            </a:r>
          </a:p>
        </p:txBody>
      </p:sp>
      <p:pic>
        <p:nvPicPr>
          <p:cNvPr id="5" name="Content Placeholder 4">
            <a:extLst>
              <a:ext uri="{FF2B5EF4-FFF2-40B4-BE49-F238E27FC236}">
                <a16:creationId xmlns:a16="http://schemas.microsoft.com/office/drawing/2014/main" id="{0A24CC37-D9A8-59DF-A14B-5BF03F157956}"/>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11781"/>
          <a:stretch>
            <a:fillRect/>
          </a:stretch>
        </p:blipFill>
        <p:spPr>
          <a:xfrm>
            <a:off x="1431183" y="1470991"/>
            <a:ext cx="8726608" cy="5281533"/>
          </a:xfrm>
          <a:prstGeom prst="rect">
            <a:avLst/>
          </a:prstGeom>
        </p:spPr>
      </p:pic>
    </p:spTree>
    <p:extLst>
      <p:ext uri="{BB962C8B-B14F-4D97-AF65-F5344CB8AC3E}">
        <p14:creationId xmlns:p14="http://schemas.microsoft.com/office/powerpoint/2010/main" val="3855054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9C5E-D113-F410-1D52-CFEDFDD68709}"/>
              </a:ext>
            </a:extLst>
          </p:cNvPr>
          <p:cNvSpPr>
            <a:spLocks noGrp="1"/>
          </p:cNvSpPr>
          <p:nvPr>
            <p:ph type="title"/>
          </p:nvPr>
        </p:nvSpPr>
        <p:spPr/>
        <p:txBody>
          <a:bodyPr/>
          <a:lstStyle/>
          <a:p>
            <a:r>
              <a:rPr lang="fr-CH" dirty="0"/>
              <a:t>Challenges and Plan B</a:t>
            </a:r>
          </a:p>
        </p:txBody>
      </p:sp>
      <p:sp>
        <p:nvSpPr>
          <p:cNvPr id="3" name="Content Placeholder 2">
            <a:extLst>
              <a:ext uri="{FF2B5EF4-FFF2-40B4-BE49-F238E27FC236}">
                <a16:creationId xmlns:a16="http://schemas.microsoft.com/office/drawing/2014/main" id="{DBAEEBF5-C3D9-FA63-1735-E9C2F5C42998}"/>
              </a:ext>
            </a:extLst>
          </p:cNvPr>
          <p:cNvSpPr>
            <a:spLocks noGrp="1"/>
          </p:cNvSpPr>
          <p:nvPr>
            <p:ph idx="1"/>
          </p:nvPr>
        </p:nvSpPr>
        <p:spPr/>
        <p:txBody>
          <a:bodyPr/>
          <a:lstStyle/>
          <a:p>
            <a:r>
              <a:rPr lang="fr-CH" dirty="0" err="1"/>
              <a:t>Integration</a:t>
            </a:r>
            <a:r>
              <a:rPr lang="fr-CH" dirty="0"/>
              <a:t> of the ZVV time plan </a:t>
            </a:r>
          </a:p>
          <a:p>
            <a:pPr lvl="1"/>
            <a:r>
              <a:rPr lang="fr-CH" dirty="0"/>
              <a:t>Heavy data set </a:t>
            </a:r>
          </a:p>
          <a:p>
            <a:pPr lvl="1"/>
            <a:r>
              <a:rPr lang="fr-CH" dirty="0"/>
              <a:t>Add </a:t>
            </a:r>
            <a:r>
              <a:rPr lang="fr-CH" dirty="0" err="1"/>
              <a:t>unnecessary</a:t>
            </a:r>
            <a:r>
              <a:rPr lang="fr-CH" dirty="0"/>
              <a:t> </a:t>
            </a:r>
            <a:r>
              <a:rPr lang="fr-CH" dirty="0" err="1"/>
              <a:t>complexity</a:t>
            </a:r>
            <a:endParaRPr lang="fr-CH" dirty="0">
              <a:sym typeface="Wingdings" panose="05000000000000000000" pitchFamily="2" charset="2"/>
            </a:endParaRPr>
          </a:p>
          <a:p>
            <a:pPr>
              <a:buFont typeface="Wingdings" panose="05000000000000000000" pitchFamily="2" charset="2"/>
              <a:buChar char="à"/>
            </a:pPr>
            <a:r>
              <a:rPr lang="fr-CH" dirty="0">
                <a:sym typeface="Wingdings" panose="05000000000000000000" pitchFamily="2" charset="2"/>
              </a:rPr>
              <a:t> Use an estimation of the speed of the public transports (bus and tram) of 15 km/h </a:t>
            </a:r>
          </a:p>
          <a:p>
            <a:r>
              <a:rPr lang="fr-CH" dirty="0">
                <a:sym typeface="Wingdings" panose="05000000000000000000" pitchFamily="2" charset="2"/>
              </a:rPr>
              <a:t>Anonymisation of the data</a:t>
            </a:r>
          </a:p>
          <a:p>
            <a:pPr lvl="1"/>
            <a:r>
              <a:rPr lang="fr-CH" dirty="0">
                <a:sym typeface="Wingdings" panose="05000000000000000000" pitchFamily="2" charset="2"/>
              </a:rPr>
              <a:t>With </a:t>
            </a:r>
            <a:r>
              <a:rPr lang="fr-CH" dirty="0" err="1">
                <a:sym typeface="Wingdings" panose="05000000000000000000" pitchFamily="2" charset="2"/>
              </a:rPr>
              <a:t>only</a:t>
            </a:r>
            <a:r>
              <a:rPr lang="fr-CH" dirty="0">
                <a:sym typeface="Wingdings" panose="05000000000000000000" pitchFamily="2" charset="2"/>
              </a:rPr>
              <a:t> a few </a:t>
            </a:r>
            <a:r>
              <a:rPr lang="fr-CH" dirty="0" err="1">
                <a:sym typeface="Wingdings" panose="05000000000000000000" pitchFamily="2" charset="2"/>
              </a:rPr>
              <a:t>visited</a:t>
            </a:r>
            <a:r>
              <a:rPr lang="fr-CH" dirty="0">
                <a:sym typeface="Wingdings" panose="05000000000000000000" pitchFamily="2" charset="2"/>
              </a:rPr>
              <a:t> points, </a:t>
            </a:r>
            <a:r>
              <a:rPr lang="fr-CH" dirty="0" err="1">
                <a:sym typeface="Wingdings" panose="05000000000000000000" pitchFamily="2" charset="2"/>
              </a:rPr>
              <a:t>it</a:t>
            </a:r>
            <a:r>
              <a:rPr lang="fr-CH" dirty="0">
                <a:sym typeface="Wingdings" panose="05000000000000000000" pitchFamily="2" charset="2"/>
              </a:rPr>
              <a:t> </a:t>
            </a:r>
            <a:r>
              <a:rPr lang="fr-CH" dirty="0" err="1">
                <a:sym typeface="Wingdings" panose="05000000000000000000" pitchFamily="2" charset="2"/>
              </a:rPr>
              <a:t>is</a:t>
            </a:r>
            <a:r>
              <a:rPr lang="fr-CH" dirty="0">
                <a:sym typeface="Wingdings" panose="05000000000000000000" pitchFamily="2" charset="2"/>
              </a:rPr>
              <a:t> possible to </a:t>
            </a:r>
            <a:r>
              <a:rPr lang="fr-CH" dirty="0" err="1">
                <a:sym typeface="Wingdings" panose="05000000000000000000" pitchFamily="2" charset="2"/>
              </a:rPr>
              <a:t>find</a:t>
            </a:r>
            <a:r>
              <a:rPr lang="fr-CH" dirty="0">
                <a:sym typeface="Wingdings" panose="05000000000000000000" pitchFamily="2" charset="2"/>
              </a:rPr>
              <a:t> out </a:t>
            </a:r>
            <a:r>
              <a:rPr lang="fr-CH" dirty="0" err="1">
                <a:sym typeface="Wingdings" panose="05000000000000000000" pitchFamily="2" charset="2"/>
              </a:rPr>
              <a:t>where</a:t>
            </a:r>
            <a:r>
              <a:rPr lang="fr-CH" dirty="0">
                <a:sym typeface="Wingdings" panose="05000000000000000000" pitchFamily="2" charset="2"/>
              </a:rPr>
              <a:t> the </a:t>
            </a:r>
            <a:r>
              <a:rPr lang="fr-CH" dirty="0" err="1">
                <a:sym typeface="Wingdings" panose="05000000000000000000" pitchFamily="2" charset="2"/>
              </a:rPr>
              <a:t>person</a:t>
            </a:r>
            <a:r>
              <a:rPr lang="fr-CH" dirty="0">
                <a:sym typeface="Wingdings" panose="05000000000000000000" pitchFamily="2" charset="2"/>
              </a:rPr>
              <a:t> </a:t>
            </a:r>
            <a:r>
              <a:rPr lang="fr-CH" dirty="0" err="1">
                <a:sym typeface="Wingdings" panose="05000000000000000000" pitchFamily="2" charset="2"/>
              </a:rPr>
              <a:t>lives</a:t>
            </a:r>
            <a:r>
              <a:rPr lang="fr-CH" dirty="0">
                <a:sym typeface="Wingdings" panose="05000000000000000000" pitchFamily="2" charset="2"/>
              </a:rPr>
              <a:t>/</a:t>
            </a:r>
            <a:r>
              <a:rPr lang="fr-CH" dirty="0" err="1">
                <a:sym typeface="Wingdings" panose="05000000000000000000" pitchFamily="2" charset="2"/>
              </a:rPr>
              <a:t>who</a:t>
            </a:r>
            <a:r>
              <a:rPr lang="fr-CH" dirty="0">
                <a:sym typeface="Wingdings" panose="05000000000000000000" pitchFamily="2" charset="2"/>
              </a:rPr>
              <a:t> </a:t>
            </a:r>
            <a:r>
              <a:rPr lang="fr-CH" dirty="0" err="1">
                <a:sym typeface="Wingdings" panose="05000000000000000000" pitchFamily="2" charset="2"/>
              </a:rPr>
              <a:t>they</a:t>
            </a:r>
            <a:r>
              <a:rPr lang="fr-CH" dirty="0">
                <a:sym typeface="Wingdings" panose="05000000000000000000" pitchFamily="2" charset="2"/>
              </a:rPr>
              <a:t> are</a:t>
            </a:r>
          </a:p>
          <a:p>
            <a:pPr marL="0" indent="0">
              <a:buNone/>
            </a:pPr>
            <a:r>
              <a:rPr lang="fr-CH" dirty="0">
                <a:sym typeface="Wingdings" panose="05000000000000000000" pitchFamily="2" charset="2"/>
              </a:rPr>
              <a:t> Change the </a:t>
            </a:r>
            <a:r>
              <a:rPr lang="fr-CH" dirty="0" err="1">
                <a:sym typeface="Wingdings" panose="05000000000000000000" pitchFamily="2" charset="2"/>
              </a:rPr>
              <a:t>adress</a:t>
            </a:r>
            <a:r>
              <a:rPr lang="fr-CH" dirty="0">
                <a:sym typeface="Wingdings" panose="05000000000000000000" pitchFamily="2" charset="2"/>
              </a:rPr>
              <a:t> by a few blocks/</a:t>
            </a:r>
            <a:r>
              <a:rPr lang="fr-CH" dirty="0" err="1">
                <a:sym typeface="Wingdings" panose="05000000000000000000" pitchFamily="2" charset="2"/>
              </a:rPr>
              <a:t>streets</a:t>
            </a:r>
            <a:r>
              <a:rPr lang="fr-CH" dirty="0">
                <a:sym typeface="Wingdings" panose="05000000000000000000" pitchFamily="2" charset="2"/>
              </a:rPr>
              <a:t> (but </a:t>
            </a:r>
            <a:r>
              <a:rPr lang="fr-CH" dirty="0" err="1">
                <a:sym typeface="Wingdings" panose="05000000000000000000" pitchFamily="2" charset="2"/>
              </a:rPr>
              <a:t>still</a:t>
            </a:r>
            <a:r>
              <a:rPr lang="fr-CH" dirty="0">
                <a:sym typeface="Wingdings" panose="05000000000000000000" pitchFamily="2" charset="2"/>
              </a:rPr>
              <a:t> not </a:t>
            </a:r>
            <a:r>
              <a:rPr lang="fr-CH" dirty="0" err="1">
                <a:sym typeface="Wingdings" panose="05000000000000000000" pitchFamily="2" charset="2"/>
              </a:rPr>
              <a:t>ideal</a:t>
            </a:r>
            <a:r>
              <a:rPr lang="fr-CH" dirty="0">
                <a:sym typeface="Wingdings" panose="05000000000000000000" pitchFamily="2" charset="2"/>
              </a:rPr>
              <a:t>) </a:t>
            </a:r>
          </a:p>
          <a:p>
            <a:pPr marL="0" indent="0">
              <a:buNone/>
            </a:pPr>
            <a:endParaRPr lang="fr-CH" dirty="0"/>
          </a:p>
        </p:txBody>
      </p:sp>
    </p:spTree>
    <p:extLst>
      <p:ext uri="{BB962C8B-B14F-4D97-AF65-F5344CB8AC3E}">
        <p14:creationId xmlns:p14="http://schemas.microsoft.com/office/powerpoint/2010/main" val="2357305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225CAFF8-284D-397B-D783-884EB45FFFFB}"/>
              </a:ext>
            </a:extLst>
          </p:cNvPr>
          <p:cNvSpPr/>
          <p:nvPr/>
        </p:nvSpPr>
        <p:spPr>
          <a:xfrm>
            <a:off x="-798286" y="5544457"/>
            <a:ext cx="14427200" cy="8128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001"/>
          </a:p>
        </p:txBody>
      </p:sp>
      <p:sp>
        <p:nvSpPr>
          <p:cNvPr id="2" name="Title 1">
            <a:extLst>
              <a:ext uri="{FF2B5EF4-FFF2-40B4-BE49-F238E27FC236}">
                <a16:creationId xmlns:a16="http://schemas.microsoft.com/office/drawing/2014/main" id="{691DDAAE-2B35-42E0-7B02-6460B37FCB88}"/>
              </a:ext>
            </a:extLst>
          </p:cNvPr>
          <p:cNvSpPr>
            <a:spLocks noGrp="1"/>
          </p:cNvSpPr>
          <p:nvPr>
            <p:ph type="title"/>
          </p:nvPr>
        </p:nvSpPr>
        <p:spPr>
          <a:xfrm>
            <a:off x="838200" y="365125"/>
            <a:ext cx="4221480" cy="1325563"/>
          </a:xfrm>
        </p:spPr>
        <p:txBody>
          <a:bodyPr/>
          <a:lstStyle/>
          <a:p>
            <a:r>
              <a:rPr lang="fr-CH" dirty="0" err="1"/>
              <a:t>Context</a:t>
            </a:r>
            <a:r>
              <a:rPr lang="fr-CH" dirty="0"/>
              <a:t> </a:t>
            </a:r>
          </a:p>
        </p:txBody>
      </p:sp>
      <p:sp>
        <p:nvSpPr>
          <p:cNvPr id="3" name="Content Placeholder 2">
            <a:extLst>
              <a:ext uri="{FF2B5EF4-FFF2-40B4-BE49-F238E27FC236}">
                <a16:creationId xmlns:a16="http://schemas.microsoft.com/office/drawing/2014/main" id="{FFD8EEBF-806F-63F6-BEF0-7ECC5BC92C92}"/>
              </a:ext>
            </a:extLst>
          </p:cNvPr>
          <p:cNvSpPr>
            <a:spLocks noGrp="1"/>
          </p:cNvSpPr>
          <p:nvPr>
            <p:ph idx="1"/>
          </p:nvPr>
        </p:nvSpPr>
        <p:spPr>
          <a:xfrm>
            <a:off x="620486" y="3841749"/>
            <a:ext cx="3040743" cy="1325563"/>
          </a:xfrm>
        </p:spPr>
        <p:txBody>
          <a:bodyPr>
            <a:normAutofit/>
          </a:bodyPr>
          <a:lstStyle/>
          <a:p>
            <a:r>
              <a:rPr lang="en-001" sz="2200" dirty="0"/>
              <a:t>urban planning</a:t>
            </a:r>
          </a:p>
          <a:p>
            <a:r>
              <a:rPr lang="en-001" sz="2200" dirty="0"/>
              <a:t>mobility analysis </a:t>
            </a:r>
          </a:p>
          <a:p>
            <a:r>
              <a:rPr lang="en-001" sz="2200" dirty="0"/>
              <a:t>accessibility</a:t>
            </a:r>
          </a:p>
        </p:txBody>
      </p:sp>
      <p:sp>
        <p:nvSpPr>
          <p:cNvPr id="4" name="Content Placeholder 2">
            <a:extLst>
              <a:ext uri="{FF2B5EF4-FFF2-40B4-BE49-F238E27FC236}">
                <a16:creationId xmlns:a16="http://schemas.microsoft.com/office/drawing/2014/main" id="{8F17A50C-4B6B-BB7A-B7F8-811966543622}"/>
              </a:ext>
            </a:extLst>
          </p:cNvPr>
          <p:cNvSpPr txBox="1">
            <a:spLocks/>
          </p:cNvSpPr>
          <p:nvPr/>
        </p:nvSpPr>
        <p:spPr>
          <a:xfrm>
            <a:off x="3617686" y="3841749"/>
            <a:ext cx="3305629" cy="1325563"/>
          </a:xfrm>
          <a:prstGeom prst="rect">
            <a:avLst/>
          </a:prstGeom>
        </p:spPr>
        <p:txBody>
          <a:bodyPr vert="horz" lIns="91440" tIns="45720" rIns="91440" bIns="45720" rtlCol="0">
            <a:norm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Activity Space</a:t>
            </a:r>
          </a:p>
          <a:p>
            <a:r>
              <a:rPr lang="en-001" dirty="0"/>
              <a:t>Space - Time Prism </a:t>
            </a:r>
          </a:p>
          <a:p>
            <a:endParaRPr lang="fr-CH" dirty="0"/>
          </a:p>
        </p:txBody>
      </p:sp>
      <p:sp>
        <p:nvSpPr>
          <p:cNvPr id="7" name="Content Placeholder 2">
            <a:extLst>
              <a:ext uri="{FF2B5EF4-FFF2-40B4-BE49-F238E27FC236}">
                <a16:creationId xmlns:a16="http://schemas.microsoft.com/office/drawing/2014/main" id="{E3304064-5C43-872E-EC72-D291FDAAB208}"/>
              </a:ext>
            </a:extLst>
          </p:cNvPr>
          <p:cNvSpPr txBox="1">
            <a:spLocks/>
          </p:cNvSpPr>
          <p:nvPr/>
        </p:nvSpPr>
        <p:spPr>
          <a:xfrm>
            <a:off x="620486" y="1574936"/>
            <a:ext cx="7333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What is a 15-minute city ? </a:t>
            </a:r>
          </a:p>
        </p:txBody>
      </p:sp>
      <p:sp>
        <p:nvSpPr>
          <p:cNvPr id="9" name="TextBox 8">
            <a:extLst>
              <a:ext uri="{FF2B5EF4-FFF2-40B4-BE49-F238E27FC236}">
                <a16:creationId xmlns:a16="http://schemas.microsoft.com/office/drawing/2014/main" id="{CB528F5E-CAB4-ACCF-A3C1-CA0902706B8C}"/>
              </a:ext>
            </a:extLst>
          </p:cNvPr>
          <p:cNvSpPr txBox="1"/>
          <p:nvPr/>
        </p:nvSpPr>
        <p:spPr>
          <a:xfrm>
            <a:off x="602343" y="5663095"/>
            <a:ext cx="11056257" cy="584775"/>
          </a:xfrm>
          <a:prstGeom prst="rect">
            <a:avLst/>
          </a:prstGeom>
          <a:noFill/>
        </p:spPr>
        <p:txBody>
          <a:bodyPr wrap="square">
            <a:spAutoFit/>
          </a:bodyPr>
          <a:lstStyle/>
          <a:p>
            <a:r>
              <a:rPr lang="en-001" sz="1600" dirty="0"/>
              <a:t>Moreno, C., Allam, Z., Chabaud, D., Gall, C., &amp; Pratlong, F. (2021). Introducing the “15-Minute City”: Sustainability, resilience and place identity in future post-pandemic cities. </a:t>
            </a:r>
            <a:r>
              <a:rPr lang="en-001" sz="1600" i="1" dirty="0"/>
              <a:t>Smart Cities, 4</a:t>
            </a:r>
            <a:r>
              <a:rPr lang="en-001" sz="1600" dirty="0"/>
              <a:t>(1), 93–111. </a:t>
            </a:r>
            <a:r>
              <a:rPr lang="en-001" sz="1600" dirty="0">
                <a:hlinkClick r:id="rId3"/>
              </a:rPr>
              <a:t>https://doi.org/10.3390/smartcities4010006</a:t>
            </a:r>
            <a:endParaRPr lang="en-001" sz="1600" dirty="0"/>
          </a:p>
        </p:txBody>
      </p:sp>
      <p:sp>
        <p:nvSpPr>
          <p:cNvPr id="10" name="Content Placeholder 2">
            <a:extLst>
              <a:ext uri="{FF2B5EF4-FFF2-40B4-BE49-F238E27FC236}">
                <a16:creationId xmlns:a16="http://schemas.microsoft.com/office/drawing/2014/main" id="{915FE583-7C3C-9CF1-0E8F-21011874179B}"/>
              </a:ext>
            </a:extLst>
          </p:cNvPr>
          <p:cNvSpPr txBox="1">
            <a:spLocks/>
          </p:cNvSpPr>
          <p:nvPr/>
        </p:nvSpPr>
        <p:spPr>
          <a:xfrm>
            <a:off x="620486" y="2069681"/>
            <a:ext cx="10969171" cy="11513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sz="2200" dirty="0"/>
              <a:t>A city where residents can meet most of their everyday needs within a 15-minute walk or bike ride from their home, reducing dependence on cars and improving urban sustainability and quality of life.</a:t>
            </a:r>
            <a:r>
              <a:rPr lang="fr-CH" sz="2200" dirty="0"/>
              <a:t> </a:t>
            </a:r>
          </a:p>
        </p:txBody>
      </p:sp>
      <p:sp>
        <p:nvSpPr>
          <p:cNvPr id="12" name="Content Placeholder 2">
            <a:extLst>
              <a:ext uri="{FF2B5EF4-FFF2-40B4-BE49-F238E27FC236}">
                <a16:creationId xmlns:a16="http://schemas.microsoft.com/office/drawing/2014/main" id="{CCA93583-4939-AC40-A60F-37B5F7DB288E}"/>
              </a:ext>
            </a:extLst>
          </p:cNvPr>
          <p:cNvSpPr txBox="1">
            <a:spLocks/>
          </p:cNvSpPr>
          <p:nvPr/>
        </p:nvSpPr>
        <p:spPr>
          <a:xfrm>
            <a:off x="602343" y="3187654"/>
            <a:ext cx="3015343"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Application Area</a:t>
            </a:r>
          </a:p>
        </p:txBody>
      </p:sp>
      <p:sp>
        <p:nvSpPr>
          <p:cNvPr id="13" name="Content Placeholder 2">
            <a:extLst>
              <a:ext uri="{FF2B5EF4-FFF2-40B4-BE49-F238E27FC236}">
                <a16:creationId xmlns:a16="http://schemas.microsoft.com/office/drawing/2014/main" id="{4644C598-C82E-CEBD-C9E8-A04B079A8484}"/>
              </a:ext>
            </a:extLst>
          </p:cNvPr>
          <p:cNvSpPr txBox="1">
            <a:spLocks/>
          </p:cNvSpPr>
          <p:nvPr/>
        </p:nvSpPr>
        <p:spPr>
          <a:xfrm>
            <a:off x="3661229" y="3195883"/>
            <a:ext cx="3305628" cy="58769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Conceptual Model</a:t>
            </a:r>
          </a:p>
        </p:txBody>
      </p:sp>
      <p:sp>
        <p:nvSpPr>
          <p:cNvPr id="15" name="Content Placeholder 2">
            <a:extLst>
              <a:ext uri="{FF2B5EF4-FFF2-40B4-BE49-F238E27FC236}">
                <a16:creationId xmlns:a16="http://schemas.microsoft.com/office/drawing/2014/main" id="{92AF249F-0D57-F629-B590-655159CD6D7F}"/>
              </a:ext>
            </a:extLst>
          </p:cNvPr>
          <p:cNvSpPr txBox="1">
            <a:spLocks/>
          </p:cNvSpPr>
          <p:nvPr/>
        </p:nvSpPr>
        <p:spPr>
          <a:xfrm>
            <a:off x="6966857" y="3191230"/>
            <a:ext cx="5083953" cy="5876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001" dirty="0"/>
              <a:t>Data Structure and Availability</a:t>
            </a:r>
          </a:p>
        </p:txBody>
      </p:sp>
      <p:sp>
        <p:nvSpPr>
          <p:cNvPr id="18" name="Content Placeholder 2">
            <a:extLst>
              <a:ext uri="{FF2B5EF4-FFF2-40B4-BE49-F238E27FC236}">
                <a16:creationId xmlns:a16="http://schemas.microsoft.com/office/drawing/2014/main" id="{B5319FEE-07F5-C94C-6D34-66DCEFBAC18C}"/>
              </a:ext>
            </a:extLst>
          </p:cNvPr>
          <p:cNvSpPr txBox="1">
            <a:spLocks/>
          </p:cNvSpPr>
          <p:nvPr/>
        </p:nvSpPr>
        <p:spPr>
          <a:xfrm>
            <a:off x="6966857" y="3841748"/>
            <a:ext cx="4622800" cy="1325563"/>
          </a:xfrm>
          <a:prstGeom prst="rect">
            <a:avLst/>
          </a:prstGeom>
        </p:spPr>
        <p:txBody>
          <a:bodyPr vert="horz" lIns="91440" tIns="45720" rIns="91440" bIns="45720" rtlCol="0">
            <a:noAutofit/>
          </a:bodyPr>
          <a:lstStyle>
            <a:lvl1pPr marL="228600" indent="-228600">
              <a:lnSpc>
                <a:spcPct val="90000"/>
              </a:lnSpc>
              <a:spcBef>
                <a:spcPts val="1000"/>
              </a:spcBef>
              <a:buFont typeface="Arial" panose="020B0604020202020204" pitchFamily="34" charset="0"/>
              <a:buChar char="•"/>
              <a:defRPr sz="22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001" dirty="0"/>
              <a:t>Individual Mobility Data</a:t>
            </a:r>
          </a:p>
          <a:p>
            <a:pPr lvl="1"/>
            <a:r>
              <a:rPr lang="en-US" sz="2200" dirty="0"/>
              <a:t>G</a:t>
            </a:r>
            <a:r>
              <a:rPr lang="en-001" sz="2200" dirty="0"/>
              <a:t>oogle timeline</a:t>
            </a:r>
          </a:p>
          <a:p>
            <a:r>
              <a:rPr lang="en-001" dirty="0"/>
              <a:t>Urban context Data</a:t>
            </a:r>
          </a:p>
          <a:p>
            <a:pPr lvl="1"/>
            <a:r>
              <a:rPr lang="en-001" sz="2200" dirty="0"/>
              <a:t>OpenStreetMap</a:t>
            </a:r>
          </a:p>
        </p:txBody>
      </p:sp>
      <p:sp>
        <p:nvSpPr>
          <p:cNvPr id="22" name="TextBox 21">
            <a:extLst>
              <a:ext uri="{FF2B5EF4-FFF2-40B4-BE49-F238E27FC236}">
                <a16:creationId xmlns:a16="http://schemas.microsoft.com/office/drawing/2014/main" id="{C047BF9C-7A29-B9BC-5A4E-64513C37ED3E}"/>
              </a:ext>
            </a:extLst>
          </p:cNvPr>
          <p:cNvSpPr txBox="1"/>
          <p:nvPr/>
        </p:nvSpPr>
        <p:spPr>
          <a:xfrm>
            <a:off x="5730982" y="1759118"/>
            <a:ext cx="3179554" cy="369332"/>
          </a:xfrm>
          <a:prstGeom prst="rect">
            <a:avLst/>
          </a:prstGeom>
          <a:noFill/>
        </p:spPr>
        <p:txBody>
          <a:bodyPr wrap="square" rtlCol="0">
            <a:spAutoFit/>
          </a:bodyPr>
          <a:lstStyle/>
          <a:p>
            <a:r>
              <a:rPr lang="en-001" dirty="0"/>
              <a:t>🏠 🛒🎓 💼🌳 🍽️ 🚉  🏥</a:t>
            </a:r>
          </a:p>
        </p:txBody>
      </p:sp>
    </p:spTree>
    <p:extLst>
      <p:ext uri="{BB962C8B-B14F-4D97-AF65-F5344CB8AC3E}">
        <p14:creationId xmlns:p14="http://schemas.microsoft.com/office/powerpoint/2010/main" val="2296812319"/>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13FC2779-AD61-AFF4-CEE5-9F53C2E97AC6}"/>
              </a:ext>
            </a:extLst>
          </p:cNvPr>
          <p:cNvSpPr>
            <a:spLocks noGrp="1"/>
          </p:cNvSpPr>
          <p:nvPr>
            <p:ph type="title"/>
          </p:nvPr>
        </p:nvSpPr>
        <p:spPr>
          <a:xfrm>
            <a:off x="838200" y="713312"/>
            <a:ext cx="4038600" cy="5431376"/>
          </a:xfrm>
        </p:spPr>
        <p:txBody>
          <a:bodyPr>
            <a:normAutofit/>
          </a:bodyPr>
          <a:lstStyle/>
          <a:p>
            <a:r>
              <a:rPr lang="fr-CH" dirty="0" err="1"/>
              <a:t>Presentation</a:t>
            </a:r>
            <a:r>
              <a:rPr lang="fr-CH" dirty="0"/>
              <a:t> </a:t>
            </a:r>
            <a:r>
              <a:rPr lang="fr-CH" dirty="0" err="1"/>
              <a:t>general</a:t>
            </a:r>
            <a:r>
              <a:rPr lang="fr-CH" dirty="0"/>
              <a:t> of the </a:t>
            </a:r>
            <a:r>
              <a:rPr lang="fr-CH" dirty="0" err="1"/>
              <a:t>project</a:t>
            </a:r>
            <a:endParaRPr lang="fr-CH" dirty="0"/>
          </a:p>
        </p:txBody>
      </p:sp>
      <p:sp>
        <p:nvSpPr>
          <p:cNvPr id="3" name="Content Placeholder 2">
            <a:extLst>
              <a:ext uri="{FF2B5EF4-FFF2-40B4-BE49-F238E27FC236}">
                <a16:creationId xmlns:a16="http://schemas.microsoft.com/office/drawing/2014/main" id="{8935F94C-1BC8-885B-BEF5-2A25234FC7EF}"/>
              </a:ext>
            </a:extLst>
          </p:cNvPr>
          <p:cNvSpPr>
            <a:spLocks noGrp="1"/>
          </p:cNvSpPr>
          <p:nvPr>
            <p:ph idx="1"/>
          </p:nvPr>
        </p:nvSpPr>
        <p:spPr>
          <a:xfrm>
            <a:off x="6095999" y="713313"/>
            <a:ext cx="5257801" cy="5431376"/>
          </a:xfrm>
        </p:spPr>
        <p:txBody>
          <a:bodyPr anchor="ctr">
            <a:normAutofit/>
          </a:bodyPr>
          <a:lstStyle/>
          <a:p>
            <a:r>
              <a:rPr lang="fr-CH" sz="1900" dirty="0" err="1"/>
              <a:t>We</a:t>
            </a:r>
            <a:r>
              <a:rPr lang="fr-CH" sz="1900" dirty="0"/>
              <a:t> compare </a:t>
            </a:r>
            <a:r>
              <a:rPr lang="fr-CH" sz="1900" b="1" dirty="0" err="1"/>
              <a:t>theoretical</a:t>
            </a:r>
            <a:r>
              <a:rPr lang="fr-CH" sz="1900" b="1" dirty="0"/>
              <a:t> </a:t>
            </a:r>
            <a:r>
              <a:rPr lang="fr-CH" sz="1900" b="1" dirty="0" err="1"/>
              <a:t>accessibility</a:t>
            </a:r>
            <a:r>
              <a:rPr lang="fr-CH" sz="1900" dirty="0"/>
              <a:t> </a:t>
            </a:r>
            <a:r>
              <a:rPr lang="fr-CH" sz="1900" dirty="0" err="1"/>
              <a:t>with</a:t>
            </a:r>
            <a:r>
              <a:rPr lang="fr-CH" sz="1900" dirty="0"/>
              <a:t> </a:t>
            </a:r>
            <a:r>
              <a:rPr lang="fr-CH" sz="1900" b="1" dirty="0" err="1"/>
              <a:t>actual</a:t>
            </a:r>
            <a:r>
              <a:rPr lang="fr-CH" sz="1900" b="1" dirty="0"/>
              <a:t> </a:t>
            </a:r>
            <a:r>
              <a:rPr lang="fr-CH" sz="1900" b="1" dirty="0" err="1"/>
              <a:t>mobility</a:t>
            </a:r>
            <a:r>
              <a:rPr lang="fr-CH" sz="1900" b="1" dirty="0"/>
              <a:t> </a:t>
            </a:r>
            <a:r>
              <a:rPr lang="fr-CH" sz="1900" b="1" dirty="0" err="1"/>
              <a:t>behavior</a:t>
            </a:r>
            <a:endParaRPr lang="fr-CH" sz="1900" dirty="0"/>
          </a:p>
          <a:p>
            <a:r>
              <a:rPr lang="fr-CH" sz="1900" dirty="0"/>
              <a:t>Case </a:t>
            </a:r>
            <a:r>
              <a:rPr lang="fr-CH" sz="1900" dirty="0" err="1"/>
              <a:t>study</a:t>
            </a:r>
            <a:r>
              <a:rPr lang="fr-CH" sz="1900" dirty="0"/>
              <a:t>: </a:t>
            </a:r>
            <a:r>
              <a:rPr lang="fr-CH" sz="1900" b="1" dirty="0"/>
              <a:t>one </a:t>
            </a:r>
            <a:r>
              <a:rPr lang="fr-CH" sz="1900" b="1" dirty="0" err="1"/>
              <a:t>individual</a:t>
            </a:r>
            <a:r>
              <a:rPr lang="fr-CH" sz="1900" b="1" dirty="0"/>
              <a:t> living in Zurich</a:t>
            </a:r>
            <a:endParaRPr lang="fr-CH" sz="1900" dirty="0"/>
          </a:p>
          <a:p>
            <a:r>
              <a:rPr lang="fr-CH" sz="1900" dirty="0"/>
              <a:t>Data: </a:t>
            </a:r>
            <a:r>
              <a:rPr lang="fr-CH" sz="1900" b="1" dirty="0"/>
              <a:t>Google Timeline GPS </a:t>
            </a:r>
            <a:r>
              <a:rPr lang="fr-CH" sz="1900" b="1" dirty="0" err="1"/>
              <a:t>trajectories</a:t>
            </a:r>
            <a:r>
              <a:rPr lang="fr-CH" sz="1900" b="1" dirty="0"/>
              <a:t> over 3 </a:t>
            </a:r>
            <a:r>
              <a:rPr lang="fr-CH" sz="1900" b="1" dirty="0" err="1"/>
              <a:t>months</a:t>
            </a:r>
            <a:endParaRPr lang="fr-CH" sz="1900" dirty="0"/>
          </a:p>
          <a:p>
            <a:r>
              <a:rPr lang="fr-CH" sz="1900" dirty="0" err="1"/>
              <a:t>Context</a:t>
            </a:r>
            <a:r>
              <a:rPr lang="fr-CH" sz="1900" dirty="0"/>
              <a:t> data: </a:t>
            </a:r>
            <a:r>
              <a:rPr lang="fr-CH" sz="1900" b="1" dirty="0"/>
              <a:t>Points of </a:t>
            </a:r>
            <a:r>
              <a:rPr lang="fr-CH" sz="1900" b="1" dirty="0" err="1"/>
              <a:t>Interest</a:t>
            </a:r>
            <a:r>
              <a:rPr lang="fr-CH" sz="1900" b="1" dirty="0"/>
              <a:t> and transport infrastructure</a:t>
            </a:r>
            <a:endParaRPr lang="fr-CH" sz="1900" dirty="0"/>
          </a:p>
          <a:p>
            <a:r>
              <a:rPr lang="fr-CH" sz="1900" dirty="0"/>
              <a:t>Main focus: </a:t>
            </a:r>
            <a:r>
              <a:rPr lang="fr-CH" sz="1900" dirty="0" err="1"/>
              <a:t>identifying</a:t>
            </a:r>
            <a:r>
              <a:rPr lang="fr-CH" sz="1900" dirty="0"/>
              <a:t> </a:t>
            </a:r>
            <a:r>
              <a:rPr lang="fr-CH" sz="1900" dirty="0" err="1"/>
              <a:t>mismatches</a:t>
            </a:r>
            <a:r>
              <a:rPr lang="fr-CH" sz="1900" dirty="0"/>
              <a:t> </a:t>
            </a:r>
            <a:r>
              <a:rPr lang="fr-CH" sz="1900" dirty="0" err="1"/>
              <a:t>between</a:t>
            </a:r>
            <a:r>
              <a:rPr lang="fr-CH" sz="1900" dirty="0"/>
              <a:t>:</a:t>
            </a:r>
          </a:p>
          <a:p>
            <a:pPr lvl="1"/>
            <a:r>
              <a:rPr lang="fr-CH" sz="1900" dirty="0" err="1"/>
              <a:t>nearby</a:t>
            </a:r>
            <a:r>
              <a:rPr lang="fr-CH" sz="1900" dirty="0"/>
              <a:t> </a:t>
            </a:r>
            <a:r>
              <a:rPr lang="fr-CH" sz="1900" dirty="0" err="1"/>
              <a:t>available</a:t>
            </a:r>
            <a:r>
              <a:rPr lang="fr-CH" sz="1900" dirty="0"/>
              <a:t> services</a:t>
            </a:r>
          </a:p>
          <a:p>
            <a:pPr lvl="1"/>
            <a:r>
              <a:rPr lang="fr-CH" sz="1900" dirty="0"/>
              <a:t>15-minute </a:t>
            </a:r>
            <a:r>
              <a:rPr lang="fr-CH" sz="1900" dirty="0" err="1"/>
              <a:t>accessibility</a:t>
            </a:r>
            <a:r>
              <a:rPr lang="fr-CH" sz="1900" dirty="0"/>
              <a:t> areas</a:t>
            </a:r>
          </a:p>
          <a:p>
            <a:pPr lvl="1"/>
            <a:r>
              <a:rPr lang="fr-CH" sz="1900" dirty="0" err="1"/>
              <a:t>daily</a:t>
            </a:r>
            <a:r>
              <a:rPr lang="fr-CH" sz="1900" dirty="0"/>
              <a:t> </a:t>
            </a:r>
            <a:r>
              <a:rPr lang="fr-CH" sz="1900" dirty="0" err="1"/>
              <a:t>travel</a:t>
            </a:r>
            <a:r>
              <a:rPr lang="fr-CH" sz="1900" dirty="0"/>
              <a:t> patterns</a:t>
            </a:r>
          </a:p>
          <a:p>
            <a:r>
              <a:rPr lang="fr-CH" sz="1900" b="1" dirty="0"/>
              <a:t>Goal:</a:t>
            </a:r>
            <a:r>
              <a:rPr lang="fr-CH" sz="1900" dirty="0"/>
              <a:t> </a:t>
            </a:r>
            <a:r>
              <a:rPr lang="fr-CH" sz="1900" dirty="0" err="1"/>
              <a:t>understand</a:t>
            </a:r>
            <a:r>
              <a:rPr lang="fr-CH" sz="1900" dirty="0"/>
              <a:t> </a:t>
            </a:r>
            <a:r>
              <a:rPr lang="fr-CH" sz="1900" dirty="0" err="1"/>
              <a:t>whether</a:t>
            </a:r>
            <a:r>
              <a:rPr lang="fr-CH" sz="1900" dirty="0"/>
              <a:t> accessible infrastructure </a:t>
            </a:r>
            <a:r>
              <a:rPr lang="fr-CH" sz="1900" dirty="0" err="1"/>
              <a:t>is</a:t>
            </a:r>
            <a:r>
              <a:rPr lang="fr-CH" sz="1900" dirty="0"/>
              <a:t> </a:t>
            </a:r>
            <a:r>
              <a:rPr lang="fr-CH" sz="1900" dirty="0" err="1"/>
              <a:t>actually</a:t>
            </a:r>
            <a:r>
              <a:rPr lang="fr-CH" sz="1900" dirty="0"/>
              <a:t> </a:t>
            </a:r>
            <a:r>
              <a:rPr lang="fr-CH" sz="1900" dirty="0" err="1"/>
              <a:t>reflected</a:t>
            </a:r>
            <a:r>
              <a:rPr lang="fr-CH" sz="1900" dirty="0"/>
              <a:t> in </a:t>
            </a:r>
            <a:r>
              <a:rPr lang="fr-CH" sz="1900" dirty="0" err="1"/>
              <a:t>everyday</a:t>
            </a:r>
            <a:r>
              <a:rPr lang="fr-CH" sz="1900" dirty="0"/>
              <a:t> </a:t>
            </a:r>
            <a:r>
              <a:rPr lang="fr-CH" sz="1900" dirty="0" err="1"/>
              <a:t>mobility</a:t>
            </a:r>
            <a:r>
              <a:rPr lang="fr-CH" sz="1900" dirty="0"/>
              <a:t> </a:t>
            </a:r>
            <a:r>
              <a:rPr lang="fr-CH" sz="1900" dirty="0" err="1"/>
              <a:t>behavior</a:t>
            </a:r>
            <a:r>
              <a:rPr lang="fr-CH" sz="1900" dirty="0"/>
              <a:t>.</a:t>
            </a:r>
          </a:p>
          <a:p>
            <a:endParaRPr lang="fr-CH" sz="1900" dirty="0"/>
          </a:p>
          <a:p>
            <a:pPr marL="457200" lvl="1" indent="0">
              <a:buNone/>
            </a:pPr>
            <a:r>
              <a:rPr lang="fr-CH" sz="1900" dirty="0"/>
              <a:t> </a:t>
            </a:r>
          </a:p>
          <a:p>
            <a:pPr lvl="1"/>
            <a:endParaRPr lang="fr-CH" sz="1900" dirty="0"/>
          </a:p>
        </p:txBody>
      </p:sp>
    </p:spTree>
    <p:extLst>
      <p:ext uri="{BB962C8B-B14F-4D97-AF65-F5344CB8AC3E}">
        <p14:creationId xmlns:p14="http://schemas.microsoft.com/office/powerpoint/2010/main" val="35262473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423E1E-BDBE-7890-99F7-75EB4E250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8A396A-E78B-8B83-BCD1-2000A3ACC94E}"/>
              </a:ext>
            </a:extLst>
          </p:cNvPr>
          <p:cNvSpPr>
            <a:spLocks noGrp="1"/>
          </p:cNvSpPr>
          <p:nvPr>
            <p:ph type="title"/>
          </p:nvPr>
        </p:nvSpPr>
        <p:spPr>
          <a:xfrm>
            <a:off x="838200" y="713312"/>
            <a:ext cx="4038600" cy="3472607"/>
          </a:xfrm>
        </p:spPr>
        <p:txBody>
          <a:bodyPr>
            <a:normAutofit/>
          </a:bodyPr>
          <a:lstStyle/>
          <a:p>
            <a:r>
              <a:rPr lang="en-001" dirty="0"/>
              <a:t>Best Possible Outcome</a:t>
            </a:r>
          </a:p>
        </p:txBody>
      </p:sp>
      <p:sp>
        <p:nvSpPr>
          <p:cNvPr id="24" name="Content Placeholder 2">
            <a:extLst>
              <a:ext uri="{FF2B5EF4-FFF2-40B4-BE49-F238E27FC236}">
                <a16:creationId xmlns:a16="http://schemas.microsoft.com/office/drawing/2014/main" id="{220A022F-93D1-8C5A-87A5-E8C8242FA292}"/>
              </a:ext>
            </a:extLst>
          </p:cNvPr>
          <p:cNvSpPr>
            <a:spLocks noGrp="1"/>
          </p:cNvSpPr>
          <p:nvPr>
            <p:ph idx="1"/>
          </p:nvPr>
        </p:nvSpPr>
        <p:spPr>
          <a:xfrm>
            <a:off x="4876801" y="713313"/>
            <a:ext cx="6477000" cy="3472607"/>
          </a:xfrm>
        </p:spPr>
        <p:txBody>
          <a:bodyPr anchor="ctr">
            <a:normAutofit fontScale="92500" lnSpcReduction="10000"/>
          </a:bodyPr>
          <a:lstStyle/>
          <a:p>
            <a:pPr marL="0" indent="0">
              <a:buNone/>
            </a:pPr>
            <a:r>
              <a:rPr lang="en-001" sz="3200" dirty="0"/>
              <a:t>We expect to:</a:t>
            </a:r>
          </a:p>
          <a:p>
            <a:r>
              <a:rPr lang="en-001" sz="3200" dirty="0"/>
              <a:t>Quantify the proportion of local vs non-local activities </a:t>
            </a:r>
          </a:p>
          <a:p>
            <a:r>
              <a:rPr lang="en-001" sz="3200" dirty="0"/>
              <a:t>Identify activity types that exceed the 15-minute threshold </a:t>
            </a:r>
          </a:p>
          <a:p>
            <a:r>
              <a:rPr lang="en-001" sz="3200" dirty="0"/>
              <a:t>Evaluate whether mobility is driven more by accessibility or by personal preferences and habits</a:t>
            </a:r>
          </a:p>
        </p:txBody>
      </p:sp>
      <p:sp>
        <p:nvSpPr>
          <p:cNvPr id="3" name="Rectangle 2">
            <a:extLst>
              <a:ext uri="{FF2B5EF4-FFF2-40B4-BE49-F238E27FC236}">
                <a16:creationId xmlns:a16="http://schemas.microsoft.com/office/drawing/2014/main" id="{7054B78A-D08B-EF49-5DCE-3E78CEFBEEF3}"/>
              </a:ext>
            </a:extLst>
          </p:cNvPr>
          <p:cNvSpPr/>
          <p:nvPr/>
        </p:nvSpPr>
        <p:spPr>
          <a:xfrm>
            <a:off x="0" y="4795520"/>
            <a:ext cx="12192000" cy="1561737"/>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001" sz="2200" b="1" dirty="0">
                <a:solidFill>
                  <a:schemeClr val="tx1"/>
                </a:solidFill>
              </a:rPr>
              <a:t>Hypothesis:</a:t>
            </a:r>
            <a:r>
              <a:rPr lang="en-001" sz="2200" dirty="0">
                <a:solidFill>
                  <a:schemeClr val="tx1"/>
                </a:solidFill>
              </a:rPr>
              <a:t> Even in Zurich, many social and professional activities </a:t>
            </a:r>
          </a:p>
          <a:p>
            <a:pPr algn="ctr"/>
            <a:r>
              <a:rPr lang="en-001" sz="2200" dirty="0">
                <a:solidFill>
                  <a:schemeClr val="tx1"/>
                </a:solidFill>
              </a:rPr>
              <a:t>occur beyond the theoretically accessible area</a:t>
            </a:r>
          </a:p>
        </p:txBody>
      </p:sp>
    </p:spTree>
    <p:extLst>
      <p:ext uri="{BB962C8B-B14F-4D97-AF65-F5344CB8AC3E}">
        <p14:creationId xmlns:p14="http://schemas.microsoft.com/office/powerpoint/2010/main" val="21290165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1501</TotalTime>
  <Words>736</Words>
  <Application>Microsoft Macintosh PowerPoint</Application>
  <PresentationFormat>Widescreen</PresentationFormat>
  <Paragraphs>108</Paragraphs>
  <Slides>13</Slides>
  <Notes>0</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.AppleSystemUIFont</vt:lpstr>
      <vt:lpstr>Aptos</vt:lpstr>
      <vt:lpstr>Aptos Display</vt:lpstr>
      <vt:lpstr>Arial</vt:lpstr>
      <vt:lpstr>Wingdings</vt:lpstr>
      <vt:lpstr>Office Theme</vt:lpstr>
      <vt:lpstr>The 15-Minute City in Practice  Comparing theoretical accessibility and real mobility patterns in Zurich</vt:lpstr>
      <vt:lpstr>Context &amp; Project Intro</vt:lpstr>
      <vt:lpstr>PowerPoint Presentation</vt:lpstr>
      <vt:lpstr>Research plan</vt:lpstr>
      <vt:lpstr>PowerPoint Presentation</vt:lpstr>
      <vt:lpstr>Activity Classification</vt:lpstr>
      <vt:lpstr>Preliminary results</vt:lpstr>
      <vt:lpstr>Accessibility Gap</vt:lpstr>
      <vt:lpstr>Activities occurring beyond the 15-minute city</vt:lpstr>
      <vt:lpstr>Challenges and Plan B</vt:lpstr>
      <vt:lpstr>Context </vt:lpstr>
      <vt:lpstr>Presentation general of the project</vt:lpstr>
      <vt:lpstr>Best Possible Outcome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Noémie Simon</dc:creator>
  <cp:lastModifiedBy>Kern  Lucie</cp:lastModifiedBy>
  <cp:revision>7</cp:revision>
  <dcterms:created xsi:type="dcterms:W3CDTF">2026-05-30T13:29:55Z</dcterms:created>
  <dcterms:modified xsi:type="dcterms:W3CDTF">2026-06-03T06:13:18Z</dcterms:modified>
</cp:coreProperties>
</file>