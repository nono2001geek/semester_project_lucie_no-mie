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C83A13B9.xml" ContentType="application/vnd.ms-powerpoint.comments+xml"/>
  <Override PartName="/ppt/comments/modernComment_102_88E6931F.xml" ContentType="application/vnd.ms-powerpoint.comments+xml"/>
  <Override PartName="/ppt/comments/modernComment_10A_7D0C916.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6" r:id="rId5"/>
    <p:sldId id="259" r:id="rId6"/>
    <p:sldId id="265" r:id="rId7"/>
    <p:sldId id="263" r:id="rId8"/>
    <p:sldId id="261" r:id="rId9"/>
    <p:sldId id="262"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3E4DB8-4E12-F18C-200B-095F2E882368}" name="Kern  Lucie" initials="KL" userId="S::kernlu@ethz.ch::73957d06-79f2-4001-a218-8bdcb8f96aaa" providerId="AD"/>
  <p188:author id="{C91F3CF6-149F-06F0-0291-18BB8A7035EF}" name="Noémie Simon" initials="NS" userId="bcf751ccc0c63cc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8B2CB"/>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44" autoAdjust="0"/>
    <p:restoredTop sz="94671"/>
  </p:normalViewPr>
  <p:slideViewPr>
    <p:cSldViewPr snapToGrid="0">
      <p:cViewPr>
        <p:scale>
          <a:sx n="65" d="100"/>
          <a:sy n="65" d="100"/>
        </p:scale>
        <p:origin x="2336" y="10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omments/modernComment_10A_7D0C916.xml><?xml version="1.0" encoding="utf-8"?>
<p188:cmLst xmlns:a="http://schemas.openxmlformats.org/drawingml/2006/main" xmlns:r="http://schemas.openxmlformats.org/officeDocument/2006/relationships" xmlns:p188="http://schemas.microsoft.com/office/powerpoint/2018/8/main">
  <p188:cm id="{2741BC7A-6D15-D840-B712-6623240A656C}" authorId="{DE3E4DB8-4E12-F18C-200B-095F2E882368}" created="2026-06-01T12:46:54.639">
    <pc:sldMkLst xmlns:pc="http://schemas.microsoft.com/office/powerpoint/2013/main/command">
      <pc:docMk/>
      <pc:sldMk cId="131123478" sldId="266"/>
    </pc:sldMkLst>
    <p188:txBody>
      <a:bodyPr/>
      <a:lstStyle/>
      <a:p>
        <a:r>
          <a:rPr lang="en-001"/>
          <a:t>soit on garde slide 2-3, soit juste slide 4</a:t>
        </a:r>
      </a:p>
    </p188:txBody>
  </p188:cm>
</p188:cmLst>
</file>

<file path=ppt/comments/modernComment_100_C83A13B9.xml><?xml version="1.0" encoding="utf-8"?>
<p188:cmLst xmlns:a="http://schemas.openxmlformats.org/drawingml/2006/main" xmlns:r="http://schemas.openxmlformats.org/officeDocument/2006/relationships" xmlns:p188="http://schemas.microsoft.com/office/powerpoint/2018/8/main">
  <p188:cm id="{D96A257B-1C8E-E748-A2DE-938E634E31F0}" authorId="{DE3E4DB8-4E12-F18C-200B-095F2E882368}" created="2026-06-01T12:49:13.102">
    <pc:sldMkLst xmlns:pc="http://schemas.microsoft.com/office/powerpoint/2013/main/command">
      <pc:docMk/>
      <pc:sldMk cId="3359249337" sldId="256"/>
    </pc:sldMkLst>
    <p188:txBody>
      <a:bodyPr/>
      <a:lstStyle/>
      <a:p>
        <a:r>
          <a:rPr lang="en-001"/>
          <a:t>new suggestion for poetic and attention grabbing title how Patrick loves them : Close Enough to Reach, Far Enough to Go
Exploring the Gap Between Accessibility and Mobility in Zurich 
The Places We Could Go and the Places We Do
Comparing Theoretical Accessibility and Real Mobility Patterns in Zurich
Between Opportunity and Movement
Testing the 15-Minute City Through GPS Trajectories in Zurich </a:t>
        </a:r>
      </a:p>
    </p188:txBody>
  </p188:cm>
</p188:cmLst>
</file>

<file path=ppt/comments/modernComment_102_88E6931F.xml><?xml version="1.0" encoding="utf-8"?>
<p188:cmLst xmlns:a="http://schemas.openxmlformats.org/drawingml/2006/main" xmlns:r="http://schemas.openxmlformats.org/officeDocument/2006/relationships" xmlns:p188="http://schemas.microsoft.com/office/powerpoint/2018/8/main">
  <p188:cm id="{2097FF87-0BEC-4AA8-BA89-1AD6E5BA5930}" authorId="{C91F3CF6-149F-06F0-0291-18BB8A7035EF}" created="2026-05-31T09:22:57.363">
    <pc:sldMkLst xmlns:pc="http://schemas.microsoft.com/office/powerpoint/2013/main/command">
      <pc:docMk/>
      <pc:sldMk cId="2296812319" sldId="258"/>
    </pc:sldMkLst>
    <p188:txBody>
      <a:bodyPr/>
      <a:lstStyle/>
      <a:p>
        <a:r>
          <a:rPr lang="fr-CH"/>
          <a:t>Not sure what we want to say about the context!?</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C74514-7E59-43DD-81F2-44D5759C1824}"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12C6A796-E05E-4109-83A5-CA6732F07DCC}">
      <dgm:prSet custT="1"/>
      <dgm:spPr/>
      <dgm:t>
        <a:bodyPr/>
        <a:lstStyle/>
        <a:p>
          <a:r>
            <a:rPr lang="fr-CH" sz="2000" dirty="0"/>
            <a:t>Collection of data of  </a:t>
          </a:r>
          <a:r>
            <a:rPr lang="fr-CH" sz="2000" dirty="0" err="1"/>
            <a:t>trajectory</a:t>
          </a:r>
          <a:r>
            <a:rPr lang="fr-CH" sz="2000" dirty="0"/>
            <a:t>  (google </a:t>
          </a:r>
          <a:r>
            <a:rPr lang="fr-CH" sz="2000" dirty="0" err="1"/>
            <a:t>maps</a:t>
          </a:r>
          <a:r>
            <a:rPr lang="fr-CH" sz="2000" dirty="0"/>
            <a:t>) </a:t>
          </a:r>
          <a:endParaRPr lang="en-US" sz="2000" dirty="0"/>
        </a:p>
      </dgm:t>
    </dgm:pt>
    <dgm:pt modelId="{A758E241-A4DE-442B-90CA-0C9C5F9396E7}" type="parTrans" cxnId="{B039D11B-C065-4DB7-9C3F-9C1F1452DDD1}">
      <dgm:prSet/>
      <dgm:spPr/>
      <dgm:t>
        <a:bodyPr/>
        <a:lstStyle/>
        <a:p>
          <a:endParaRPr lang="en-US" sz="2000"/>
        </a:p>
      </dgm:t>
    </dgm:pt>
    <dgm:pt modelId="{13D06279-7FFC-4E91-975B-C5F631451C36}" type="sibTrans" cxnId="{B039D11B-C065-4DB7-9C3F-9C1F1452DDD1}">
      <dgm:prSet/>
      <dgm:spPr/>
      <dgm:t>
        <a:bodyPr/>
        <a:lstStyle/>
        <a:p>
          <a:endParaRPr lang="en-US" sz="2000"/>
        </a:p>
      </dgm:t>
    </dgm:pt>
    <dgm:pt modelId="{41B0F318-681F-480C-ACBE-4C24B27636D0}">
      <dgm:prSet custT="1"/>
      <dgm:spPr/>
      <dgm:t>
        <a:bodyPr/>
        <a:lstStyle/>
        <a:p>
          <a:r>
            <a:rPr lang="fr-CH" sz="2000" dirty="0" err="1"/>
            <a:t>Creation</a:t>
          </a:r>
          <a:r>
            <a:rPr lang="fr-CH" sz="2000" dirty="0"/>
            <a:t> of isochrones (15-minute </a:t>
          </a:r>
          <a:r>
            <a:rPr lang="fr-CH" sz="2000" dirty="0" err="1"/>
            <a:t>accesibility</a:t>
          </a:r>
          <a:r>
            <a:rPr lang="fr-CH" sz="2000" dirty="0"/>
            <a:t> zones)</a:t>
          </a:r>
          <a:endParaRPr lang="en-US" sz="2000" dirty="0"/>
        </a:p>
      </dgm:t>
    </dgm:pt>
    <dgm:pt modelId="{0D659330-D588-4B5E-A5C6-35292AF1DC95}" type="parTrans" cxnId="{95C9FA46-ECF1-4D14-8548-452CDC7D2175}">
      <dgm:prSet/>
      <dgm:spPr/>
      <dgm:t>
        <a:bodyPr/>
        <a:lstStyle/>
        <a:p>
          <a:endParaRPr lang="en-US" sz="2000"/>
        </a:p>
      </dgm:t>
    </dgm:pt>
    <dgm:pt modelId="{207A3D5B-4122-4CE8-B141-67DFCED8E158}" type="sibTrans" cxnId="{95C9FA46-ECF1-4D14-8548-452CDC7D2175}">
      <dgm:prSet/>
      <dgm:spPr/>
      <dgm:t>
        <a:bodyPr/>
        <a:lstStyle/>
        <a:p>
          <a:endParaRPr lang="en-US" sz="2000"/>
        </a:p>
      </dgm:t>
    </dgm:pt>
    <dgm:pt modelId="{7157FA5E-C5A4-4039-9621-57EE8A1E448F}">
      <dgm:prSet custT="1"/>
      <dgm:spPr/>
      <dgm:t>
        <a:bodyPr/>
        <a:lstStyle/>
        <a:p>
          <a:r>
            <a:rPr lang="fr-CH" sz="2000" dirty="0" err="1"/>
            <a:t>Detection</a:t>
          </a:r>
          <a:r>
            <a:rPr lang="fr-CH" sz="2000" dirty="0"/>
            <a:t> of point of </a:t>
          </a:r>
          <a:r>
            <a:rPr lang="fr-CH" sz="2000" dirty="0" err="1"/>
            <a:t>interests</a:t>
          </a:r>
          <a:r>
            <a:rPr lang="fr-CH" sz="2000" dirty="0"/>
            <a:t> (POI) </a:t>
          </a:r>
          <a:endParaRPr lang="en-US" sz="2000" dirty="0"/>
        </a:p>
      </dgm:t>
    </dgm:pt>
    <dgm:pt modelId="{874C9894-94B6-42CC-B8D0-400E1D54079E}" type="parTrans" cxnId="{F3787362-5CE9-48E2-99AE-A2FA95701E60}">
      <dgm:prSet/>
      <dgm:spPr/>
      <dgm:t>
        <a:bodyPr/>
        <a:lstStyle/>
        <a:p>
          <a:endParaRPr lang="en-US" sz="2000"/>
        </a:p>
      </dgm:t>
    </dgm:pt>
    <dgm:pt modelId="{1E46E158-B5CD-4F93-9646-8137B2D6040A}" type="sibTrans" cxnId="{F3787362-5CE9-48E2-99AE-A2FA95701E60}">
      <dgm:prSet/>
      <dgm:spPr/>
      <dgm:t>
        <a:bodyPr/>
        <a:lstStyle/>
        <a:p>
          <a:endParaRPr lang="en-US" sz="2000"/>
        </a:p>
      </dgm:t>
    </dgm:pt>
    <dgm:pt modelId="{59572103-8EAB-4A50-AB21-192D24EA143A}">
      <dgm:prSet custT="1"/>
      <dgm:spPr/>
      <dgm:t>
        <a:bodyPr/>
        <a:lstStyle/>
        <a:p>
          <a:r>
            <a:rPr lang="fr-CH" sz="2000" dirty="0" err="1"/>
            <a:t>Preprocessing</a:t>
          </a:r>
          <a:r>
            <a:rPr lang="fr-CH" sz="2000" dirty="0"/>
            <a:t> of </a:t>
          </a:r>
          <a:r>
            <a:rPr lang="fr-CH" sz="2000" dirty="0" err="1"/>
            <a:t>collected</a:t>
          </a:r>
          <a:r>
            <a:rPr lang="fr-CH" sz="2000" dirty="0"/>
            <a:t> data (segmentation, </a:t>
          </a:r>
          <a:r>
            <a:rPr lang="fr-CH" sz="2000" dirty="0" err="1"/>
            <a:t>categorization</a:t>
          </a:r>
          <a:r>
            <a:rPr lang="fr-CH" sz="2000" dirty="0"/>
            <a:t> of </a:t>
          </a:r>
          <a:r>
            <a:rPr lang="fr-CH" sz="2000" dirty="0" err="1"/>
            <a:t>visited</a:t>
          </a:r>
          <a:r>
            <a:rPr lang="fr-CH" sz="2000" dirty="0"/>
            <a:t> points, </a:t>
          </a:r>
          <a:r>
            <a:rPr lang="fr-CH" sz="2000" dirty="0" err="1"/>
            <a:t>mobility</a:t>
          </a:r>
          <a:r>
            <a:rPr lang="fr-CH" sz="2000" dirty="0"/>
            <a:t> </a:t>
          </a:r>
          <a:r>
            <a:rPr lang="fr-CH" sz="2000" dirty="0" err="1"/>
            <a:t>shapes</a:t>
          </a:r>
          <a:r>
            <a:rPr lang="fr-CH" sz="2000" dirty="0"/>
            <a:t>)</a:t>
          </a:r>
          <a:endParaRPr lang="en-US" sz="2000" dirty="0"/>
        </a:p>
      </dgm:t>
    </dgm:pt>
    <dgm:pt modelId="{B2F725CF-E266-4785-A60F-B2DFB20F05FF}" type="parTrans" cxnId="{8BEE4CFB-C7E5-4B83-9139-EA0C3E2FA37B}">
      <dgm:prSet/>
      <dgm:spPr/>
      <dgm:t>
        <a:bodyPr/>
        <a:lstStyle/>
        <a:p>
          <a:endParaRPr lang="en-US" sz="2000"/>
        </a:p>
      </dgm:t>
    </dgm:pt>
    <dgm:pt modelId="{8E8FBB87-05BE-4819-88DE-3D62EAC3E751}" type="sibTrans" cxnId="{8BEE4CFB-C7E5-4B83-9139-EA0C3E2FA37B}">
      <dgm:prSet/>
      <dgm:spPr/>
      <dgm:t>
        <a:bodyPr/>
        <a:lstStyle/>
        <a:p>
          <a:endParaRPr lang="en-US" sz="2000"/>
        </a:p>
      </dgm:t>
    </dgm:pt>
    <dgm:pt modelId="{4B1E9948-2C1F-48C7-9BF9-20B8B7DAEB5F}">
      <dgm:prSet custT="1"/>
      <dgm:spPr/>
      <dgm:t>
        <a:bodyPr/>
        <a:lstStyle/>
        <a:p>
          <a:r>
            <a:rPr lang="fr-CH" sz="2000" dirty="0" err="1"/>
            <a:t>Join</a:t>
          </a:r>
          <a:r>
            <a:rPr lang="fr-CH" sz="2000" dirty="0"/>
            <a:t> </a:t>
          </a:r>
          <a:r>
            <a:rPr lang="fr-CH" sz="2000" dirty="0" err="1"/>
            <a:t>both</a:t>
          </a:r>
          <a:r>
            <a:rPr lang="fr-CH" sz="2000" dirty="0"/>
            <a:t> </a:t>
          </a:r>
          <a:r>
            <a:rPr lang="fr-CH" sz="2000" dirty="0" err="1"/>
            <a:t>maps</a:t>
          </a:r>
          <a:endParaRPr lang="en-US" sz="2000" dirty="0"/>
        </a:p>
      </dgm:t>
    </dgm:pt>
    <dgm:pt modelId="{209C82A6-A847-4401-95BD-B70D8C180633}" type="parTrans" cxnId="{327CA09F-05CE-4202-9582-3D4D816260FB}">
      <dgm:prSet/>
      <dgm:spPr/>
      <dgm:t>
        <a:bodyPr/>
        <a:lstStyle/>
        <a:p>
          <a:endParaRPr lang="en-US" sz="2000"/>
        </a:p>
      </dgm:t>
    </dgm:pt>
    <dgm:pt modelId="{E55ED0DF-D70F-4199-A2A4-04EB4B2367CB}" type="sibTrans" cxnId="{327CA09F-05CE-4202-9582-3D4D816260FB}">
      <dgm:prSet/>
      <dgm:spPr/>
      <dgm:t>
        <a:bodyPr/>
        <a:lstStyle/>
        <a:p>
          <a:endParaRPr lang="en-US" sz="2000"/>
        </a:p>
      </dgm:t>
    </dgm:pt>
    <dgm:pt modelId="{A40C8A38-7AAB-4A1C-B39A-DBED66B60A11}">
      <dgm:prSet custT="1"/>
      <dgm:spPr/>
      <dgm:t>
        <a:bodyPr/>
        <a:lstStyle/>
        <a:p>
          <a:r>
            <a:rPr lang="fr-CH" sz="2000" dirty="0" err="1"/>
            <a:t>Analysis</a:t>
          </a:r>
          <a:r>
            <a:rPr lang="fr-CH" sz="2000" dirty="0"/>
            <a:t> and computation of </a:t>
          </a:r>
          <a:r>
            <a:rPr lang="fr-CH" sz="2000" dirty="0" err="1"/>
            <a:t>theoretical</a:t>
          </a:r>
          <a:r>
            <a:rPr lang="fr-CH" sz="2000" dirty="0"/>
            <a:t> </a:t>
          </a:r>
          <a:r>
            <a:rPr lang="fr-CH" sz="2000" dirty="0" err="1"/>
            <a:t>accessibility</a:t>
          </a:r>
          <a:r>
            <a:rPr lang="fr-CH" sz="2000" dirty="0"/>
            <a:t> and </a:t>
          </a:r>
          <a:r>
            <a:rPr lang="fr-CH" sz="2000" dirty="0" err="1"/>
            <a:t>practical</a:t>
          </a:r>
          <a:r>
            <a:rPr lang="fr-CH" sz="2000" dirty="0"/>
            <a:t> </a:t>
          </a:r>
          <a:r>
            <a:rPr lang="fr-CH" sz="2000" dirty="0" err="1"/>
            <a:t>mobility</a:t>
          </a:r>
          <a:endParaRPr lang="en-US" sz="2000" dirty="0"/>
        </a:p>
      </dgm:t>
    </dgm:pt>
    <dgm:pt modelId="{E5A7B580-C647-42C1-94EA-2AD96FD66632}" type="parTrans" cxnId="{1ECB5511-AEE1-4BBA-B91B-D516215FE7D6}">
      <dgm:prSet/>
      <dgm:spPr/>
      <dgm:t>
        <a:bodyPr/>
        <a:lstStyle/>
        <a:p>
          <a:endParaRPr lang="en-US" sz="2000"/>
        </a:p>
      </dgm:t>
    </dgm:pt>
    <dgm:pt modelId="{30FCC906-E4C0-41AD-A5E6-88449F9BC921}" type="sibTrans" cxnId="{1ECB5511-AEE1-4BBA-B91B-D516215FE7D6}">
      <dgm:prSet/>
      <dgm:spPr/>
      <dgm:t>
        <a:bodyPr/>
        <a:lstStyle/>
        <a:p>
          <a:endParaRPr lang="en-US" sz="2000"/>
        </a:p>
      </dgm:t>
    </dgm:pt>
    <dgm:pt modelId="{9C10C83C-4CC6-4F15-8AF1-7FD6A002DF74}">
      <dgm:prSet custT="1"/>
      <dgm:spPr/>
      <dgm:t>
        <a:bodyPr/>
        <a:lstStyle/>
        <a:p>
          <a:r>
            <a:rPr lang="fr-CH" sz="2000" dirty="0" err="1"/>
            <a:t>Results</a:t>
          </a:r>
          <a:r>
            <a:rPr lang="fr-CH" sz="2000" dirty="0"/>
            <a:t> visualisation</a:t>
          </a:r>
          <a:endParaRPr lang="en-US" sz="2000" dirty="0"/>
        </a:p>
      </dgm:t>
    </dgm:pt>
    <dgm:pt modelId="{94AAFD55-CB7E-4451-A6C0-1C474555A3A7}" type="parTrans" cxnId="{2037D8ED-C68E-4416-A81A-988785FE4213}">
      <dgm:prSet/>
      <dgm:spPr/>
      <dgm:t>
        <a:bodyPr/>
        <a:lstStyle/>
        <a:p>
          <a:endParaRPr lang="en-US" sz="2000"/>
        </a:p>
      </dgm:t>
    </dgm:pt>
    <dgm:pt modelId="{9D13E348-B2C6-429B-8C6A-041A56D697BD}" type="sibTrans" cxnId="{2037D8ED-C68E-4416-A81A-988785FE4213}">
      <dgm:prSet/>
      <dgm:spPr/>
      <dgm:t>
        <a:bodyPr/>
        <a:lstStyle/>
        <a:p>
          <a:endParaRPr lang="en-US" sz="2000"/>
        </a:p>
      </dgm:t>
    </dgm:pt>
    <dgm:pt modelId="{2DC07872-A69E-402A-96DD-C56028D57122}" type="pres">
      <dgm:prSet presAssocID="{72C74514-7E59-43DD-81F2-44D5759C1824}" presName="linear" presStyleCnt="0">
        <dgm:presLayoutVars>
          <dgm:animLvl val="lvl"/>
          <dgm:resizeHandles val="exact"/>
        </dgm:presLayoutVars>
      </dgm:prSet>
      <dgm:spPr/>
    </dgm:pt>
    <dgm:pt modelId="{246B3F6D-7E01-4EA4-AD38-6D0AD826CB2B}" type="pres">
      <dgm:prSet presAssocID="{12C6A796-E05E-4109-83A5-CA6732F07DCC}" presName="parentText" presStyleLbl="node1" presStyleIdx="0" presStyleCnt="7" custLinFactNeighborX="-573" custLinFactNeighborY="28403">
        <dgm:presLayoutVars>
          <dgm:chMax val="0"/>
          <dgm:bulletEnabled val="1"/>
        </dgm:presLayoutVars>
      </dgm:prSet>
      <dgm:spPr/>
    </dgm:pt>
    <dgm:pt modelId="{41FFD712-3018-4F8A-87A9-F9938E32B3BA}" type="pres">
      <dgm:prSet presAssocID="{13D06279-7FFC-4E91-975B-C5F631451C36}" presName="spacer" presStyleCnt="0"/>
      <dgm:spPr/>
    </dgm:pt>
    <dgm:pt modelId="{1492B98B-63EB-43A1-8A5D-476D085DE6CB}" type="pres">
      <dgm:prSet presAssocID="{41B0F318-681F-480C-ACBE-4C24B27636D0}" presName="parentText" presStyleLbl="node1" presStyleIdx="1" presStyleCnt="7">
        <dgm:presLayoutVars>
          <dgm:chMax val="0"/>
          <dgm:bulletEnabled val="1"/>
        </dgm:presLayoutVars>
      </dgm:prSet>
      <dgm:spPr/>
    </dgm:pt>
    <dgm:pt modelId="{98513353-E4E7-475B-B9F1-9C2D00380F56}" type="pres">
      <dgm:prSet presAssocID="{207A3D5B-4122-4CE8-B141-67DFCED8E158}" presName="spacer" presStyleCnt="0"/>
      <dgm:spPr/>
    </dgm:pt>
    <dgm:pt modelId="{0226B3E9-17B7-42EC-B955-CDCAEF4B2B67}" type="pres">
      <dgm:prSet presAssocID="{7157FA5E-C5A4-4039-9621-57EE8A1E448F}" presName="parentText" presStyleLbl="node1" presStyleIdx="2" presStyleCnt="7">
        <dgm:presLayoutVars>
          <dgm:chMax val="0"/>
          <dgm:bulletEnabled val="1"/>
        </dgm:presLayoutVars>
      </dgm:prSet>
      <dgm:spPr/>
    </dgm:pt>
    <dgm:pt modelId="{D3DEECF9-42A9-48EF-A0C8-AF0D7F16E2EA}" type="pres">
      <dgm:prSet presAssocID="{1E46E158-B5CD-4F93-9646-8137B2D6040A}" presName="spacer" presStyleCnt="0"/>
      <dgm:spPr/>
    </dgm:pt>
    <dgm:pt modelId="{97E83598-7549-4D53-BBE1-0E6AEBC831C5}" type="pres">
      <dgm:prSet presAssocID="{59572103-8EAB-4A50-AB21-192D24EA143A}" presName="parentText" presStyleLbl="node1" presStyleIdx="3" presStyleCnt="7">
        <dgm:presLayoutVars>
          <dgm:chMax val="0"/>
          <dgm:bulletEnabled val="1"/>
        </dgm:presLayoutVars>
      </dgm:prSet>
      <dgm:spPr/>
    </dgm:pt>
    <dgm:pt modelId="{8D81D927-B2FA-4A4B-B2D0-10300F7337DE}" type="pres">
      <dgm:prSet presAssocID="{8E8FBB87-05BE-4819-88DE-3D62EAC3E751}" presName="spacer" presStyleCnt="0"/>
      <dgm:spPr/>
    </dgm:pt>
    <dgm:pt modelId="{ED8365DF-6489-4474-AD72-A519E8BD5BF3}" type="pres">
      <dgm:prSet presAssocID="{4B1E9948-2C1F-48C7-9BF9-20B8B7DAEB5F}" presName="parentText" presStyleLbl="node1" presStyleIdx="4" presStyleCnt="7">
        <dgm:presLayoutVars>
          <dgm:chMax val="0"/>
          <dgm:bulletEnabled val="1"/>
        </dgm:presLayoutVars>
      </dgm:prSet>
      <dgm:spPr/>
    </dgm:pt>
    <dgm:pt modelId="{0DA84FBE-DDCE-42A0-A858-D691D521C2ED}" type="pres">
      <dgm:prSet presAssocID="{E55ED0DF-D70F-4199-A2A4-04EB4B2367CB}" presName="spacer" presStyleCnt="0"/>
      <dgm:spPr/>
    </dgm:pt>
    <dgm:pt modelId="{4600E2F4-4816-42E1-84E1-9746CD5EE6E1}" type="pres">
      <dgm:prSet presAssocID="{A40C8A38-7AAB-4A1C-B39A-DBED66B60A11}" presName="parentText" presStyleLbl="node1" presStyleIdx="5" presStyleCnt="7">
        <dgm:presLayoutVars>
          <dgm:chMax val="0"/>
          <dgm:bulletEnabled val="1"/>
        </dgm:presLayoutVars>
      </dgm:prSet>
      <dgm:spPr/>
    </dgm:pt>
    <dgm:pt modelId="{166791EB-AD0F-434E-8229-A35C8F8D8F23}" type="pres">
      <dgm:prSet presAssocID="{30FCC906-E4C0-41AD-A5E6-88449F9BC921}" presName="spacer" presStyleCnt="0"/>
      <dgm:spPr/>
    </dgm:pt>
    <dgm:pt modelId="{3DD9623C-BD4B-4DD5-BA45-58C18A024881}" type="pres">
      <dgm:prSet presAssocID="{9C10C83C-4CC6-4F15-8AF1-7FD6A002DF74}" presName="parentText" presStyleLbl="node1" presStyleIdx="6" presStyleCnt="7">
        <dgm:presLayoutVars>
          <dgm:chMax val="0"/>
          <dgm:bulletEnabled val="1"/>
        </dgm:presLayoutVars>
      </dgm:prSet>
      <dgm:spPr/>
    </dgm:pt>
  </dgm:ptLst>
  <dgm:cxnLst>
    <dgm:cxn modelId="{1ECB5511-AEE1-4BBA-B91B-D516215FE7D6}" srcId="{72C74514-7E59-43DD-81F2-44D5759C1824}" destId="{A40C8A38-7AAB-4A1C-B39A-DBED66B60A11}" srcOrd="5" destOrd="0" parTransId="{E5A7B580-C647-42C1-94EA-2AD96FD66632}" sibTransId="{30FCC906-E4C0-41AD-A5E6-88449F9BC921}"/>
    <dgm:cxn modelId="{B039D11B-C065-4DB7-9C3F-9C1F1452DDD1}" srcId="{72C74514-7E59-43DD-81F2-44D5759C1824}" destId="{12C6A796-E05E-4109-83A5-CA6732F07DCC}" srcOrd="0" destOrd="0" parTransId="{A758E241-A4DE-442B-90CA-0C9C5F9396E7}" sibTransId="{13D06279-7FFC-4E91-975B-C5F631451C36}"/>
    <dgm:cxn modelId="{E5A2F242-6C0F-452E-9348-36AAA3844FB6}" type="presOf" srcId="{59572103-8EAB-4A50-AB21-192D24EA143A}" destId="{97E83598-7549-4D53-BBE1-0E6AEBC831C5}" srcOrd="0" destOrd="0" presId="urn:microsoft.com/office/officeart/2005/8/layout/vList2"/>
    <dgm:cxn modelId="{95C9FA46-ECF1-4D14-8548-452CDC7D2175}" srcId="{72C74514-7E59-43DD-81F2-44D5759C1824}" destId="{41B0F318-681F-480C-ACBE-4C24B27636D0}" srcOrd="1" destOrd="0" parTransId="{0D659330-D588-4B5E-A5C6-35292AF1DC95}" sibTransId="{207A3D5B-4122-4CE8-B141-67DFCED8E158}"/>
    <dgm:cxn modelId="{F3787362-5CE9-48E2-99AE-A2FA95701E60}" srcId="{72C74514-7E59-43DD-81F2-44D5759C1824}" destId="{7157FA5E-C5A4-4039-9621-57EE8A1E448F}" srcOrd="2" destOrd="0" parTransId="{874C9894-94B6-42CC-B8D0-400E1D54079E}" sibTransId="{1E46E158-B5CD-4F93-9646-8137B2D6040A}"/>
    <dgm:cxn modelId="{CE80F663-3A3B-4D24-B6E6-0C77D0FB47EC}" type="presOf" srcId="{A40C8A38-7AAB-4A1C-B39A-DBED66B60A11}" destId="{4600E2F4-4816-42E1-84E1-9746CD5EE6E1}" srcOrd="0" destOrd="0" presId="urn:microsoft.com/office/officeart/2005/8/layout/vList2"/>
    <dgm:cxn modelId="{E714E36B-BA29-4B1C-A5A6-DC818E048543}" type="presOf" srcId="{72C74514-7E59-43DD-81F2-44D5759C1824}" destId="{2DC07872-A69E-402A-96DD-C56028D57122}" srcOrd="0" destOrd="0" presId="urn:microsoft.com/office/officeart/2005/8/layout/vList2"/>
    <dgm:cxn modelId="{676CAB7E-46F8-4503-A039-13561D369C78}" type="presOf" srcId="{12C6A796-E05E-4109-83A5-CA6732F07DCC}" destId="{246B3F6D-7E01-4EA4-AD38-6D0AD826CB2B}" srcOrd="0" destOrd="0" presId="urn:microsoft.com/office/officeart/2005/8/layout/vList2"/>
    <dgm:cxn modelId="{98AFD998-7383-4817-8CB5-6E3ABE5884B8}" type="presOf" srcId="{7157FA5E-C5A4-4039-9621-57EE8A1E448F}" destId="{0226B3E9-17B7-42EC-B955-CDCAEF4B2B67}" srcOrd="0" destOrd="0" presId="urn:microsoft.com/office/officeart/2005/8/layout/vList2"/>
    <dgm:cxn modelId="{327CA09F-05CE-4202-9582-3D4D816260FB}" srcId="{72C74514-7E59-43DD-81F2-44D5759C1824}" destId="{4B1E9948-2C1F-48C7-9BF9-20B8B7DAEB5F}" srcOrd="4" destOrd="0" parTransId="{209C82A6-A847-4401-95BD-B70D8C180633}" sibTransId="{E55ED0DF-D70F-4199-A2A4-04EB4B2367CB}"/>
    <dgm:cxn modelId="{D1A120A2-3773-4B16-A081-9D5685568011}" type="presOf" srcId="{4B1E9948-2C1F-48C7-9BF9-20B8B7DAEB5F}" destId="{ED8365DF-6489-4474-AD72-A519E8BD5BF3}" srcOrd="0" destOrd="0" presId="urn:microsoft.com/office/officeart/2005/8/layout/vList2"/>
    <dgm:cxn modelId="{0CE97AC5-ABE1-4091-9C68-7930E305F93D}" type="presOf" srcId="{9C10C83C-4CC6-4F15-8AF1-7FD6A002DF74}" destId="{3DD9623C-BD4B-4DD5-BA45-58C18A024881}" srcOrd="0" destOrd="0" presId="urn:microsoft.com/office/officeart/2005/8/layout/vList2"/>
    <dgm:cxn modelId="{484203CC-9915-4598-B3DC-D317ECE99FF9}" type="presOf" srcId="{41B0F318-681F-480C-ACBE-4C24B27636D0}" destId="{1492B98B-63EB-43A1-8A5D-476D085DE6CB}" srcOrd="0" destOrd="0" presId="urn:microsoft.com/office/officeart/2005/8/layout/vList2"/>
    <dgm:cxn modelId="{2037D8ED-C68E-4416-A81A-988785FE4213}" srcId="{72C74514-7E59-43DD-81F2-44D5759C1824}" destId="{9C10C83C-4CC6-4F15-8AF1-7FD6A002DF74}" srcOrd="6" destOrd="0" parTransId="{94AAFD55-CB7E-4451-A6C0-1C474555A3A7}" sibTransId="{9D13E348-B2C6-429B-8C6A-041A56D697BD}"/>
    <dgm:cxn modelId="{8BEE4CFB-C7E5-4B83-9139-EA0C3E2FA37B}" srcId="{72C74514-7E59-43DD-81F2-44D5759C1824}" destId="{59572103-8EAB-4A50-AB21-192D24EA143A}" srcOrd="3" destOrd="0" parTransId="{B2F725CF-E266-4785-A60F-B2DFB20F05FF}" sibTransId="{8E8FBB87-05BE-4819-88DE-3D62EAC3E751}"/>
    <dgm:cxn modelId="{1C2DFA0A-42E7-4CFD-9079-26EDE112FEA2}" type="presParOf" srcId="{2DC07872-A69E-402A-96DD-C56028D57122}" destId="{246B3F6D-7E01-4EA4-AD38-6D0AD826CB2B}" srcOrd="0" destOrd="0" presId="urn:microsoft.com/office/officeart/2005/8/layout/vList2"/>
    <dgm:cxn modelId="{4E0527D0-2581-42EA-9113-11C15978913A}" type="presParOf" srcId="{2DC07872-A69E-402A-96DD-C56028D57122}" destId="{41FFD712-3018-4F8A-87A9-F9938E32B3BA}" srcOrd="1" destOrd="0" presId="urn:microsoft.com/office/officeart/2005/8/layout/vList2"/>
    <dgm:cxn modelId="{963CA133-4267-4FD0-9C33-9C1E2022D06D}" type="presParOf" srcId="{2DC07872-A69E-402A-96DD-C56028D57122}" destId="{1492B98B-63EB-43A1-8A5D-476D085DE6CB}" srcOrd="2" destOrd="0" presId="urn:microsoft.com/office/officeart/2005/8/layout/vList2"/>
    <dgm:cxn modelId="{C8B643D3-18B9-47A7-BE97-FE6696DDB36C}" type="presParOf" srcId="{2DC07872-A69E-402A-96DD-C56028D57122}" destId="{98513353-E4E7-475B-B9F1-9C2D00380F56}" srcOrd="3" destOrd="0" presId="urn:microsoft.com/office/officeart/2005/8/layout/vList2"/>
    <dgm:cxn modelId="{D9871862-C74D-4C10-A979-8065D7835294}" type="presParOf" srcId="{2DC07872-A69E-402A-96DD-C56028D57122}" destId="{0226B3E9-17B7-42EC-B955-CDCAEF4B2B67}" srcOrd="4" destOrd="0" presId="urn:microsoft.com/office/officeart/2005/8/layout/vList2"/>
    <dgm:cxn modelId="{E1658604-B125-4EAB-9524-0467F3D418E9}" type="presParOf" srcId="{2DC07872-A69E-402A-96DD-C56028D57122}" destId="{D3DEECF9-42A9-48EF-A0C8-AF0D7F16E2EA}" srcOrd="5" destOrd="0" presId="urn:microsoft.com/office/officeart/2005/8/layout/vList2"/>
    <dgm:cxn modelId="{48513E78-8140-4294-818F-12E544F4AA28}" type="presParOf" srcId="{2DC07872-A69E-402A-96DD-C56028D57122}" destId="{97E83598-7549-4D53-BBE1-0E6AEBC831C5}" srcOrd="6" destOrd="0" presId="urn:microsoft.com/office/officeart/2005/8/layout/vList2"/>
    <dgm:cxn modelId="{55AE8177-46A0-4C10-8236-B1CEABEDF7E5}" type="presParOf" srcId="{2DC07872-A69E-402A-96DD-C56028D57122}" destId="{8D81D927-B2FA-4A4B-B2D0-10300F7337DE}" srcOrd="7" destOrd="0" presId="urn:microsoft.com/office/officeart/2005/8/layout/vList2"/>
    <dgm:cxn modelId="{AD8B4F1F-C96C-49B9-9064-ED74B11306E1}" type="presParOf" srcId="{2DC07872-A69E-402A-96DD-C56028D57122}" destId="{ED8365DF-6489-4474-AD72-A519E8BD5BF3}" srcOrd="8" destOrd="0" presId="urn:microsoft.com/office/officeart/2005/8/layout/vList2"/>
    <dgm:cxn modelId="{DA08E024-C7EE-4C11-8FD6-87761953B78B}" type="presParOf" srcId="{2DC07872-A69E-402A-96DD-C56028D57122}" destId="{0DA84FBE-DDCE-42A0-A858-D691D521C2ED}" srcOrd="9" destOrd="0" presId="urn:microsoft.com/office/officeart/2005/8/layout/vList2"/>
    <dgm:cxn modelId="{ABCCB9E7-5916-40CA-A657-8E7447B7116B}" type="presParOf" srcId="{2DC07872-A69E-402A-96DD-C56028D57122}" destId="{4600E2F4-4816-42E1-84E1-9746CD5EE6E1}" srcOrd="10" destOrd="0" presId="urn:microsoft.com/office/officeart/2005/8/layout/vList2"/>
    <dgm:cxn modelId="{5A4F766A-DDAC-4755-85EA-69D89DCF6A19}" type="presParOf" srcId="{2DC07872-A69E-402A-96DD-C56028D57122}" destId="{166791EB-AD0F-434E-8229-A35C8F8D8F23}" srcOrd="11" destOrd="0" presId="urn:microsoft.com/office/officeart/2005/8/layout/vList2"/>
    <dgm:cxn modelId="{34D42594-0F56-4F41-AD6C-AF86F21609E7}" type="presParOf" srcId="{2DC07872-A69E-402A-96DD-C56028D57122}" destId="{3DD9623C-BD4B-4DD5-BA45-58C18A024881}"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B3F6D-7E01-4EA4-AD38-6D0AD826CB2B}">
      <dsp:nvSpPr>
        <dsp:cNvPr id="0" name=""/>
        <dsp:cNvSpPr/>
      </dsp:nvSpPr>
      <dsp:spPr>
        <a:xfrm>
          <a:off x="0" y="5923"/>
          <a:ext cx="10515600" cy="60885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a:t>Collection of data of  </a:t>
          </a:r>
          <a:r>
            <a:rPr lang="fr-CH" sz="2000" kern="1200" dirty="0" err="1"/>
            <a:t>trajectory</a:t>
          </a:r>
          <a:r>
            <a:rPr lang="fr-CH" sz="2000" kern="1200" dirty="0"/>
            <a:t>  (google </a:t>
          </a:r>
          <a:r>
            <a:rPr lang="fr-CH" sz="2000" kern="1200" dirty="0" err="1"/>
            <a:t>maps</a:t>
          </a:r>
          <a:r>
            <a:rPr lang="fr-CH" sz="2000" kern="1200" dirty="0"/>
            <a:t>) </a:t>
          </a:r>
          <a:endParaRPr lang="en-US" sz="2000" kern="1200" dirty="0"/>
        </a:p>
      </dsp:txBody>
      <dsp:txXfrm>
        <a:off x="29722" y="35645"/>
        <a:ext cx="10456156" cy="549407"/>
      </dsp:txXfrm>
    </dsp:sp>
    <dsp:sp modelId="{1492B98B-63EB-43A1-8A5D-476D085DE6CB}">
      <dsp:nvSpPr>
        <dsp:cNvPr id="0" name=""/>
        <dsp:cNvSpPr/>
      </dsp:nvSpPr>
      <dsp:spPr>
        <a:xfrm>
          <a:off x="0" y="624993"/>
          <a:ext cx="10515600" cy="608851"/>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Creation</a:t>
          </a:r>
          <a:r>
            <a:rPr lang="fr-CH" sz="2000" kern="1200" dirty="0"/>
            <a:t> of isochrones (15-minute </a:t>
          </a:r>
          <a:r>
            <a:rPr lang="fr-CH" sz="2000" kern="1200" dirty="0" err="1"/>
            <a:t>accesibility</a:t>
          </a:r>
          <a:r>
            <a:rPr lang="fr-CH" sz="2000" kern="1200" dirty="0"/>
            <a:t> zones)</a:t>
          </a:r>
          <a:endParaRPr lang="en-US" sz="2000" kern="1200" dirty="0"/>
        </a:p>
      </dsp:txBody>
      <dsp:txXfrm>
        <a:off x="29722" y="654715"/>
        <a:ext cx="10456156" cy="549407"/>
      </dsp:txXfrm>
    </dsp:sp>
    <dsp:sp modelId="{0226B3E9-17B7-42EC-B955-CDCAEF4B2B67}">
      <dsp:nvSpPr>
        <dsp:cNvPr id="0" name=""/>
        <dsp:cNvSpPr/>
      </dsp:nvSpPr>
      <dsp:spPr>
        <a:xfrm>
          <a:off x="0" y="1248118"/>
          <a:ext cx="10515600" cy="608851"/>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Detection</a:t>
          </a:r>
          <a:r>
            <a:rPr lang="fr-CH" sz="2000" kern="1200" dirty="0"/>
            <a:t> of point of </a:t>
          </a:r>
          <a:r>
            <a:rPr lang="fr-CH" sz="2000" kern="1200" dirty="0" err="1"/>
            <a:t>interests</a:t>
          </a:r>
          <a:r>
            <a:rPr lang="fr-CH" sz="2000" kern="1200" dirty="0"/>
            <a:t> (POI) </a:t>
          </a:r>
          <a:endParaRPr lang="en-US" sz="2000" kern="1200" dirty="0"/>
        </a:p>
      </dsp:txBody>
      <dsp:txXfrm>
        <a:off x="29722" y="1277840"/>
        <a:ext cx="10456156" cy="549407"/>
      </dsp:txXfrm>
    </dsp:sp>
    <dsp:sp modelId="{97E83598-7549-4D53-BBE1-0E6AEBC831C5}">
      <dsp:nvSpPr>
        <dsp:cNvPr id="0" name=""/>
        <dsp:cNvSpPr/>
      </dsp:nvSpPr>
      <dsp:spPr>
        <a:xfrm>
          <a:off x="0" y="1871243"/>
          <a:ext cx="10515600" cy="608851"/>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Preprocessing</a:t>
          </a:r>
          <a:r>
            <a:rPr lang="fr-CH" sz="2000" kern="1200" dirty="0"/>
            <a:t> of </a:t>
          </a:r>
          <a:r>
            <a:rPr lang="fr-CH" sz="2000" kern="1200" dirty="0" err="1"/>
            <a:t>collected</a:t>
          </a:r>
          <a:r>
            <a:rPr lang="fr-CH" sz="2000" kern="1200" dirty="0"/>
            <a:t> data (segmentation, </a:t>
          </a:r>
          <a:r>
            <a:rPr lang="fr-CH" sz="2000" kern="1200" dirty="0" err="1"/>
            <a:t>categorization</a:t>
          </a:r>
          <a:r>
            <a:rPr lang="fr-CH" sz="2000" kern="1200" dirty="0"/>
            <a:t> of </a:t>
          </a:r>
          <a:r>
            <a:rPr lang="fr-CH" sz="2000" kern="1200" dirty="0" err="1"/>
            <a:t>visited</a:t>
          </a:r>
          <a:r>
            <a:rPr lang="fr-CH" sz="2000" kern="1200" dirty="0"/>
            <a:t> points, </a:t>
          </a:r>
          <a:r>
            <a:rPr lang="fr-CH" sz="2000" kern="1200" dirty="0" err="1"/>
            <a:t>mobility</a:t>
          </a:r>
          <a:r>
            <a:rPr lang="fr-CH" sz="2000" kern="1200" dirty="0"/>
            <a:t> </a:t>
          </a:r>
          <a:r>
            <a:rPr lang="fr-CH" sz="2000" kern="1200" dirty="0" err="1"/>
            <a:t>shapes</a:t>
          </a:r>
          <a:r>
            <a:rPr lang="fr-CH" sz="2000" kern="1200" dirty="0"/>
            <a:t>)</a:t>
          </a:r>
          <a:endParaRPr lang="en-US" sz="2000" kern="1200" dirty="0"/>
        </a:p>
      </dsp:txBody>
      <dsp:txXfrm>
        <a:off x="29722" y="1900965"/>
        <a:ext cx="10456156" cy="549407"/>
      </dsp:txXfrm>
    </dsp:sp>
    <dsp:sp modelId="{ED8365DF-6489-4474-AD72-A519E8BD5BF3}">
      <dsp:nvSpPr>
        <dsp:cNvPr id="0" name=""/>
        <dsp:cNvSpPr/>
      </dsp:nvSpPr>
      <dsp:spPr>
        <a:xfrm>
          <a:off x="0" y="2494368"/>
          <a:ext cx="10515600" cy="608851"/>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Join</a:t>
          </a:r>
          <a:r>
            <a:rPr lang="fr-CH" sz="2000" kern="1200" dirty="0"/>
            <a:t> </a:t>
          </a:r>
          <a:r>
            <a:rPr lang="fr-CH" sz="2000" kern="1200" dirty="0" err="1"/>
            <a:t>both</a:t>
          </a:r>
          <a:r>
            <a:rPr lang="fr-CH" sz="2000" kern="1200" dirty="0"/>
            <a:t> </a:t>
          </a:r>
          <a:r>
            <a:rPr lang="fr-CH" sz="2000" kern="1200" dirty="0" err="1"/>
            <a:t>maps</a:t>
          </a:r>
          <a:endParaRPr lang="en-US" sz="2000" kern="1200" dirty="0"/>
        </a:p>
      </dsp:txBody>
      <dsp:txXfrm>
        <a:off x="29722" y="2524090"/>
        <a:ext cx="10456156" cy="549407"/>
      </dsp:txXfrm>
    </dsp:sp>
    <dsp:sp modelId="{4600E2F4-4816-42E1-84E1-9746CD5EE6E1}">
      <dsp:nvSpPr>
        <dsp:cNvPr id="0" name=""/>
        <dsp:cNvSpPr/>
      </dsp:nvSpPr>
      <dsp:spPr>
        <a:xfrm>
          <a:off x="0" y="3117492"/>
          <a:ext cx="10515600" cy="60885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Analysis</a:t>
          </a:r>
          <a:r>
            <a:rPr lang="fr-CH" sz="2000" kern="1200" dirty="0"/>
            <a:t> and computation of </a:t>
          </a:r>
          <a:r>
            <a:rPr lang="fr-CH" sz="2000" kern="1200" dirty="0" err="1"/>
            <a:t>theoretical</a:t>
          </a:r>
          <a:r>
            <a:rPr lang="fr-CH" sz="2000" kern="1200" dirty="0"/>
            <a:t> </a:t>
          </a:r>
          <a:r>
            <a:rPr lang="fr-CH" sz="2000" kern="1200" dirty="0" err="1"/>
            <a:t>accessibility</a:t>
          </a:r>
          <a:r>
            <a:rPr lang="fr-CH" sz="2000" kern="1200" dirty="0"/>
            <a:t> and </a:t>
          </a:r>
          <a:r>
            <a:rPr lang="fr-CH" sz="2000" kern="1200" dirty="0" err="1"/>
            <a:t>practical</a:t>
          </a:r>
          <a:r>
            <a:rPr lang="fr-CH" sz="2000" kern="1200" dirty="0"/>
            <a:t> </a:t>
          </a:r>
          <a:r>
            <a:rPr lang="fr-CH" sz="2000" kern="1200" dirty="0" err="1"/>
            <a:t>mobility</a:t>
          </a:r>
          <a:endParaRPr lang="en-US" sz="2000" kern="1200" dirty="0"/>
        </a:p>
      </dsp:txBody>
      <dsp:txXfrm>
        <a:off x="29722" y="3147214"/>
        <a:ext cx="10456156" cy="549407"/>
      </dsp:txXfrm>
    </dsp:sp>
    <dsp:sp modelId="{3DD9623C-BD4B-4DD5-BA45-58C18A024881}">
      <dsp:nvSpPr>
        <dsp:cNvPr id="0" name=""/>
        <dsp:cNvSpPr/>
      </dsp:nvSpPr>
      <dsp:spPr>
        <a:xfrm>
          <a:off x="0" y="3740617"/>
          <a:ext cx="10515600" cy="608851"/>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Results</a:t>
          </a:r>
          <a:r>
            <a:rPr lang="fr-CH" sz="2000" kern="1200" dirty="0"/>
            <a:t> visualisation</a:t>
          </a:r>
          <a:endParaRPr lang="en-US" sz="2000" kern="1200" dirty="0"/>
        </a:p>
      </dsp:txBody>
      <dsp:txXfrm>
        <a:off x="29722" y="3770339"/>
        <a:ext cx="10456156" cy="54940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5DE65-3C02-ACB7-84CB-6679445174D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fr-CH"/>
          </a:p>
        </p:txBody>
      </p:sp>
      <p:sp>
        <p:nvSpPr>
          <p:cNvPr id="3" name="Subtitle 2">
            <a:extLst>
              <a:ext uri="{FF2B5EF4-FFF2-40B4-BE49-F238E27FC236}">
                <a16:creationId xmlns:a16="http://schemas.microsoft.com/office/drawing/2014/main" id="{85B91BA7-428F-AC76-4503-EB039D1311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r-CH"/>
          </a:p>
        </p:txBody>
      </p:sp>
      <p:sp>
        <p:nvSpPr>
          <p:cNvPr id="4" name="Date Placeholder 3">
            <a:extLst>
              <a:ext uri="{FF2B5EF4-FFF2-40B4-BE49-F238E27FC236}">
                <a16:creationId xmlns:a16="http://schemas.microsoft.com/office/drawing/2014/main" id="{482333F7-75C4-0A69-336E-1FE89614A68C}"/>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5" name="Footer Placeholder 4">
            <a:extLst>
              <a:ext uri="{FF2B5EF4-FFF2-40B4-BE49-F238E27FC236}">
                <a16:creationId xmlns:a16="http://schemas.microsoft.com/office/drawing/2014/main" id="{F8F56C23-E522-0422-DCE1-98F990755DF5}"/>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81CAABE4-B81A-4329-1B2A-1482D9AB2E27}"/>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446499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A01A-0CA4-B54A-D8C3-46788D45D5FB}"/>
              </a:ext>
            </a:extLst>
          </p:cNvPr>
          <p:cNvSpPr>
            <a:spLocks noGrp="1"/>
          </p:cNvSpPr>
          <p:nvPr>
            <p:ph type="title"/>
          </p:nvPr>
        </p:nvSpPr>
        <p:spPr/>
        <p:txBody>
          <a:bodyPr/>
          <a:lstStyle/>
          <a:p>
            <a:r>
              <a:rPr lang="en-GB"/>
              <a:t>Click to edit Master title style</a:t>
            </a:r>
            <a:endParaRPr lang="fr-CH"/>
          </a:p>
        </p:txBody>
      </p:sp>
      <p:sp>
        <p:nvSpPr>
          <p:cNvPr id="3" name="Content Placeholder 2">
            <a:extLst>
              <a:ext uri="{FF2B5EF4-FFF2-40B4-BE49-F238E27FC236}">
                <a16:creationId xmlns:a16="http://schemas.microsoft.com/office/drawing/2014/main" id="{9421174B-95BA-E488-5679-FC07502A37A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F17AA41B-8A38-2628-1D4E-FCB8AC88FE4F}"/>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5" name="Footer Placeholder 4">
            <a:extLst>
              <a:ext uri="{FF2B5EF4-FFF2-40B4-BE49-F238E27FC236}">
                <a16:creationId xmlns:a16="http://schemas.microsoft.com/office/drawing/2014/main" id="{4A699C63-D822-9BAD-4952-47AA00CAED6F}"/>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895E69B8-DC76-3165-296B-2FC7B2066FA6}"/>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64504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2A6E-7DB6-55FD-EA8B-38155DCFCAC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fr-CH"/>
          </a:p>
        </p:txBody>
      </p:sp>
      <p:sp>
        <p:nvSpPr>
          <p:cNvPr id="3" name="Text Placeholder 2">
            <a:extLst>
              <a:ext uri="{FF2B5EF4-FFF2-40B4-BE49-F238E27FC236}">
                <a16:creationId xmlns:a16="http://schemas.microsoft.com/office/drawing/2014/main" id="{66F2F25E-6139-FEB0-3827-0A73A86B6E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6B52E1E-67BA-83CA-CB28-13247FAB576C}"/>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5" name="Footer Placeholder 4">
            <a:extLst>
              <a:ext uri="{FF2B5EF4-FFF2-40B4-BE49-F238E27FC236}">
                <a16:creationId xmlns:a16="http://schemas.microsoft.com/office/drawing/2014/main" id="{2A00FAD4-1957-BC3C-937B-9FE0441688E6}"/>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E40A9E41-CD99-8F89-640E-F95FC0D25C85}"/>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416150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CCACA-1ECE-818D-21B6-1B396DF9D5EA}"/>
              </a:ext>
            </a:extLst>
          </p:cNvPr>
          <p:cNvSpPr>
            <a:spLocks noGrp="1"/>
          </p:cNvSpPr>
          <p:nvPr>
            <p:ph type="title"/>
          </p:nvPr>
        </p:nvSpPr>
        <p:spPr/>
        <p:txBody>
          <a:bodyPr/>
          <a:lstStyle/>
          <a:p>
            <a:r>
              <a:rPr lang="en-GB"/>
              <a:t>Click to edit Master title style</a:t>
            </a:r>
            <a:endParaRPr lang="fr-CH"/>
          </a:p>
        </p:txBody>
      </p:sp>
      <p:sp>
        <p:nvSpPr>
          <p:cNvPr id="3" name="Content Placeholder 2">
            <a:extLst>
              <a:ext uri="{FF2B5EF4-FFF2-40B4-BE49-F238E27FC236}">
                <a16:creationId xmlns:a16="http://schemas.microsoft.com/office/drawing/2014/main" id="{E5E124A1-7879-DF5D-E21A-E7D8094076D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Content Placeholder 3">
            <a:extLst>
              <a:ext uri="{FF2B5EF4-FFF2-40B4-BE49-F238E27FC236}">
                <a16:creationId xmlns:a16="http://schemas.microsoft.com/office/drawing/2014/main" id="{F7B9DF7C-EE99-81B1-E2C7-4275AAED81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5" name="Date Placeholder 4">
            <a:extLst>
              <a:ext uri="{FF2B5EF4-FFF2-40B4-BE49-F238E27FC236}">
                <a16:creationId xmlns:a16="http://schemas.microsoft.com/office/drawing/2014/main" id="{9CE07D51-6C22-0FC7-F634-4C356F954231}"/>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6" name="Footer Placeholder 5">
            <a:extLst>
              <a:ext uri="{FF2B5EF4-FFF2-40B4-BE49-F238E27FC236}">
                <a16:creationId xmlns:a16="http://schemas.microsoft.com/office/drawing/2014/main" id="{A5C5EED7-74D9-2837-72B8-1CF695C65630}"/>
              </a:ext>
            </a:extLst>
          </p:cNvPr>
          <p:cNvSpPr>
            <a:spLocks noGrp="1"/>
          </p:cNvSpPr>
          <p:nvPr>
            <p:ph type="ftr" sz="quarter" idx="11"/>
          </p:nvPr>
        </p:nvSpPr>
        <p:spPr/>
        <p:txBody>
          <a:bodyPr/>
          <a:lstStyle/>
          <a:p>
            <a:endParaRPr lang="fr-CH"/>
          </a:p>
        </p:txBody>
      </p:sp>
      <p:sp>
        <p:nvSpPr>
          <p:cNvPr id="7" name="Slide Number Placeholder 6">
            <a:extLst>
              <a:ext uri="{FF2B5EF4-FFF2-40B4-BE49-F238E27FC236}">
                <a16:creationId xmlns:a16="http://schemas.microsoft.com/office/drawing/2014/main" id="{90BA67FB-28BF-9CCB-E6C3-A62F05D2E9A5}"/>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62416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64B9-ABAD-9C95-D918-24C1AD14718C}"/>
              </a:ext>
            </a:extLst>
          </p:cNvPr>
          <p:cNvSpPr>
            <a:spLocks noGrp="1"/>
          </p:cNvSpPr>
          <p:nvPr>
            <p:ph type="title"/>
          </p:nvPr>
        </p:nvSpPr>
        <p:spPr>
          <a:xfrm>
            <a:off x="839788" y="365125"/>
            <a:ext cx="10515600" cy="1325563"/>
          </a:xfrm>
        </p:spPr>
        <p:txBody>
          <a:bodyPr/>
          <a:lstStyle/>
          <a:p>
            <a:r>
              <a:rPr lang="en-GB"/>
              <a:t>Click to edit Master title style</a:t>
            </a:r>
            <a:endParaRPr lang="fr-CH"/>
          </a:p>
        </p:txBody>
      </p:sp>
      <p:sp>
        <p:nvSpPr>
          <p:cNvPr id="3" name="Text Placeholder 2">
            <a:extLst>
              <a:ext uri="{FF2B5EF4-FFF2-40B4-BE49-F238E27FC236}">
                <a16:creationId xmlns:a16="http://schemas.microsoft.com/office/drawing/2014/main" id="{7EF2D5C3-1961-010A-AB60-2D257B9A3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2E7A39-375E-A78E-4CF6-A8AC463DB59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5" name="Text Placeholder 4">
            <a:extLst>
              <a:ext uri="{FF2B5EF4-FFF2-40B4-BE49-F238E27FC236}">
                <a16:creationId xmlns:a16="http://schemas.microsoft.com/office/drawing/2014/main" id="{DC1113D9-9CC8-BB5E-8DB7-F3E5528E9D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52DAFC1-F3F9-BA2E-78C2-C903313C8D0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7" name="Date Placeholder 6">
            <a:extLst>
              <a:ext uri="{FF2B5EF4-FFF2-40B4-BE49-F238E27FC236}">
                <a16:creationId xmlns:a16="http://schemas.microsoft.com/office/drawing/2014/main" id="{07D488F3-FEAE-092E-85B4-2968CEE1F256}"/>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8" name="Footer Placeholder 7">
            <a:extLst>
              <a:ext uri="{FF2B5EF4-FFF2-40B4-BE49-F238E27FC236}">
                <a16:creationId xmlns:a16="http://schemas.microsoft.com/office/drawing/2014/main" id="{435876B3-B4D9-16B3-87F3-063E9B92A476}"/>
              </a:ext>
            </a:extLst>
          </p:cNvPr>
          <p:cNvSpPr>
            <a:spLocks noGrp="1"/>
          </p:cNvSpPr>
          <p:nvPr>
            <p:ph type="ftr" sz="quarter" idx="11"/>
          </p:nvPr>
        </p:nvSpPr>
        <p:spPr/>
        <p:txBody>
          <a:bodyPr/>
          <a:lstStyle/>
          <a:p>
            <a:endParaRPr lang="fr-CH"/>
          </a:p>
        </p:txBody>
      </p:sp>
      <p:sp>
        <p:nvSpPr>
          <p:cNvPr id="9" name="Slide Number Placeholder 8">
            <a:extLst>
              <a:ext uri="{FF2B5EF4-FFF2-40B4-BE49-F238E27FC236}">
                <a16:creationId xmlns:a16="http://schemas.microsoft.com/office/drawing/2014/main" id="{63160D13-615C-598D-F0BA-2A4F62E6CFCC}"/>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24470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B490-9F6B-2B0F-52F9-1CB627207310}"/>
              </a:ext>
            </a:extLst>
          </p:cNvPr>
          <p:cNvSpPr>
            <a:spLocks noGrp="1"/>
          </p:cNvSpPr>
          <p:nvPr>
            <p:ph type="title"/>
          </p:nvPr>
        </p:nvSpPr>
        <p:spPr/>
        <p:txBody>
          <a:bodyPr/>
          <a:lstStyle/>
          <a:p>
            <a:r>
              <a:rPr lang="en-GB"/>
              <a:t>Click to edit Master title style</a:t>
            </a:r>
            <a:endParaRPr lang="fr-CH"/>
          </a:p>
        </p:txBody>
      </p:sp>
      <p:sp>
        <p:nvSpPr>
          <p:cNvPr id="3" name="Date Placeholder 2">
            <a:extLst>
              <a:ext uri="{FF2B5EF4-FFF2-40B4-BE49-F238E27FC236}">
                <a16:creationId xmlns:a16="http://schemas.microsoft.com/office/drawing/2014/main" id="{D903F62A-09C4-DAEF-1658-9981A22E1E58}"/>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4" name="Footer Placeholder 3">
            <a:extLst>
              <a:ext uri="{FF2B5EF4-FFF2-40B4-BE49-F238E27FC236}">
                <a16:creationId xmlns:a16="http://schemas.microsoft.com/office/drawing/2014/main" id="{41D7F2CD-A8DB-B371-FA1A-3F26DC536AE6}"/>
              </a:ext>
            </a:extLst>
          </p:cNvPr>
          <p:cNvSpPr>
            <a:spLocks noGrp="1"/>
          </p:cNvSpPr>
          <p:nvPr>
            <p:ph type="ftr" sz="quarter" idx="11"/>
          </p:nvPr>
        </p:nvSpPr>
        <p:spPr/>
        <p:txBody>
          <a:bodyPr/>
          <a:lstStyle/>
          <a:p>
            <a:endParaRPr lang="fr-CH"/>
          </a:p>
        </p:txBody>
      </p:sp>
      <p:sp>
        <p:nvSpPr>
          <p:cNvPr id="5" name="Slide Number Placeholder 4">
            <a:extLst>
              <a:ext uri="{FF2B5EF4-FFF2-40B4-BE49-F238E27FC236}">
                <a16:creationId xmlns:a16="http://schemas.microsoft.com/office/drawing/2014/main" id="{BF2260BB-DDC7-146F-DE68-1D0917B94581}"/>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109616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4FE9B6-9034-FCCA-F58C-EBF8DF97FCDA}"/>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3" name="Footer Placeholder 2">
            <a:extLst>
              <a:ext uri="{FF2B5EF4-FFF2-40B4-BE49-F238E27FC236}">
                <a16:creationId xmlns:a16="http://schemas.microsoft.com/office/drawing/2014/main" id="{13CC75D7-CEF5-D8A2-4056-74FD8647EDBC}"/>
              </a:ext>
            </a:extLst>
          </p:cNvPr>
          <p:cNvSpPr>
            <a:spLocks noGrp="1"/>
          </p:cNvSpPr>
          <p:nvPr>
            <p:ph type="ftr" sz="quarter" idx="11"/>
          </p:nvPr>
        </p:nvSpPr>
        <p:spPr/>
        <p:txBody>
          <a:bodyPr/>
          <a:lstStyle/>
          <a:p>
            <a:endParaRPr lang="fr-CH"/>
          </a:p>
        </p:txBody>
      </p:sp>
      <p:sp>
        <p:nvSpPr>
          <p:cNvPr id="4" name="Slide Number Placeholder 3">
            <a:extLst>
              <a:ext uri="{FF2B5EF4-FFF2-40B4-BE49-F238E27FC236}">
                <a16:creationId xmlns:a16="http://schemas.microsoft.com/office/drawing/2014/main" id="{614F97B9-6CF7-7BDA-6533-331941D97709}"/>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1274916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C59F7-C169-4149-2624-366B13BCE9D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CH"/>
          </a:p>
        </p:txBody>
      </p:sp>
      <p:sp>
        <p:nvSpPr>
          <p:cNvPr id="3" name="Content Placeholder 2">
            <a:extLst>
              <a:ext uri="{FF2B5EF4-FFF2-40B4-BE49-F238E27FC236}">
                <a16:creationId xmlns:a16="http://schemas.microsoft.com/office/drawing/2014/main" id="{8E559975-E51A-DBA4-CDBA-396A29F231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Text Placeholder 3">
            <a:extLst>
              <a:ext uri="{FF2B5EF4-FFF2-40B4-BE49-F238E27FC236}">
                <a16:creationId xmlns:a16="http://schemas.microsoft.com/office/drawing/2014/main" id="{5D08576E-5CF4-6FB1-D72F-3381A2BA2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48F4847-E872-9D0F-000C-5215F528F409}"/>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6" name="Footer Placeholder 5">
            <a:extLst>
              <a:ext uri="{FF2B5EF4-FFF2-40B4-BE49-F238E27FC236}">
                <a16:creationId xmlns:a16="http://schemas.microsoft.com/office/drawing/2014/main" id="{E06DA340-3352-E4AF-5ADB-7382F53B7C5D}"/>
              </a:ext>
            </a:extLst>
          </p:cNvPr>
          <p:cNvSpPr>
            <a:spLocks noGrp="1"/>
          </p:cNvSpPr>
          <p:nvPr>
            <p:ph type="ftr" sz="quarter" idx="11"/>
          </p:nvPr>
        </p:nvSpPr>
        <p:spPr/>
        <p:txBody>
          <a:bodyPr/>
          <a:lstStyle/>
          <a:p>
            <a:endParaRPr lang="fr-CH"/>
          </a:p>
        </p:txBody>
      </p:sp>
      <p:sp>
        <p:nvSpPr>
          <p:cNvPr id="7" name="Slide Number Placeholder 6">
            <a:extLst>
              <a:ext uri="{FF2B5EF4-FFF2-40B4-BE49-F238E27FC236}">
                <a16:creationId xmlns:a16="http://schemas.microsoft.com/office/drawing/2014/main" id="{490F3877-B3F0-4515-28A6-7F46FDCB480F}"/>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2310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44EF9-FBBD-B425-C646-B88262D1E28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CH"/>
          </a:p>
        </p:txBody>
      </p:sp>
      <p:sp>
        <p:nvSpPr>
          <p:cNvPr id="3" name="Picture Placeholder 2">
            <a:extLst>
              <a:ext uri="{FF2B5EF4-FFF2-40B4-BE49-F238E27FC236}">
                <a16:creationId xmlns:a16="http://schemas.microsoft.com/office/drawing/2014/main" id="{2208ED01-7441-6949-510E-76E8AC726C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Text Placeholder 3">
            <a:extLst>
              <a:ext uri="{FF2B5EF4-FFF2-40B4-BE49-F238E27FC236}">
                <a16:creationId xmlns:a16="http://schemas.microsoft.com/office/drawing/2014/main" id="{27178E83-B28B-FE3F-0119-414B6AF23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A6C379-A531-029A-A562-E667CDD067EC}"/>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6" name="Footer Placeholder 5">
            <a:extLst>
              <a:ext uri="{FF2B5EF4-FFF2-40B4-BE49-F238E27FC236}">
                <a16:creationId xmlns:a16="http://schemas.microsoft.com/office/drawing/2014/main" id="{E9414E93-65B1-48AF-96D9-38861FED8A76}"/>
              </a:ext>
            </a:extLst>
          </p:cNvPr>
          <p:cNvSpPr>
            <a:spLocks noGrp="1"/>
          </p:cNvSpPr>
          <p:nvPr>
            <p:ph type="ftr" sz="quarter" idx="11"/>
          </p:nvPr>
        </p:nvSpPr>
        <p:spPr/>
        <p:txBody>
          <a:bodyPr/>
          <a:lstStyle/>
          <a:p>
            <a:endParaRPr lang="fr-CH"/>
          </a:p>
        </p:txBody>
      </p:sp>
      <p:sp>
        <p:nvSpPr>
          <p:cNvPr id="7" name="Slide Number Placeholder 6">
            <a:extLst>
              <a:ext uri="{FF2B5EF4-FFF2-40B4-BE49-F238E27FC236}">
                <a16:creationId xmlns:a16="http://schemas.microsoft.com/office/drawing/2014/main" id="{E5F31FDD-528C-49E4-AEE1-C50451C9CA25}"/>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27699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1C74-9D8D-DE98-0723-6DC65A418EFC}"/>
              </a:ext>
            </a:extLst>
          </p:cNvPr>
          <p:cNvSpPr>
            <a:spLocks noGrp="1"/>
          </p:cNvSpPr>
          <p:nvPr>
            <p:ph type="title"/>
          </p:nvPr>
        </p:nvSpPr>
        <p:spPr/>
        <p:txBody>
          <a:bodyPr/>
          <a:lstStyle/>
          <a:p>
            <a:r>
              <a:rPr lang="en-GB"/>
              <a:t>Click to edit Master title style</a:t>
            </a:r>
            <a:endParaRPr lang="fr-CH"/>
          </a:p>
        </p:txBody>
      </p:sp>
      <p:sp>
        <p:nvSpPr>
          <p:cNvPr id="3" name="Vertical Text Placeholder 2">
            <a:extLst>
              <a:ext uri="{FF2B5EF4-FFF2-40B4-BE49-F238E27FC236}">
                <a16:creationId xmlns:a16="http://schemas.microsoft.com/office/drawing/2014/main" id="{074F581F-E34C-2941-4726-5FC0E457653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6992D6AE-9898-AC59-4CAC-291AD9A4EF8A}"/>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5" name="Footer Placeholder 4">
            <a:extLst>
              <a:ext uri="{FF2B5EF4-FFF2-40B4-BE49-F238E27FC236}">
                <a16:creationId xmlns:a16="http://schemas.microsoft.com/office/drawing/2014/main" id="{73F78BDD-FF4E-EFA5-B933-327F67A096C0}"/>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321A00A4-1D65-C22F-D2B6-7D9075AC2CAF}"/>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1463188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B400BF-0E65-9B41-23DC-839A4446DE7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fr-CH"/>
          </a:p>
        </p:txBody>
      </p:sp>
      <p:sp>
        <p:nvSpPr>
          <p:cNvPr id="3" name="Vertical Text Placeholder 2">
            <a:extLst>
              <a:ext uri="{FF2B5EF4-FFF2-40B4-BE49-F238E27FC236}">
                <a16:creationId xmlns:a16="http://schemas.microsoft.com/office/drawing/2014/main" id="{9706F129-1721-10B9-8696-4FFE2DDAC6F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FB55CCBF-20F6-54F7-4979-35F3703557C1}"/>
              </a:ext>
            </a:extLst>
          </p:cNvPr>
          <p:cNvSpPr>
            <a:spLocks noGrp="1"/>
          </p:cNvSpPr>
          <p:nvPr>
            <p:ph type="dt" sz="half" idx="10"/>
          </p:nvPr>
        </p:nvSpPr>
        <p:spPr/>
        <p:txBody>
          <a:bodyPr/>
          <a:lstStyle/>
          <a:p>
            <a:fld id="{6DABDDBB-0918-4A38-BFF3-738DBDB6A6F7}" type="datetimeFigureOut">
              <a:rPr lang="fr-CH" smtClean="0"/>
              <a:t>01.06.26</a:t>
            </a:fld>
            <a:endParaRPr lang="fr-CH"/>
          </a:p>
        </p:txBody>
      </p:sp>
      <p:sp>
        <p:nvSpPr>
          <p:cNvPr id="5" name="Footer Placeholder 4">
            <a:extLst>
              <a:ext uri="{FF2B5EF4-FFF2-40B4-BE49-F238E27FC236}">
                <a16:creationId xmlns:a16="http://schemas.microsoft.com/office/drawing/2014/main" id="{02047357-F77E-E268-BF7A-2CB049D79F30}"/>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16541460-8E5A-5E35-DE2D-F7536723F750}"/>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350959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2E08E9-B939-4B48-C4F1-79E64A3A47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fr-CH"/>
          </a:p>
        </p:txBody>
      </p:sp>
      <p:sp>
        <p:nvSpPr>
          <p:cNvPr id="3" name="Text Placeholder 2">
            <a:extLst>
              <a:ext uri="{FF2B5EF4-FFF2-40B4-BE49-F238E27FC236}">
                <a16:creationId xmlns:a16="http://schemas.microsoft.com/office/drawing/2014/main" id="{DC79B699-95E5-9505-0EBA-F19E5E86D6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C0A91060-D0E6-D496-B2FD-0F5DDAFDF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ABDDBB-0918-4A38-BFF3-738DBDB6A6F7}" type="datetimeFigureOut">
              <a:rPr lang="fr-CH" smtClean="0"/>
              <a:t>01.06.26</a:t>
            </a:fld>
            <a:endParaRPr lang="fr-CH"/>
          </a:p>
        </p:txBody>
      </p:sp>
      <p:sp>
        <p:nvSpPr>
          <p:cNvPr id="5" name="Footer Placeholder 4">
            <a:extLst>
              <a:ext uri="{FF2B5EF4-FFF2-40B4-BE49-F238E27FC236}">
                <a16:creationId xmlns:a16="http://schemas.microsoft.com/office/drawing/2014/main" id="{903E92E0-1C09-9852-EAF6-57E5F84C2A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H"/>
          </a:p>
        </p:txBody>
      </p:sp>
      <p:sp>
        <p:nvSpPr>
          <p:cNvPr id="6" name="Slide Number Placeholder 5">
            <a:extLst>
              <a:ext uri="{FF2B5EF4-FFF2-40B4-BE49-F238E27FC236}">
                <a16:creationId xmlns:a16="http://schemas.microsoft.com/office/drawing/2014/main" id="{504E2E05-3017-F6F1-3B26-55E48E26FC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A7BC33-3344-4283-8D2A-FA384F602BEB}" type="slidenum">
              <a:rPr lang="fr-CH" smtClean="0"/>
              <a:t>‹#›</a:t>
            </a:fld>
            <a:endParaRPr lang="fr-CH"/>
          </a:p>
        </p:txBody>
      </p:sp>
    </p:spTree>
    <p:extLst>
      <p:ext uri="{BB962C8B-B14F-4D97-AF65-F5344CB8AC3E}">
        <p14:creationId xmlns:p14="http://schemas.microsoft.com/office/powerpoint/2010/main" val="1687827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0_C83A13B9.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i.org/10.3390/smartcities4010006" TargetMode="External"/><Relationship Id="rId2" Type="http://schemas.microsoft.com/office/2018/10/relationships/comments" Target="../comments/modernComment_102_88E6931F.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3390/smartcities4010006" TargetMode="External"/><Relationship Id="rId2" Type="http://schemas.microsoft.com/office/2018/10/relationships/comments" Target="../comments/modernComment_10A_7D0C916.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269C2F-6BFD-EFC2-398D-9FE490AB97CC}"/>
              </a:ext>
            </a:extLst>
          </p:cNvPr>
          <p:cNvSpPr>
            <a:spLocks noGrp="1"/>
          </p:cNvSpPr>
          <p:nvPr>
            <p:ph type="ctrTitle"/>
          </p:nvPr>
        </p:nvSpPr>
        <p:spPr>
          <a:xfrm>
            <a:off x="643468" y="643467"/>
            <a:ext cx="4908246" cy="4567137"/>
          </a:xfrm>
        </p:spPr>
        <p:txBody>
          <a:bodyPr>
            <a:normAutofit/>
          </a:bodyPr>
          <a:lstStyle/>
          <a:p>
            <a:pPr algn="l"/>
            <a:r>
              <a:rPr lang="fr-CH" sz="4400" dirty="0"/>
              <a:t>The 15-Minute City in Practice</a:t>
            </a:r>
            <a:br>
              <a:rPr lang="fr-CH" sz="4400" dirty="0"/>
            </a:br>
            <a:br>
              <a:rPr lang="fr-CH" sz="4400" dirty="0"/>
            </a:br>
            <a:r>
              <a:rPr lang="fr-CH" sz="4000" dirty="0" err="1"/>
              <a:t>Comparing</a:t>
            </a:r>
            <a:r>
              <a:rPr lang="fr-CH" sz="4000" dirty="0"/>
              <a:t> </a:t>
            </a:r>
            <a:r>
              <a:rPr lang="fr-CH" sz="4000" dirty="0" err="1"/>
              <a:t>Theoretical</a:t>
            </a:r>
            <a:r>
              <a:rPr lang="fr-CH" sz="4000" dirty="0"/>
              <a:t> </a:t>
            </a:r>
            <a:r>
              <a:rPr lang="fr-CH" sz="4000" dirty="0" err="1"/>
              <a:t>Accessibility</a:t>
            </a:r>
            <a:r>
              <a:rPr lang="fr-CH" sz="4000" dirty="0"/>
              <a:t> and </a:t>
            </a:r>
            <a:r>
              <a:rPr lang="fr-CH" sz="4000" dirty="0" err="1"/>
              <a:t>Actual</a:t>
            </a:r>
            <a:r>
              <a:rPr lang="fr-CH" sz="4000" dirty="0"/>
              <a:t> </a:t>
            </a:r>
            <a:r>
              <a:rPr lang="fr-CH" sz="4000" dirty="0" err="1"/>
              <a:t>Mobility</a:t>
            </a:r>
            <a:r>
              <a:rPr lang="fr-CH" sz="4000" dirty="0"/>
              <a:t> </a:t>
            </a:r>
            <a:r>
              <a:rPr lang="fr-CH" sz="4000" dirty="0" err="1"/>
              <a:t>Behavior</a:t>
            </a:r>
            <a:r>
              <a:rPr lang="fr-CH" sz="4000" dirty="0"/>
              <a:t> in Zurich</a:t>
            </a:r>
          </a:p>
        </p:txBody>
      </p:sp>
      <p:sp>
        <p:nvSpPr>
          <p:cNvPr id="3" name="Subtitle 2">
            <a:extLst>
              <a:ext uri="{FF2B5EF4-FFF2-40B4-BE49-F238E27FC236}">
                <a16:creationId xmlns:a16="http://schemas.microsoft.com/office/drawing/2014/main" id="{F45A3335-A6F0-3BBD-83BD-6F6034AF78D0}"/>
              </a:ext>
            </a:extLst>
          </p:cNvPr>
          <p:cNvSpPr>
            <a:spLocks noGrp="1"/>
          </p:cNvSpPr>
          <p:nvPr>
            <p:ph type="subTitle" idx="1"/>
          </p:nvPr>
        </p:nvSpPr>
        <p:spPr>
          <a:xfrm>
            <a:off x="643467" y="5277684"/>
            <a:ext cx="4620584" cy="775494"/>
          </a:xfrm>
        </p:spPr>
        <p:txBody>
          <a:bodyPr>
            <a:normAutofit fontScale="92500" lnSpcReduction="10000"/>
          </a:bodyPr>
          <a:lstStyle/>
          <a:p>
            <a:pPr algn="l"/>
            <a:r>
              <a:rPr lang="fr-CH" sz="1200" dirty="0"/>
              <a:t>Lucie Kern and Noémie Simon </a:t>
            </a:r>
          </a:p>
          <a:p>
            <a:pPr algn="l"/>
            <a:r>
              <a:rPr lang="fr-CH" sz="1200" dirty="0"/>
              <a:t>Patterns and Trends in </a:t>
            </a:r>
            <a:r>
              <a:rPr lang="fr-CH" sz="1200" dirty="0" err="1"/>
              <a:t>Environmental</a:t>
            </a:r>
            <a:r>
              <a:rPr lang="fr-CH" sz="1200" dirty="0"/>
              <a:t> Data</a:t>
            </a:r>
          </a:p>
          <a:p>
            <a:pPr algn="l"/>
            <a:r>
              <a:rPr lang="fr-CH" sz="1200" dirty="0"/>
              <a:t>03.06.2026</a:t>
            </a:r>
          </a:p>
        </p:txBody>
      </p:sp>
      <p:pic>
        <p:nvPicPr>
          <p:cNvPr id="1026" name="Picture 2" descr="Google Maps Zürich Stadtplan – Google Maps Italia – OVMN">
            <a:extLst>
              <a:ext uri="{FF2B5EF4-FFF2-40B4-BE49-F238E27FC236}">
                <a16:creationId xmlns:a16="http://schemas.microsoft.com/office/drawing/2014/main" id="{CD7F0A5B-B055-F6EE-B9F3-822F30A08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3054"/>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249337"/>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5CAFF8-284D-397B-D783-884EB45FFFFB}"/>
              </a:ext>
            </a:extLst>
          </p:cNvPr>
          <p:cNvSpPr/>
          <p:nvPr/>
        </p:nvSpPr>
        <p:spPr>
          <a:xfrm>
            <a:off x="-798286" y="5544457"/>
            <a:ext cx="14427200" cy="812800"/>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 name="Title 1">
            <a:extLst>
              <a:ext uri="{FF2B5EF4-FFF2-40B4-BE49-F238E27FC236}">
                <a16:creationId xmlns:a16="http://schemas.microsoft.com/office/drawing/2014/main" id="{691DDAAE-2B35-42E0-7B02-6460B37FCB88}"/>
              </a:ext>
            </a:extLst>
          </p:cNvPr>
          <p:cNvSpPr>
            <a:spLocks noGrp="1"/>
          </p:cNvSpPr>
          <p:nvPr>
            <p:ph type="title"/>
          </p:nvPr>
        </p:nvSpPr>
        <p:spPr>
          <a:xfrm>
            <a:off x="838200" y="365125"/>
            <a:ext cx="4221480" cy="1325563"/>
          </a:xfrm>
        </p:spPr>
        <p:txBody>
          <a:bodyPr/>
          <a:lstStyle/>
          <a:p>
            <a:r>
              <a:rPr lang="fr-CH" dirty="0" err="1"/>
              <a:t>Context</a:t>
            </a:r>
            <a:r>
              <a:rPr lang="fr-CH" dirty="0"/>
              <a:t> </a:t>
            </a:r>
          </a:p>
        </p:txBody>
      </p:sp>
      <p:sp>
        <p:nvSpPr>
          <p:cNvPr id="3" name="Content Placeholder 2">
            <a:extLst>
              <a:ext uri="{FF2B5EF4-FFF2-40B4-BE49-F238E27FC236}">
                <a16:creationId xmlns:a16="http://schemas.microsoft.com/office/drawing/2014/main" id="{FFD8EEBF-806F-63F6-BEF0-7ECC5BC92C92}"/>
              </a:ext>
            </a:extLst>
          </p:cNvPr>
          <p:cNvSpPr>
            <a:spLocks noGrp="1"/>
          </p:cNvSpPr>
          <p:nvPr>
            <p:ph idx="1"/>
          </p:nvPr>
        </p:nvSpPr>
        <p:spPr>
          <a:xfrm>
            <a:off x="620486" y="3841749"/>
            <a:ext cx="3040743" cy="1325563"/>
          </a:xfrm>
        </p:spPr>
        <p:txBody>
          <a:bodyPr>
            <a:normAutofit/>
          </a:bodyPr>
          <a:lstStyle/>
          <a:p>
            <a:r>
              <a:rPr lang="en-001" sz="2200" dirty="0"/>
              <a:t>urban planning</a:t>
            </a:r>
          </a:p>
          <a:p>
            <a:r>
              <a:rPr lang="en-001" sz="2200" dirty="0"/>
              <a:t>mobility analysis </a:t>
            </a:r>
          </a:p>
          <a:p>
            <a:r>
              <a:rPr lang="en-001" sz="2200" dirty="0"/>
              <a:t>accessibility</a:t>
            </a:r>
          </a:p>
        </p:txBody>
      </p:sp>
      <p:sp>
        <p:nvSpPr>
          <p:cNvPr id="4" name="Content Placeholder 2">
            <a:extLst>
              <a:ext uri="{FF2B5EF4-FFF2-40B4-BE49-F238E27FC236}">
                <a16:creationId xmlns:a16="http://schemas.microsoft.com/office/drawing/2014/main" id="{8F17A50C-4B6B-BB7A-B7F8-811966543622}"/>
              </a:ext>
            </a:extLst>
          </p:cNvPr>
          <p:cNvSpPr txBox="1">
            <a:spLocks/>
          </p:cNvSpPr>
          <p:nvPr/>
        </p:nvSpPr>
        <p:spPr>
          <a:xfrm>
            <a:off x="3617686" y="3841749"/>
            <a:ext cx="3305629" cy="1325563"/>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001" dirty="0"/>
              <a:t>Activity Space</a:t>
            </a:r>
          </a:p>
          <a:p>
            <a:r>
              <a:rPr lang="en-001" dirty="0"/>
              <a:t>Space - Time Prism </a:t>
            </a:r>
          </a:p>
          <a:p>
            <a:endParaRPr lang="fr-CH" dirty="0"/>
          </a:p>
        </p:txBody>
      </p:sp>
      <p:sp>
        <p:nvSpPr>
          <p:cNvPr id="7" name="Content Placeholder 2">
            <a:extLst>
              <a:ext uri="{FF2B5EF4-FFF2-40B4-BE49-F238E27FC236}">
                <a16:creationId xmlns:a16="http://schemas.microsoft.com/office/drawing/2014/main" id="{E3304064-5C43-872E-EC72-D291FDAAB208}"/>
              </a:ext>
            </a:extLst>
          </p:cNvPr>
          <p:cNvSpPr txBox="1">
            <a:spLocks/>
          </p:cNvSpPr>
          <p:nvPr/>
        </p:nvSpPr>
        <p:spPr>
          <a:xfrm>
            <a:off x="620486" y="1574936"/>
            <a:ext cx="7333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What is a 15-minute city ? </a:t>
            </a:r>
          </a:p>
        </p:txBody>
      </p:sp>
      <p:sp>
        <p:nvSpPr>
          <p:cNvPr id="9" name="TextBox 8">
            <a:extLst>
              <a:ext uri="{FF2B5EF4-FFF2-40B4-BE49-F238E27FC236}">
                <a16:creationId xmlns:a16="http://schemas.microsoft.com/office/drawing/2014/main" id="{CB528F5E-CAB4-ACCF-A3C1-CA0902706B8C}"/>
              </a:ext>
            </a:extLst>
          </p:cNvPr>
          <p:cNvSpPr txBox="1"/>
          <p:nvPr/>
        </p:nvSpPr>
        <p:spPr>
          <a:xfrm>
            <a:off x="602343" y="5663095"/>
            <a:ext cx="11056257" cy="584775"/>
          </a:xfrm>
          <a:prstGeom prst="rect">
            <a:avLst/>
          </a:prstGeom>
          <a:noFill/>
        </p:spPr>
        <p:txBody>
          <a:bodyPr wrap="square">
            <a:spAutoFit/>
          </a:bodyPr>
          <a:lstStyle/>
          <a:p>
            <a:r>
              <a:rPr lang="en-001" sz="1600" dirty="0"/>
              <a:t>Moreno, C., Allam, Z., Chabaud, D., Gall, C., &amp; Pratlong, F. (2021). Introducing the “15-Minute City”: Sustainability, resilience and place identity in future post-pandemic cities. </a:t>
            </a:r>
            <a:r>
              <a:rPr lang="en-001" sz="1600" i="1" dirty="0"/>
              <a:t>Smart Cities, 4</a:t>
            </a:r>
            <a:r>
              <a:rPr lang="en-001" sz="1600" dirty="0"/>
              <a:t>(1), 93–111. </a:t>
            </a:r>
            <a:r>
              <a:rPr lang="en-001" sz="1600" dirty="0">
                <a:hlinkClick r:id="rId3"/>
              </a:rPr>
              <a:t>https://doi.org/10.3390/smartcities4010006</a:t>
            </a:r>
            <a:endParaRPr lang="en-001" sz="1600" dirty="0"/>
          </a:p>
        </p:txBody>
      </p:sp>
      <p:sp>
        <p:nvSpPr>
          <p:cNvPr id="10" name="Content Placeholder 2">
            <a:extLst>
              <a:ext uri="{FF2B5EF4-FFF2-40B4-BE49-F238E27FC236}">
                <a16:creationId xmlns:a16="http://schemas.microsoft.com/office/drawing/2014/main" id="{915FE583-7C3C-9CF1-0E8F-21011874179B}"/>
              </a:ext>
            </a:extLst>
          </p:cNvPr>
          <p:cNvSpPr txBox="1">
            <a:spLocks/>
          </p:cNvSpPr>
          <p:nvPr/>
        </p:nvSpPr>
        <p:spPr>
          <a:xfrm>
            <a:off x="620486" y="2069681"/>
            <a:ext cx="10969171" cy="11513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sz="2200" dirty="0"/>
              <a:t>A city where residents can meet most of their everyday needs within a 15-minute walk or bike ride from their home, reducing dependence on cars and improving urban sustainability and quality of life.</a:t>
            </a:r>
            <a:r>
              <a:rPr lang="fr-CH" sz="2200" dirty="0"/>
              <a:t> </a:t>
            </a:r>
          </a:p>
        </p:txBody>
      </p:sp>
      <p:sp>
        <p:nvSpPr>
          <p:cNvPr id="12" name="Content Placeholder 2">
            <a:extLst>
              <a:ext uri="{FF2B5EF4-FFF2-40B4-BE49-F238E27FC236}">
                <a16:creationId xmlns:a16="http://schemas.microsoft.com/office/drawing/2014/main" id="{CCA93583-4939-AC40-A60F-37B5F7DB288E}"/>
              </a:ext>
            </a:extLst>
          </p:cNvPr>
          <p:cNvSpPr txBox="1">
            <a:spLocks/>
          </p:cNvSpPr>
          <p:nvPr/>
        </p:nvSpPr>
        <p:spPr>
          <a:xfrm>
            <a:off x="602343" y="3187654"/>
            <a:ext cx="3015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Application Area</a:t>
            </a:r>
          </a:p>
        </p:txBody>
      </p:sp>
      <p:sp>
        <p:nvSpPr>
          <p:cNvPr id="13" name="Content Placeholder 2">
            <a:extLst>
              <a:ext uri="{FF2B5EF4-FFF2-40B4-BE49-F238E27FC236}">
                <a16:creationId xmlns:a16="http://schemas.microsoft.com/office/drawing/2014/main" id="{4644C598-C82E-CEBD-C9E8-A04B079A8484}"/>
              </a:ext>
            </a:extLst>
          </p:cNvPr>
          <p:cNvSpPr txBox="1">
            <a:spLocks/>
          </p:cNvSpPr>
          <p:nvPr/>
        </p:nvSpPr>
        <p:spPr>
          <a:xfrm>
            <a:off x="3661229" y="3195883"/>
            <a:ext cx="3305628"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Conceptual Model</a:t>
            </a:r>
          </a:p>
        </p:txBody>
      </p:sp>
      <p:sp>
        <p:nvSpPr>
          <p:cNvPr id="15" name="Content Placeholder 2">
            <a:extLst>
              <a:ext uri="{FF2B5EF4-FFF2-40B4-BE49-F238E27FC236}">
                <a16:creationId xmlns:a16="http://schemas.microsoft.com/office/drawing/2014/main" id="{92AF249F-0D57-F629-B590-655159CD6D7F}"/>
              </a:ext>
            </a:extLst>
          </p:cNvPr>
          <p:cNvSpPr txBox="1">
            <a:spLocks/>
          </p:cNvSpPr>
          <p:nvPr/>
        </p:nvSpPr>
        <p:spPr>
          <a:xfrm>
            <a:off x="6966857" y="3191230"/>
            <a:ext cx="5083953" cy="5876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Data Structure and Availability</a:t>
            </a:r>
          </a:p>
        </p:txBody>
      </p:sp>
      <p:sp>
        <p:nvSpPr>
          <p:cNvPr id="18" name="Content Placeholder 2">
            <a:extLst>
              <a:ext uri="{FF2B5EF4-FFF2-40B4-BE49-F238E27FC236}">
                <a16:creationId xmlns:a16="http://schemas.microsoft.com/office/drawing/2014/main" id="{B5319FEE-07F5-C94C-6D34-66DCEFBAC18C}"/>
              </a:ext>
            </a:extLst>
          </p:cNvPr>
          <p:cNvSpPr txBox="1">
            <a:spLocks/>
          </p:cNvSpPr>
          <p:nvPr/>
        </p:nvSpPr>
        <p:spPr>
          <a:xfrm>
            <a:off x="6966857" y="3841748"/>
            <a:ext cx="4622800" cy="1325563"/>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001" dirty="0"/>
              <a:t>Individual Mobility Data</a:t>
            </a:r>
          </a:p>
          <a:p>
            <a:pPr lvl="1"/>
            <a:r>
              <a:rPr lang="en-US" sz="2200" dirty="0"/>
              <a:t>G</a:t>
            </a:r>
            <a:r>
              <a:rPr lang="en-001" sz="2200" dirty="0"/>
              <a:t>oogle timeline</a:t>
            </a:r>
          </a:p>
          <a:p>
            <a:r>
              <a:rPr lang="en-001" dirty="0"/>
              <a:t>Urban context Data</a:t>
            </a:r>
          </a:p>
          <a:p>
            <a:pPr lvl="1"/>
            <a:r>
              <a:rPr lang="en-001" sz="2200" dirty="0"/>
              <a:t>OpenStreetMap</a:t>
            </a:r>
          </a:p>
        </p:txBody>
      </p:sp>
      <p:sp>
        <p:nvSpPr>
          <p:cNvPr id="22" name="TextBox 21">
            <a:extLst>
              <a:ext uri="{FF2B5EF4-FFF2-40B4-BE49-F238E27FC236}">
                <a16:creationId xmlns:a16="http://schemas.microsoft.com/office/drawing/2014/main" id="{C047BF9C-7A29-B9BC-5A4E-64513C37ED3E}"/>
              </a:ext>
            </a:extLst>
          </p:cNvPr>
          <p:cNvSpPr txBox="1"/>
          <p:nvPr/>
        </p:nvSpPr>
        <p:spPr>
          <a:xfrm>
            <a:off x="5730982" y="1759118"/>
            <a:ext cx="3179554" cy="369332"/>
          </a:xfrm>
          <a:prstGeom prst="rect">
            <a:avLst/>
          </a:prstGeom>
          <a:noFill/>
        </p:spPr>
        <p:txBody>
          <a:bodyPr wrap="square" rtlCol="0">
            <a:spAutoFit/>
          </a:bodyPr>
          <a:lstStyle/>
          <a:p>
            <a:r>
              <a:rPr lang="en-001" dirty="0"/>
              <a:t>🏠 🛒🎓 💼🌳 🍽️ 🚉  🏥</a:t>
            </a:r>
          </a:p>
        </p:txBody>
      </p:sp>
    </p:spTree>
    <p:extLst>
      <p:ext uri="{BB962C8B-B14F-4D97-AF65-F5344CB8AC3E}">
        <p14:creationId xmlns:p14="http://schemas.microsoft.com/office/powerpoint/2010/main" val="229681231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3FC2779-AD61-AFF4-CEE5-9F53C2E97AC6}"/>
              </a:ext>
            </a:extLst>
          </p:cNvPr>
          <p:cNvSpPr>
            <a:spLocks noGrp="1"/>
          </p:cNvSpPr>
          <p:nvPr>
            <p:ph type="title"/>
          </p:nvPr>
        </p:nvSpPr>
        <p:spPr>
          <a:xfrm>
            <a:off x="838200" y="713312"/>
            <a:ext cx="4038600" cy="5431376"/>
          </a:xfrm>
        </p:spPr>
        <p:txBody>
          <a:bodyPr>
            <a:normAutofit/>
          </a:bodyPr>
          <a:lstStyle/>
          <a:p>
            <a:r>
              <a:rPr lang="fr-CH" dirty="0" err="1"/>
              <a:t>Presentation</a:t>
            </a:r>
            <a:r>
              <a:rPr lang="fr-CH" dirty="0"/>
              <a:t> </a:t>
            </a:r>
            <a:r>
              <a:rPr lang="fr-CH" dirty="0" err="1"/>
              <a:t>general</a:t>
            </a:r>
            <a:r>
              <a:rPr lang="fr-CH" dirty="0"/>
              <a:t> of the </a:t>
            </a:r>
            <a:r>
              <a:rPr lang="fr-CH" dirty="0" err="1"/>
              <a:t>project</a:t>
            </a:r>
            <a:endParaRPr lang="fr-CH" dirty="0"/>
          </a:p>
        </p:txBody>
      </p:sp>
      <p:sp>
        <p:nvSpPr>
          <p:cNvPr id="3" name="Content Placeholder 2">
            <a:extLst>
              <a:ext uri="{FF2B5EF4-FFF2-40B4-BE49-F238E27FC236}">
                <a16:creationId xmlns:a16="http://schemas.microsoft.com/office/drawing/2014/main" id="{8935F94C-1BC8-885B-BEF5-2A25234FC7EF}"/>
              </a:ext>
            </a:extLst>
          </p:cNvPr>
          <p:cNvSpPr>
            <a:spLocks noGrp="1"/>
          </p:cNvSpPr>
          <p:nvPr>
            <p:ph idx="1"/>
          </p:nvPr>
        </p:nvSpPr>
        <p:spPr>
          <a:xfrm>
            <a:off x="6095999" y="713313"/>
            <a:ext cx="5257801" cy="5431376"/>
          </a:xfrm>
        </p:spPr>
        <p:txBody>
          <a:bodyPr anchor="ctr">
            <a:normAutofit/>
          </a:bodyPr>
          <a:lstStyle/>
          <a:p>
            <a:r>
              <a:rPr lang="fr-CH" sz="1900" dirty="0" err="1"/>
              <a:t>We</a:t>
            </a:r>
            <a:r>
              <a:rPr lang="fr-CH" sz="1900" dirty="0"/>
              <a:t> compare </a:t>
            </a:r>
            <a:r>
              <a:rPr lang="fr-CH" sz="1900" b="1" dirty="0" err="1"/>
              <a:t>theoretical</a:t>
            </a:r>
            <a:r>
              <a:rPr lang="fr-CH" sz="1900" b="1" dirty="0"/>
              <a:t> </a:t>
            </a:r>
            <a:r>
              <a:rPr lang="fr-CH" sz="1900" b="1" dirty="0" err="1"/>
              <a:t>accessibility</a:t>
            </a:r>
            <a:r>
              <a:rPr lang="fr-CH" sz="1900" dirty="0"/>
              <a:t> </a:t>
            </a:r>
            <a:r>
              <a:rPr lang="fr-CH" sz="1900" dirty="0" err="1"/>
              <a:t>with</a:t>
            </a:r>
            <a:r>
              <a:rPr lang="fr-CH" sz="1900" dirty="0"/>
              <a:t> </a:t>
            </a:r>
            <a:r>
              <a:rPr lang="fr-CH" sz="1900" b="1" dirty="0" err="1"/>
              <a:t>actual</a:t>
            </a:r>
            <a:r>
              <a:rPr lang="fr-CH" sz="1900" b="1" dirty="0"/>
              <a:t> </a:t>
            </a:r>
            <a:r>
              <a:rPr lang="fr-CH" sz="1900" b="1" dirty="0" err="1"/>
              <a:t>mobility</a:t>
            </a:r>
            <a:r>
              <a:rPr lang="fr-CH" sz="1900" b="1" dirty="0"/>
              <a:t> </a:t>
            </a:r>
            <a:r>
              <a:rPr lang="fr-CH" sz="1900" b="1" dirty="0" err="1"/>
              <a:t>behavior</a:t>
            </a:r>
            <a:endParaRPr lang="fr-CH" sz="1900" dirty="0"/>
          </a:p>
          <a:p>
            <a:r>
              <a:rPr lang="fr-CH" sz="1900" dirty="0"/>
              <a:t>Case </a:t>
            </a:r>
            <a:r>
              <a:rPr lang="fr-CH" sz="1900" dirty="0" err="1"/>
              <a:t>study</a:t>
            </a:r>
            <a:r>
              <a:rPr lang="fr-CH" sz="1900" dirty="0"/>
              <a:t>: </a:t>
            </a:r>
            <a:r>
              <a:rPr lang="fr-CH" sz="1900" b="1" dirty="0"/>
              <a:t>one </a:t>
            </a:r>
            <a:r>
              <a:rPr lang="fr-CH" sz="1900" b="1" dirty="0" err="1"/>
              <a:t>individual</a:t>
            </a:r>
            <a:r>
              <a:rPr lang="fr-CH" sz="1900" b="1" dirty="0"/>
              <a:t> living in Zurich</a:t>
            </a:r>
            <a:endParaRPr lang="fr-CH" sz="1900" dirty="0"/>
          </a:p>
          <a:p>
            <a:r>
              <a:rPr lang="fr-CH" sz="1900" dirty="0"/>
              <a:t>Data: </a:t>
            </a:r>
            <a:r>
              <a:rPr lang="fr-CH" sz="1900" b="1" dirty="0"/>
              <a:t>Google Timeline GPS </a:t>
            </a:r>
            <a:r>
              <a:rPr lang="fr-CH" sz="1900" b="1" dirty="0" err="1"/>
              <a:t>trajectories</a:t>
            </a:r>
            <a:r>
              <a:rPr lang="fr-CH" sz="1900" b="1" dirty="0"/>
              <a:t> over 3 </a:t>
            </a:r>
            <a:r>
              <a:rPr lang="fr-CH" sz="1900" b="1" dirty="0" err="1"/>
              <a:t>months</a:t>
            </a:r>
            <a:endParaRPr lang="fr-CH" sz="1900" dirty="0"/>
          </a:p>
          <a:p>
            <a:r>
              <a:rPr lang="fr-CH" sz="1900" dirty="0" err="1"/>
              <a:t>Context</a:t>
            </a:r>
            <a:r>
              <a:rPr lang="fr-CH" sz="1900" dirty="0"/>
              <a:t> data: </a:t>
            </a:r>
            <a:r>
              <a:rPr lang="fr-CH" sz="1900" b="1" dirty="0"/>
              <a:t>Points of </a:t>
            </a:r>
            <a:r>
              <a:rPr lang="fr-CH" sz="1900" b="1" dirty="0" err="1"/>
              <a:t>Interest</a:t>
            </a:r>
            <a:r>
              <a:rPr lang="fr-CH" sz="1900" b="1" dirty="0"/>
              <a:t> and transport infrastructure</a:t>
            </a:r>
            <a:endParaRPr lang="fr-CH" sz="1900" dirty="0"/>
          </a:p>
          <a:p>
            <a:r>
              <a:rPr lang="fr-CH" sz="1900" dirty="0"/>
              <a:t>Main focus: </a:t>
            </a:r>
            <a:r>
              <a:rPr lang="fr-CH" sz="1900" dirty="0" err="1"/>
              <a:t>identifying</a:t>
            </a:r>
            <a:r>
              <a:rPr lang="fr-CH" sz="1900" dirty="0"/>
              <a:t> </a:t>
            </a:r>
            <a:r>
              <a:rPr lang="fr-CH" sz="1900" dirty="0" err="1"/>
              <a:t>mismatches</a:t>
            </a:r>
            <a:r>
              <a:rPr lang="fr-CH" sz="1900" dirty="0"/>
              <a:t> </a:t>
            </a:r>
            <a:r>
              <a:rPr lang="fr-CH" sz="1900" dirty="0" err="1"/>
              <a:t>between</a:t>
            </a:r>
            <a:r>
              <a:rPr lang="fr-CH" sz="1900" dirty="0"/>
              <a:t>:</a:t>
            </a:r>
          </a:p>
          <a:p>
            <a:pPr lvl="1"/>
            <a:r>
              <a:rPr lang="fr-CH" sz="1900" dirty="0" err="1"/>
              <a:t>nearby</a:t>
            </a:r>
            <a:r>
              <a:rPr lang="fr-CH" sz="1900" dirty="0"/>
              <a:t> </a:t>
            </a:r>
            <a:r>
              <a:rPr lang="fr-CH" sz="1900" dirty="0" err="1"/>
              <a:t>available</a:t>
            </a:r>
            <a:r>
              <a:rPr lang="fr-CH" sz="1900" dirty="0"/>
              <a:t> services</a:t>
            </a:r>
          </a:p>
          <a:p>
            <a:pPr lvl="1"/>
            <a:r>
              <a:rPr lang="fr-CH" sz="1900" dirty="0"/>
              <a:t>15-minute </a:t>
            </a:r>
            <a:r>
              <a:rPr lang="fr-CH" sz="1900" dirty="0" err="1"/>
              <a:t>accessibility</a:t>
            </a:r>
            <a:r>
              <a:rPr lang="fr-CH" sz="1900" dirty="0"/>
              <a:t> areas</a:t>
            </a:r>
          </a:p>
          <a:p>
            <a:pPr lvl="1"/>
            <a:r>
              <a:rPr lang="fr-CH" sz="1900" dirty="0" err="1"/>
              <a:t>daily</a:t>
            </a:r>
            <a:r>
              <a:rPr lang="fr-CH" sz="1900" dirty="0"/>
              <a:t> </a:t>
            </a:r>
            <a:r>
              <a:rPr lang="fr-CH" sz="1900" dirty="0" err="1"/>
              <a:t>travel</a:t>
            </a:r>
            <a:r>
              <a:rPr lang="fr-CH" sz="1900" dirty="0"/>
              <a:t> patterns</a:t>
            </a:r>
          </a:p>
          <a:p>
            <a:r>
              <a:rPr lang="fr-CH" sz="1900" b="1" dirty="0"/>
              <a:t>Goal:</a:t>
            </a:r>
            <a:r>
              <a:rPr lang="fr-CH" sz="1900" dirty="0"/>
              <a:t> </a:t>
            </a:r>
            <a:r>
              <a:rPr lang="fr-CH" sz="1900" dirty="0" err="1"/>
              <a:t>understand</a:t>
            </a:r>
            <a:r>
              <a:rPr lang="fr-CH" sz="1900" dirty="0"/>
              <a:t> </a:t>
            </a:r>
            <a:r>
              <a:rPr lang="fr-CH" sz="1900" dirty="0" err="1"/>
              <a:t>whether</a:t>
            </a:r>
            <a:r>
              <a:rPr lang="fr-CH" sz="1900" dirty="0"/>
              <a:t> accessible infrastructure </a:t>
            </a:r>
            <a:r>
              <a:rPr lang="fr-CH" sz="1900" dirty="0" err="1"/>
              <a:t>is</a:t>
            </a:r>
            <a:r>
              <a:rPr lang="fr-CH" sz="1900" dirty="0"/>
              <a:t> </a:t>
            </a:r>
            <a:r>
              <a:rPr lang="fr-CH" sz="1900" dirty="0" err="1"/>
              <a:t>actually</a:t>
            </a:r>
            <a:r>
              <a:rPr lang="fr-CH" sz="1900" dirty="0"/>
              <a:t> </a:t>
            </a:r>
            <a:r>
              <a:rPr lang="fr-CH" sz="1900" dirty="0" err="1"/>
              <a:t>reflected</a:t>
            </a:r>
            <a:r>
              <a:rPr lang="fr-CH" sz="1900" dirty="0"/>
              <a:t> in </a:t>
            </a:r>
            <a:r>
              <a:rPr lang="fr-CH" sz="1900" dirty="0" err="1"/>
              <a:t>everyday</a:t>
            </a:r>
            <a:r>
              <a:rPr lang="fr-CH" sz="1900" dirty="0"/>
              <a:t> </a:t>
            </a:r>
            <a:r>
              <a:rPr lang="fr-CH" sz="1900" dirty="0" err="1"/>
              <a:t>mobility</a:t>
            </a:r>
            <a:r>
              <a:rPr lang="fr-CH" sz="1900" dirty="0"/>
              <a:t> </a:t>
            </a:r>
            <a:r>
              <a:rPr lang="fr-CH" sz="1900" dirty="0" err="1"/>
              <a:t>behavior</a:t>
            </a:r>
            <a:r>
              <a:rPr lang="fr-CH" sz="1900" dirty="0"/>
              <a:t>.</a:t>
            </a:r>
          </a:p>
          <a:p>
            <a:endParaRPr lang="fr-CH" sz="1900" dirty="0"/>
          </a:p>
          <a:p>
            <a:pPr marL="457200" lvl="1" indent="0">
              <a:buNone/>
            </a:pPr>
            <a:r>
              <a:rPr lang="fr-CH" sz="1900" dirty="0"/>
              <a:t> </a:t>
            </a:r>
          </a:p>
          <a:p>
            <a:pPr lvl="1"/>
            <a:endParaRPr lang="fr-CH" sz="1900" dirty="0"/>
          </a:p>
        </p:txBody>
      </p:sp>
    </p:spTree>
    <p:extLst>
      <p:ext uri="{BB962C8B-B14F-4D97-AF65-F5344CB8AC3E}">
        <p14:creationId xmlns:p14="http://schemas.microsoft.com/office/powerpoint/2010/main" val="3526247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DA82-47D2-51C6-A3D6-11A74E9A9A07}"/>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EFCDC17-11EB-2D2C-FFDB-30F3F578D798}"/>
              </a:ext>
            </a:extLst>
          </p:cNvPr>
          <p:cNvSpPr/>
          <p:nvPr/>
        </p:nvSpPr>
        <p:spPr>
          <a:xfrm>
            <a:off x="0" y="6098413"/>
            <a:ext cx="12192000" cy="759587"/>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 name="Title 1">
            <a:extLst>
              <a:ext uri="{FF2B5EF4-FFF2-40B4-BE49-F238E27FC236}">
                <a16:creationId xmlns:a16="http://schemas.microsoft.com/office/drawing/2014/main" id="{72FCEE1F-FE97-034F-EF16-9CE410CFD77C}"/>
              </a:ext>
            </a:extLst>
          </p:cNvPr>
          <p:cNvSpPr>
            <a:spLocks noGrp="1"/>
          </p:cNvSpPr>
          <p:nvPr>
            <p:ph type="title"/>
          </p:nvPr>
        </p:nvSpPr>
        <p:spPr>
          <a:xfrm>
            <a:off x="778198" y="281213"/>
            <a:ext cx="7333342" cy="1325563"/>
          </a:xfrm>
        </p:spPr>
        <p:txBody>
          <a:bodyPr/>
          <a:lstStyle/>
          <a:p>
            <a:r>
              <a:rPr lang="fr-CH" dirty="0" err="1"/>
              <a:t>Context</a:t>
            </a:r>
            <a:r>
              <a:rPr lang="fr-CH" dirty="0"/>
              <a:t> &amp; Project Intro</a:t>
            </a:r>
          </a:p>
        </p:txBody>
      </p:sp>
      <p:sp>
        <p:nvSpPr>
          <p:cNvPr id="3" name="Content Placeholder 2">
            <a:extLst>
              <a:ext uri="{FF2B5EF4-FFF2-40B4-BE49-F238E27FC236}">
                <a16:creationId xmlns:a16="http://schemas.microsoft.com/office/drawing/2014/main" id="{77CF91B7-20C0-64E3-3C39-24123B078096}"/>
              </a:ext>
            </a:extLst>
          </p:cNvPr>
          <p:cNvSpPr>
            <a:spLocks noGrp="1"/>
          </p:cNvSpPr>
          <p:nvPr>
            <p:ph idx="1"/>
          </p:nvPr>
        </p:nvSpPr>
        <p:spPr>
          <a:xfrm>
            <a:off x="367004" y="3429877"/>
            <a:ext cx="3040743" cy="1325563"/>
          </a:xfrm>
        </p:spPr>
        <p:txBody>
          <a:bodyPr>
            <a:normAutofit/>
          </a:bodyPr>
          <a:lstStyle/>
          <a:p>
            <a:r>
              <a:rPr lang="en-001" sz="2200" dirty="0"/>
              <a:t>urban planning</a:t>
            </a:r>
          </a:p>
          <a:p>
            <a:r>
              <a:rPr lang="en-001" sz="2200" dirty="0"/>
              <a:t>mobility analysis </a:t>
            </a:r>
          </a:p>
          <a:p>
            <a:r>
              <a:rPr lang="en-001" sz="2200" dirty="0"/>
              <a:t>accessibility</a:t>
            </a:r>
          </a:p>
        </p:txBody>
      </p:sp>
      <p:sp>
        <p:nvSpPr>
          <p:cNvPr id="4" name="Content Placeholder 2">
            <a:extLst>
              <a:ext uri="{FF2B5EF4-FFF2-40B4-BE49-F238E27FC236}">
                <a16:creationId xmlns:a16="http://schemas.microsoft.com/office/drawing/2014/main" id="{1CB79621-C30B-B1DE-1D8B-A8B276FF255C}"/>
              </a:ext>
            </a:extLst>
          </p:cNvPr>
          <p:cNvSpPr txBox="1">
            <a:spLocks/>
          </p:cNvSpPr>
          <p:nvPr/>
        </p:nvSpPr>
        <p:spPr>
          <a:xfrm>
            <a:off x="3420446" y="3395637"/>
            <a:ext cx="4298044" cy="2198491"/>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fr-CH" dirty="0" err="1"/>
              <a:t>We</a:t>
            </a:r>
            <a:r>
              <a:rPr lang="fr-CH" dirty="0"/>
              <a:t>  use </a:t>
            </a:r>
            <a:r>
              <a:rPr lang="fr-CH" dirty="0" err="1"/>
              <a:t>activity</a:t>
            </a:r>
            <a:r>
              <a:rPr lang="fr-CH" dirty="0"/>
              <a:t> </a:t>
            </a:r>
            <a:r>
              <a:rPr lang="fr-CH" dirty="0" err="1"/>
              <a:t>space</a:t>
            </a:r>
            <a:r>
              <a:rPr lang="fr-CH" dirty="0"/>
              <a:t> to  compare </a:t>
            </a:r>
            <a:r>
              <a:rPr lang="fr-CH" dirty="0" err="1"/>
              <a:t>theoretical</a:t>
            </a:r>
            <a:r>
              <a:rPr lang="fr-CH" dirty="0"/>
              <a:t> </a:t>
            </a:r>
            <a:r>
              <a:rPr lang="fr-CH" dirty="0" err="1"/>
              <a:t>accessibility</a:t>
            </a:r>
            <a:r>
              <a:rPr lang="fr-CH" dirty="0"/>
              <a:t> </a:t>
            </a:r>
            <a:r>
              <a:rPr lang="fr-CH" dirty="0" err="1"/>
              <a:t>with</a:t>
            </a:r>
            <a:r>
              <a:rPr lang="fr-CH" dirty="0"/>
              <a:t> </a:t>
            </a:r>
            <a:r>
              <a:rPr lang="fr-CH" dirty="0" err="1"/>
              <a:t>actual</a:t>
            </a:r>
            <a:r>
              <a:rPr lang="fr-CH" dirty="0"/>
              <a:t> </a:t>
            </a:r>
            <a:r>
              <a:rPr lang="fr-CH" dirty="0" err="1"/>
              <a:t>mobility</a:t>
            </a:r>
            <a:r>
              <a:rPr lang="fr-CH" dirty="0"/>
              <a:t> </a:t>
            </a:r>
            <a:r>
              <a:rPr lang="fr-CH" dirty="0" err="1"/>
              <a:t>behavior</a:t>
            </a:r>
            <a:r>
              <a:rPr lang="fr-CH" dirty="0"/>
              <a:t> </a:t>
            </a:r>
            <a:r>
              <a:rPr lang="fr-CH" dirty="0" err="1"/>
              <a:t>based</a:t>
            </a:r>
            <a:r>
              <a:rPr lang="fr-CH" dirty="0"/>
              <a:t> on the data </a:t>
            </a:r>
            <a:r>
              <a:rPr lang="fr-CH" dirty="0" err="1"/>
              <a:t>collected</a:t>
            </a:r>
            <a:r>
              <a:rPr lang="fr-CH" dirty="0"/>
              <a:t> </a:t>
            </a:r>
            <a:r>
              <a:rPr lang="fr-CH" dirty="0" err="1"/>
              <a:t>from</a:t>
            </a:r>
            <a:r>
              <a:rPr lang="fr-CH" dirty="0"/>
              <a:t> one </a:t>
            </a:r>
            <a:r>
              <a:rPr lang="fr-CH" dirty="0" err="1"/>
              <a:t>individual</a:t>
            </a:r>
            <a:r>
              <a:rPr lang="fr-CH" dirty="0"/>
              <a:t> living in Zurich</a:t>
            </a:r>
          </a:p>
          <a:p>
            <a:endParaRPr lang="en-001" dirty="0"/>
          </a:p>
          <a:p>
            <a:endParaRPr lang="fr-CH" dirty="0"/>
          </a:p>
        </p:txBody>
      </p:sp>
      <p:sp>
        <p:nvSpPr>
          <p:cNvPr id="7" name="Content Placeholder 2">
            <a:extLst>
              <a:ext uri="{FF2B5EF4-FFF2-40B4-BE49-F238E27FC236}">
                <a16:creationId xmlns:a16="http://schemas.microsoft.com/office/drawing/2014/main" id="{C9A5FF8E-7674-3AE6-41C1-310DD46EEAF3}"/>
              </a:ext>
            </a:extLst>
          </p:cNvPr>
          <p:cNvSpPr txBox="1">
            <a:spLocks/>
          </p:cNvSpPr>
          <p:nvPr/>
        </p:nvSpPr>
        <p:spPr>
          <a:xfrm>
            <a:off x="367004" y="1398190"/>
            <a:ext cx="7333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What is a 15-minute city ? </a:t>
            </a:r>
          </a:p>
        </p:txBody>
      </p:sp>
      <p:sp>
        <p:nvSpPr>
          <p:cNvPr id="9" name="TextBox 8">
            <a:extLst>
              <a:ext uri="{FF2B5EF4-FFF2-40B4-BE49-F238E27FC236}">
                <a16:creationId xmlns:a16="http://schemas.microsoft.com/office/drawing/2014/main" id="{4AE62CEF-6E98-95BB-232D-F5395E72B50E}"/>
              </a:ext>
            </a:extLst>
          </p:cNvPr>
          <p:cNvSpPr txBox="1"/>
          <p:nvPr/>
        </p:nvSpPr>
        <p:spPr>
          <a:xfrm>
            <a:off x="567871" y="6185818"/>
            <a:ext cx="11056257" cy="523220"/>
          </a:xfrm>
          <a:prstGeom prst="rect">
            <a:avLst/>
          </a:prstGeom>
          <a:noFill/>
        </p:spPr>
        <p:txBody>
          <a:bodyPr wrap="square">
            <a:spAutoFit/>
          </a:bodyPr>
          <a:lstStyle/>
          <a:p>
            <a:r>
              <a:rPr lang="en-001" sz="1400" dirty="0"/>
              <a:t>Moreno, C., Allam, Z., Chabaud, D., Gall, C., &amp; Pratlong, F. (2021). Introducing the “15-Minute City”: Sustainability, resilience and place identity in future post-pandemic cities. </a:t>
            </a:r>
            <a:r>
              <a:rPr lang="en-001" sz="1400" i="1" dirty="0"/>
              <a:t>Smart Cities, 4</a:t>
            </a:r>
            <a:r>
              <a:rPr lang="en-001" sz="1400" dirty="0"/>
              <a:t>(1), 93–111. </a:t>
            </a:r>
            <a:r>
              <a:rPr lang="en-001" sz="1400" dirty="0">
                <a:hlinkClick r:id="rId3"/>
              </a:rPr>
              <a:t>https://doi.org/10.3390/smartcities4010006</a:t>
            </a:r>
            <a:endParaRPr lang="en-001" sz="1400" dirty="0"/>
          </a:p>
        </p:txBody>
      </p:sp>
      <p:sp>
        <p:nvSpPr>
          <p:cNvPr id="10" name="Content Placeholder 2">
            <a:extLst>
              <a:ext uri="{FF2B5EF4-FFF2-40B4-BE49-F238E27FC236}">
                <a16:creationId xmlns:a16="http://schemas.microsoft.com/office/drawing/2014/main" id="{7A66A455-70CD-000A-B3F6-D11802F3E145}"/>
              </a:ext>
            </a:extLst>
          </p:cNvPr>
          <p:cNvSpPr txBox="1">
            <a:spLocks/>
          </p:cNvSpPr>
          <p:nvPr/>
        </p:nvSpPr>
        <p:spPr>
          <a:xfrm>
            <a:off x="348213" y="1871007"/>
            <a:ext cx="11328529" cy="11513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sz="2200" dirty="0"/>
              <a:t>A city where residents can meet most of their everyday needs within a 15-minute walk or bike ride from their home, reducing dependence on cars and improving urban sustainability and quality of life.</a:t>
            </a:r>
            <a:r>
              <a:rPr lang="fr-CH" sz="2200" dirty="0"/>
              <a:t> </a:t>
            </a:r>
          </a:p>
        </p:txBody>
      </p:sp>
      <p:sp>
        <p:nvSpPr>
          <p:cNvPr id="12" name="Content Placeholder 2">
            <a:extLst>
              <a:ext uri="{FF2B5EF4-FFF2-40B4-BE49-F238E27FC236}">
                <a16:creationId xmlns:a16="http://schemas.microsoft.com/office/drawing/2014/main" id="{FBE16033-5143-5AF8-D8E5-E6C66C35CF34}"/>
              </a:ext>
            </a:extLst>
          </p:cNvPr>
          <p:cNvSpPr txBox="1">
            <a:spLocks/>
          </p:cNvSpPr>
          <p:nvPr/>
        </p:nvSpPr>
        <p:spPr>
          <a:xfrm>
            <a:off x="302710" y="2964574"/>
            <a:ext cx="3135248"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Application Area</a:t>
            </a:r>
          </a:p>
        </p:txBody>
      </p:sp>
      <p:sp>
        <p:nvSpPr>
          <p:cNvPr id="13" name="Content Placeholder 2">
            <a:extLst>
              <a:ext uri="{FF2B5EF4-FFF2-40B4-BE49-F238E27FC236}">
                <a16:creationId xmlns:a16="http://schemas.microsoft.com/office/drawing/2014/main" id="{E24C2CE8-7351-DBCA-1961-356E8BF63419}"/>
              </a:ext>
            </a:extLst>
          </p:cNvPr>
          <p:cNvSpPr txBox="1">
            <a:spLocks/>
          </p:cNvSpPr>
          <p:nvPr/>
        </p:nvSpPr>
        <p:spPr>
          <a:xfrm>
            <a:off x="3420446" y="2967270"/>
            <a:ext cx="3437076"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Conceptual Model</a:t>
            </a:r>
          </a:p>
        </p:txBody>
      </p:sp>
      <p:sp>
        <p:nvSpPr>
          <p:cNvPr id="15" name="Content Placeholder 2">
            <a:extLst>
              <a:ext uri="{FF2B5EF4-FFF2-40B4-BE49-F238E27FC236}">
                <a16:creationId xmlns:a16="http://schemas.microsoft.com/office/drawing/2014/main" id="{211A4EE2-6988-06E5-97B5-3583CEABF439}"/>
              </a:ext>
            </a:extLst>
          </p:cNvPr>
          <p:cNvSpPr txBox="1">
            <a:spLocks/>
          </p:cNvSpPr>
          <p:nvPr/>
        </p:nvSpPr>
        <p:spPr>
          <a:xfrm>
            <a:off x="7731189" y="2968951"/>
            <a:ext cx="2085716" cy="5876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Data</a:t>
            </a:r>
          </a:p>
        </p:txBody>
      </p:sp>
      <p:sp>
        <p:nvSpPr>
          <p:cNvPr id="18" name="Content Placeholder 2">
            <a:extLst>
              <a:ext uri="{FF2B5EF4-FFF2-40B4-BE49-F238E27FC236}">
                <a16:creationId xmlns:a16="http://schemas.microsoft.com/office/drawing/2014/main" id="{214E7150-6D34-BA9C-1FC7-E2FD88FAB998}"/>
              </a:ext>
            </a:extLst>
          </p:cNvPr>
          <p:cNvSpPr txBox="1">
            <a:spLocks/>
          </p:cNvSpPr>
          <p:nvPr/>
        </p:nvSpPr>
        <p:spPr>
          <a:xfrm>
            <a:off x="7743890" y="3429877"/>
            <a:ext cx="4212771" cy="1821347"/>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200" dirty="0"/>
              <a:t>G</a:t>
            </a:r>
            <a:r>
              <a:rPr lang="en-001" sz="2200" dirty="0"/>
              <a:t>oogle timeline for individual mobility</a:t>
            </a:r>
          </a:p>
          <a:p>
            <a:r>
              <a:rPr lang="en-001" sz="2200" dirty="0"/>
              <a:t>OpenStreetMap for </a:t>
            </a:r>
            <a:r>
              <a:rPr lang="fr-CH" sz="2200" dirty="0"/>
              <a:t>Points of </a:t>
            </a:r>
            <a:r>
              <a:rPr lang="fr-CH" sz="2200" dirty="0" err="1"/>
              <a:t>Interest</a:t>
            </a:r>
            <a:r>
              <a:rPr lang="fr-CH" sz="2200" dirty="0"/>
              <a:t> and transport infrastructure for </a:t>
            </a:r>
            <a:r>
              <a:rPr lang="fr-CH" sz="2200" dirty="0" err="1"/>
              <a:t>urban</a:t>
            </a:r>
            <a:r>
              <a:rPr lang="fr-CH" sz="2200" dirty="0"/>
              <a:t> </a:t>
            </a:r>
            <a:r>
              <a:rPr lang="fr-CH" sz="2200" dirty="0" err="1"/>
              <a:t>context</a:t>
            </a:r>
            <a:r>
              <a:rPr lang="fr-CH" sz="2200" dirty="0"/>
              <a:t> </a:t>
            </a:r>
          </a:p>
          <a:p>
            <a:pPr lvl="1"/>
            <a:endParaRPr lang="en-001" sz="2200" dirty="0"/>
          </a:p>
        </p:txBody>
      </p:sp>
      <p:sp>
        <p:nvSpPr>
          <p:cNvPr id="22" name="TextBox 21">
            <a:extLst>
              <a:ext uri="{FF2B5EF4-FFF2-40B4-BE49-F238E27FC236}">
                <a16:creationId xmlns:a16="http://schemas.microsoft.com/office/drawing/2014/main" id="{4C50DE4D-9766-DAB7-AB84-B23FAE884ECD}"/>
              </a:ext>
            </a:extLst>
          </p:cNvPr>
          <p:cNvSpPr txBox="1"/>
          <p:nvPr/>
        </p:nvSpPr>
        <p:spPr>
          <a:xfrm>
            <a:off x="5730982" y="1560444"/>
            <a:ext cx="3179554" cy="369332"/>
          </a:xfrm>
          <a:prstGeom prst="rect">
            <a:avLst/>
          </a:prstGeom>
          <a:noFill/>
        </p:spPr>
        <p:txBody>
          <a:bodyPr wrap="square" rtlCol="0">
            <a:spAutoFit/>
          </a:bodyPr>
          <a:lstStyle/>
          <a:p>
            <a:r>
              <a:rPr lang="en-001" dirty="0"/>
              <a:t>🏠 🛒🎓 💼🌳 🍽️ 🚉  🏥</a:t>
            </a:r>
          </a:p>
        </p:txBody>
      </p:sp>
      <p:sp>
        <p:nvSpPr>
          <p:cNvPr id="5" name="Content Placeholder 2">
            <a:extLst>
              <a:ext uri="{FF2B5EF4-FFF2-40B4-BE49-F238E27FC236}">
                <a16:creationId xmlns:a16="http://schemas.microsoft.com/office/drawing/2014/main" id="{E0E1577B-0FC5-7ADD-8D00-CE43A480C513}"/>
              </a:ext>
            </a:extLst>
          </p:cNvPr>
          <p:cNvSpPr txBox="1">
            <a:spLocks/>
          </p:cNvSpPr>
          <p:nvPr/>
        </p:nvSpPr>
        <p:spPr>
          <a:xfrm>
            <a:off x="348213" y="5076912"/>
            <a:ext cx="3015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Goal</a:t>
            </a:r>
          </a:p>
        </p:txBody>
      </p:sp>
      <p:sp>
        <p:nvSpPr>
          <p:cNvPr id="6" name="Content Placeholder 2">
            <a:extLst>
              <a:ext uri="{FF2B5EF4-FFF2-40B4-BE49-F238E27FC236}">
                <a16:creationId xmlns:a16="http://schemas.microsoft.com/office/drawing/2014/main" id="{DC9BDEC1-11A3-FC9A-47DA-9997664BD104}"/>
              </a:ext>
            </a:extLst>
          </p:cNvPr>
          <p:cNvSpPr txBox="1">
            <a:spLocks/>
          </p:cNvSpPr>
          <p:nvPr/>
        </p:nvSpPr>
        <p:spPr>
          <a:xfrm>
            <a:off x="615042" y="5544529"/>
            <a:ext cx="3829021" cy="2198491"/>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fr-CH" sz="4600" dirty="0"/>
          </a:p>
          <a:p>
            <a:endParaRPr lang="en-001" dirty="0"/>
          </a:p>
          <a:p>
            <a:endParaRPr lang="fr-CH" dirty="0"/>
          </a:p>
        </p:txBody>
      </p:sp>
      <p:sp>
        <p:nvSpPr>
          <p:cNvPr id="11" name="TextBox 10">
            <a:extLst>
              <a:ext uri="{FF2B5EF4-FFF2-40B4-BE49-F238E27FC236}">
                <a16:creationId xmlns:a16="http://schemas.microsoft.com/office/drawing/2014/main" id="{1721DAEC-0A82-6021-A4E5-89B28C221F2F}"/>
              </a:ext>
            </a:extLst>
          </p:cNvPr>
          <p:cNvSpPr txBox="1"/>
          <p:nvPr/>
        </p:nvSpPr>
        <p:spPr>
          <a:xfrm>
            <a:off x="291322" y="5524491"/>
            <a:ext cx="11900678" cy="430887"/>
          </a:xfrm>
          <a:prstGeom prst="rect">
            <a:avLst/>
          </a:prstGeom>
          <a:noFill/>
        </p:spPr>
        <p:txBody>
          <a:bodyPr wrap="square">
            <a:spAutoFit/>
          </a:bodyPr>
          <a:lstStyle/>
          <a:p>
            <a:r>
              <a:rPr lang="fr-CH" sz="2200" dirty="0" err="1"/>
              <a:t>understand</a:t>
            </a:r>
            <a:r>
              <a:rPr lang="fr-CH" sz="2200" dirty="0"/>
              <a:t> </a:t>
            </a:r>
            <a:r>
              <a:rPr lang="fr-CH" sz="2200" dirty="0" err="1"/>
              <a:t>whether</a:t>
            </a:r>
            <a:r>
              <a:rPr lang="fr-CH" sz="2200" dirty="0"/>
              <a:t> accessible infrastructure </a:t>
            </a:r>
            <a:r>
              <a:rPr lang="fr-CH" sz="2200" dirty="0" err="1"/>
              <a:t>is</a:t>
            </a:r>
            <a:r>
              <a:rPr lang="fr-CH" sz="2200" dirty="0"/>
              <a:t> </a:t>
            </a:r>
            <a:r>
              <a:rPr lang="fr-CH" sz="2200" dirty="0" err="1"/>
              <a:t>actually</a:t>
            </a:r>
            <a:r>
              <a:rPr lang="fr-CH" sz="2200" dirty="0"/>
              <a:t> </a:t>
            </a:r>
            <a:r>
              <a:rPr lang="fr-CH" sz="2200" dirty="0" err="1"/>
              <a:t>reflected</a:t>
            </a:r>
            <a:r>
              <a:rPr lang="fr-CH" sz="2200" dirty="0"/>
              <a:t> in </a:t>
            </a:r>
            <a:r>
              <a:rPr lang="fr-CH" sz="2200" dirty="0" err="1"/>
              <a:t>everyday</a:t>
            </a:r>
            <a:r>
              <a:rPr lang="fr-CH" sz="2200" dirty="0"/>
              <a:t> </a:t>
            </a:r>
            <a:r>
              <a:rPr lang="fr-CH" sz="2200" dirty="0" err="1"/>
              <a:t>mobility</a:t>
            </a:r>
            <a:r>
              <a:rPr lang="fr-CH" sz="2200" dirty="0"/>
              <a:t> </a:t>
            </a:r>
            <a:r>
              <a:rPr lang="fr-CH" sz="2200" dirty="0" err="1"/>
              <a:t>behavior</a:t>
            </a:r>
            <a:endParaRPr lang="fr-CH" sz="2200" dirty="0"/>
          </a:p>
        </p:txBody>
      </p:sp>
    </p:spTree>
    <p:extLst>
      <p:ext uri="{BB962C8B-B14F-4D97-AF65-F5344CB8AC3E}">
        <p14:creationId xmlns:p14="http://schemas.microsoft.com/office/powerpoint/2010/main" val="131123478"/>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3ED5FDDA-FB89-7C42-000C-DFB890DC4FCA}"/>
              </a:ext>
            </a:extLst>
          </p:cNvPr>
          <p:cNvSpPr>
            <a:spLocks noGrp="1"/>
          </p:cNvSpPr>
          <p:nvPr>
            <p:ph type="title"/>
          </p:nvPr>
        </p:nvSpPr>
        <p:spPr>
          <a:xfrm>
            <a:off x="838200" y="713312"/>
            <a:ext cx="4038600" cy="5431376"/>
          </a:xfrm>
        </p:spPr>
        <p:txBody>
          <a:bodyPr>
            <a:normAutofit/>
          </a:bodyPr>
          <a:lstStyle/>
          <a:p>
            <a:r>
              <a:rPr lang="fr-CH" dirty="0" err="1"/>
              <a:t>Research</a:t>
            </a:r>
            <a:r>
              <a:rPr lang="fr-CH" dirty="0"/>
              <a:t> questions </a:t>
            </a:r>
          </a:p>
        </p:txBody>
      </p:sp>
      <p:sp>
        <p:nvSpPr>
          <p:cNvPr id="24" name="Content Placeholder 2">
            <a:extLst>
              <a:ext uri="{FF2B5EF4-FFF2-40B4-BE49-F238E27FC236}">
                <a16:creationId xmlns:a16="http://schemas.microsoft.com/office/drawing/2014/main" id="{D7FDF29B-A281-F3CF-760D-321759BA8581}"/>
              </a:ext>
            </a:extLst>
          </p:cNvPr>
          <p:cNvSpPr>
            <a:spLocks noGrp="1"/>
          </p:cNvSpPr>
          <p:nvPr>
            <p:ph idx="1"/>
          </p:nvPr>
        </p:nvSpPr>
        <p:spPr>
          <a:xfrm>
            <a:off x="6095999" y="713313"/>
            <a:ext cx="5257801" cy="5431376"/>
          </a:xfrm>
        </p:spPr>
        <p:txBody>
          <a:bodyPr anchor="ctr">
            <a:normAutofit/>
          </a:bodyPr>
          <a:lstStyle/>
          <a:p>
            <a:pPr marL="0" indent="0">
              <a:buNone/>
            </a:pPr>
            <a:r>
              <a:rPr lang="fr-CH" sz="3200" dirty="0"/>
              <a:t>1. </a:t>
            </a:r>
            <a:r>
              <a:rPr lang="fr-CH" sz="3200" dirty="0" err="1"/>
              <a:t>What</a:t>
            </a:r>
            <a:r>
              <a:rPr lang="fr-CH" sz="3200" dirty="0"/>
              <a:t> </a:t>
            </a:r>
            <a:r>
              <a:rPr lang="fr-CH" sz="3200" dirty="0" err="1"/>
              <a:t>share</a:t>
            </a:r>
            <a:r>
              <a:rPr lang="fr-CH" sz="3200" dirty="0"/>
              <a:t> of </a:t>
            </a:r>
            <a:r>
              <a:rPr lang="fr-CH" sz="3200" dirty="0" err="1"/>
              <a:t>daily</a:t>
            </a:r>
            <a:r>
              <a:rPr lang="fr-CH" sz="3200" dirty="0"/>
              <a:t> </a:t>
            </a:r>
            <a:r>
              <a:rPr lang="fr-CH" sz="3200" dirty="0" err="1"/>
              <a:t>activities</a:t>
            </a:r>
            <a:r>
              <a:rPr lang="fr-CH" sz="3200" dirty="0"/>
              <a:t> </a:t>
            </a:r>
            <a:r>
              <a:rPr lang="fr-CH" sz="3200" dirty="0" err="1"/>
              <a:t>occurs</a:t>
            </a:r>
            <a:r>
              <a:rPr lang="fr-CH" sz="3200" dirty="0"/>
              <a:t> </a:t>
            </a:r>
            <a:r>
              <a:rPr lang="fr-CH" sz="3200" dirty="0" err="1"/>
              <a:t>within</a:t>
            </a:r>
            <a:r>
              <a:rPr lang="fr-CH" sz="3200" dirty="0"/>
              <a:t> 15 minutes </a:t>
            </a:r>
            <a:r>
              <a:rPr lang="fr-CH" sz="3200" dirty="0" err="1"/>
              <a:t>from</a:t>
            </a:r>
            <a:r>
              <a:rPr lang="fr-CH" sz="3200" dirty="0"/>
              <a:t> home ? (per </a:t>
            </a:r>
            <a:r>
              <a:rPr lang="fr-CH" sz="3200" dirty="0" err="1"/>
              <a:t>means</a:t>
            </a:r>
            <a:r>
              <a:rPr lang="fr-CH" sz="3200" dirty="0"/>
              <a:t> of transportation)</a:t>
            </a:r>
          </a:p>
          <a:p>
            <a:pPr marL="0" indent="0">
              <a:buNone/>
            </a:pPr>
            <a:r>
              <a:rPr lang="fr-CH" sz="3200" dirty="0"/>
              <a:t>2. How </a:t>
            </a:r>
            <a:r>
              <a:rPr lang="fr-CH" sz="3200" dirty="0" err="1"/>
              <a:t>does</a:t>
            </a:r>
            <a:r>
              <a:rPr lang="fr-CH" sz="3200" dirty="0"/>
              <a:t> </a:t>
            </a:r>
            <a:r>
              <a:rPr lang="fr-CH" sz="3200" dirty="0" err="1"/>
              <a:t>actual</a:t>
            </a:r>
            <a:r>
              <a:rPr lang="fr-CH" sz="3200" dirty="0"/>
              <a:t> </a:t>
            </a:r>
            <a:r>
              <a:rPr lang="fr-CH" sz="3200" dirty="0" err="1"/>
              <a:t>mobility</a:t>
            </a:r>
            <a:r>
              <a:rPr lang="fr-CH" sz="3200" dirty="0"/>
              <a:t> </a:t>
            </a:r>
            <a:r>
              <a:rPr lang="fr-CH" sz="3200" dirty="0" err="1"/>
              <a:t>differ</a:t>
            </a:r>
            <a:r>
              <a:rPr lang="fr-CH" sz="3200" dirty="0"/>
              <a:t> </a:t>
            </a:r>
            <a:r>
              <a:rPr lang="fr-CH" sz="3200" dirty="0" err="1"/>
              <a:t>from</a:t>
            </a:r>
            <a:r>
              <a:rPr lang="fr-CH" sz="3200" dirty="0"/>
              <a:t> the </a:t>
            </a:r>
            <a:r>
              <a:rPr lang="fr-CH" sz="3200" dirty="0" err="1"/>
              <a:t>theoretical</a:t>
            </a:r>
            <a:r>
              <a:rPr lang="fr-CH" sz="3200" dirty="0"/>
              <a:t> </a:t>
            </a:r>
            <a:r>
              <a:rPr lang="fr-CH" sz="3200" dirty="0" err="1"/>
              <a:t>accessibility</a:t>
            </a:r>
            <a:r>
              <a:rPr lang="fr-CH" sz="3200" dirty="0"/>
              <a:t>? </a:t>
            </a:r>
          </a:p>
          <a:p>
            <a:pPr marL="0" indent="0">
              <a:buNone/>
            </a:pPr>
            <a:r>
              <a:rPr lang="fr-CH" sz="3200" dirty="0"/>
              <a:t>3. </a:t>
            </a:r>
            <a:r>
              <a:rPr lang="fr-CH" sz="3200" dirty="0" err="1"/>
              <a:t>Which</a:t>
            </a:r>
            <a:r>
              <a:rPr lang="fr-CH" sz="3200" dirty="0"/>
              <a:t> types of </a:t>
            </a:r>
            <a:r>
              <a:rPr lang="fr-CH" sz="3200" dirty="0" err="1"/>
              <a:t>activities</a:t>
            </a:r>
            <a:r>
              <a:rPr lang="fr-CH" sz="3200" dirty="0"/>
              <a:t> </a:t>
            </a:r>
            <a:r>
              <a:rPr lang="fr-CH" sz="3200" dirty="0" err="1"/>
              <a:t>most</a:t>
            </a:r>
            <a:r>
              <a:rPr lang="fr-CH" sz="3200" dirty="0"/>
              <a:t> </a:t>
            </a:r>
            <a:r>
              <a:rPr lang="fr-CH" sz="3200" dirty="0" err="1"/>
              <a:t>often</a:t>
            </a:r>
            <a:r>
              <a:rPr lang="fr-CH" sz="3200" dirty="0"/>
              <a:t> </a:t>
            </a:r>
            <a:r>
              <a:rPr lang="fr-CH" sz="3200" dirty="0" err="1"/>
              <a:t>occur</a:t>
            </a:r>
            <a:r>
              <a:rPr lang="fr-CH" sz="3200" dirty="0"/>
              <a:t> </a:t>
            </a:r>
            <a:r>
              <a:rPr lang="fr-CH" sz="3200" dirty="0" err="1"/>
              <a:t>beyond</a:t>
            </a:r>
            <a:r>
              <a:rPr lang="fr-CH" sz="3200" dirty="0"/>
              <a:t> a 15‑minute radius?</a:t>
            </a:r>
          </a:p>
        </p:txBody>
      </p:sp>
    </p:spTree>
    <p:extLst>
      <p:ext uri="{BB962C8B-B14F-4D97-AF65-F5344CB8AC3E}">
        <p14:creationId xmlns:p14="http://schemas.microsoft.com/office/powerpoint/2010/main" val="3809305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23E1E-BDBE-7890-99F7-75EB4E250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A396A-E78B-8B83-BCD1-2000A3ACC94E}"/>
              </a:ext>
            </a:extLst>
          </p:cNvPr>
          <p:cNvSpPr>
            <a:spLocks noGrp="1"/>
          </p:cNvSpPr>
          <p:nvPr>
            <p:ph type="title"/>
          </p:nvPr>
        </p:nvSpPr>
        <p:spPr>
          <a:xfrm>
            <a:off x="838200" y="713312"/>
            <a:ext cx="4038600" cy="3472607"/>
          </a:xfrm>
        </p:spPr>
        <p:txBody>
          <a:bodyPr>
            <a:normAutofit/>
          </a:bodyPr>
          <a:lstStyle/>
          <a:p>
            <a:r>
              <a:rPr lang="en-001" dirty="0"/>
              <a:t>Best Possible Outcome</a:t>
            </a:r>
          </a:p>
        </p:txBody>
      </p:sp>
      <p:sp>
        <p:nvSpPr>
          <p:cNvPr id="24" name="Content Placeholder 2">
            <a:extLst>
              <a:ext uri="{FF2B5EF4-FFF2-40B4-BE49-F238E27FC236}">
                <a16:creationId xmlns:a16="http://schemas.microsoft.com/office/drawing/2014/main" id="{220A022F-93D1-8C5A-87A5-E8C8242FA292}"/>
              </a:ext>
            </a:extLst>
          </p:cNvPr>
          <p:cNvSpPr>
            <a:spLocks noGrp="1"/>
          </p:cNvSpPr>
          <p:nvPr>
            <p:ph idx="1"/>
          </p:nvPr>
        </p:nvSpPr>
        <p:spPr>
          <a:xfrm>
            <a:off x="4876801" y="713313"/>
            <a:ext cx="6477000" cy="3472607"/>
          </a:xfrm>
        </p:spPr>
        <p:txBody>
          <a:bodyPr anchor="ctr">
            <a:normAutofit fontScale="92500" lnSpcReduction="10000"/>
          </a:bodyPr>
          <a:lstStyle/>
          <a:p>
            <a:pPr marL="0" indent="0">
              <a:buNone/>
            </a:pPr>
            <a:r>
              <a:rPr lang="en-001" sz="3200" dirty="0"/>
              <a:t>We expect to:</a:t>
            </a:r>
          </a:p>
          <a:p>
            <a:r>
              <a:rPr lang="en-001" sz="3200" dirty="0"/>
              <a:t>Quantify the proportion of local vs non-local activities </a:t>
            </a:r>
          </a:p>
          <a:p>
            <a:r>
              <a:rPr lang="en-001" sz="3200" dirty="0"/>
              <a:t>Identify activity types that exceed the 15-minute threshold </a:t>
            </a:r>
          </a:p>
          <a:p>
            <a:r>
              <a:rPr lang="en-001" sz="3200" dirty="0"/>
              <a:t>Evaluate whether mobility is driven more by accessibility or by personal preferences and habits</a:t>
            </a:r>
          </a:p>
        </p:txBody>
      </p:sp>
      <p:sp>
        <p:nvSpPr>
          <p:cNvPr id="3" name="Rectangle 2">
            <a:extLst>
              <a:ext uri="{FF2B5EF4-FFF2-40B4-BE49-F238E27FC236}">
                <a16:creationId xmlns:a16="http://schemas.microsoft.com/office/drawing/2014/main" id="{7054B78A-D08B-EF49-5DCE-3E78CEFBEEF3}"/>
              </a:ext>
            </a:extLst>
          </p:cNvPr>
          <p:cNvSpPr/>
          <p:nvPr/>
        </p:nvSpPr>
        <p:spPr>
          <a:xfrm>
            <a:off x="0" y="4795520"/>
            <a:ext cx="12192000" cy="1561737"/>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001" sz="2200" b="1" dirty="0">
                <a:solidFill>
                  <a:schemeClr val="tx1"/>
                </a:solidFill>
              </a:rPr>
              <a:t>Hypothesis:</a:t>
            </a:r>
            <a:r>
              <a:rPr lang="en-001" sz="2200" dirty="0">
                <a:solidFill>
                  <a:schemeClr val="tx1"/>
                </a:solidFill>
              </a:rPr>
              <a:t> Even in Zurich, many social and professional activities </a:t>
            </a:r>
          </a:p>
          <a:p>
            <a:pPr algn="ctr"/>
            <a:r>
              <a:rPr lang="en-001" sz="2200" dirty="0">
                <a:solidFill>
                  <a:schemeClr val="tx1"/>
                </a:solidFill>
              </a:rPr>
              <a:t>occur beyond the theoretically accessible area</a:t>
            </a:r>
          </a:p>
        </p:txBody>
      </p:sp>
    </p:spTree>
    <p:extLst>
      <p:ext uri="{BB962C8B-B14F-4D97-AF65-F5344CB8AC3E}">
        <p14:creationId xmlns:p14="http://schemas.microsoft.com/office/powerpoint/2010/main" val="2129016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109C-6D34-3899-2236-59C7379E8D40}"/>
              </a:ext>
            </a:extLst>
          </p:cNvPr>
          <p:cNvSpPr>
            <a:spLocks noGrp="1"/>
          </p:cNvSpPr>
          <p:nvPr>
            <p:ph type="title"/>
          </p:nvPr>
        </p:nvSpPr>
        <p:spPr/>
        <p:txBody>
          <a:bodyPr/>
          <a:lstStyle/>
          <a:p>
            <a:r>
              <a:rPr lang="fr-CH" dirty="0" err="1"/>
              <a:t>Research</a:t>
            </a:r>
            <a:r>
              <a:rPr lang="fr-CH" dirty="0"/>
              <a:t> plan</a:t>
            </a:r>
          </a:p>
        </p:txBody>
      </p:sp>
      <p:graphicFrame>
        <p:nvGraphicFramePr>
          <p:cNvPr id="10" name="Content Placeholder 2">
            <a:extLst>
              <a:ext uri="{FF2B5EF4-FFF2-40B4-BE49-F238E27FC236}">
                <a16:creationId xmlns:a16="http://schemas.microsoft.com/office/drawing/2014/main" id="{F0AF24CE-C5D3-D1BD-30C2-C0EACACE23B1}"/>
              </a:ext>
            </a:extLst>
          </p:cNvPr>
          <p:cNvGraphicFramePr>
            <a:graphicFrameLocks noGrp="1"/>
          </p:cNvGraphicFramePr>
          <p:nvPr>
            <p:ph idx="1"/>
            <p:extLst>
              <p:ext uri="{D42A27DB-BD31-4B8C-83A1-F6EECF244321}">
                <p14:modId xmlns:p14="http://schemas.microsoft.com/office/powerpoint/2010/main" val="387594375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Graphic 11" descr="Checkbox Ticked with solid fill">
            <a:extLst>
              <a:ext uri="{FF2B5EF4-FFF2-40B4-BE49-F238E27FC236}">
                <a16:creationId xmlns:a16="http://schemas.microsoft.com/office/drawing/2014/main" id="{A3023F9A-E358-3DBF-913D-70EF311A15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3423" y="2370297"/>
            <a:ext cx="730038" cy="730038"/>
          </a:xfrm>
          <a:prstGeom prst="rect">
            <a:avLst/>
          </a:prstGeom>
        </p:spPr>
      </p:pic>
      <p:pic>
        <p:nvPicPr>
          <p:cNvPr id="4" name="Graphic 3" descr="Checkbox Ticked with solid fill">
            <a:extLst>
              <a:ext uri="{FF2B5EF4-FFF2-40B4-BE49-F238E27FC236}">
                <a16:creationId xmlns:a16="http://schemas.microsoft.com/office/drawing/2014/main" id="{38B915E9-9DD5-D0F4-8165-7A9E5BCA02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23762" y="1783928"/>
            <a:ext cx="730038" cy="730038"/>
          </a:xfrm>
          <a:prstGeom prst="rect">
            <a:avLst/>
          </a:prstGeom>
        </p:spPr>
      </p:pic>
      <p:pic>
        <p:nvPicPr>
          <p:cNvPr id="5" name="Graphic 4" descr="Checkbox Ticked with solid fill">
            <a:extLst>
              <a:ext uri="{FF2B5EF4-FFF2-40B4-BE49-F238E27FC236}">
                <a16:creationId xmlns:a16="http://schemas.microsoft.com/office/drawing/2014/main" id="{65FA58BF-3231-B8D6-4E08-A8E836ED05B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93653" y="2956666"/>
            <a:ext cx="730038" cy="730038"/>
          </a:xfrm>
          <a:prstGeom prst="rect">
            <a:avLst/>
          </a:prstGeom>
        </p:spPr>
      </p:pic>
      <p:pic>
        <p:nvPicPr>
          <p:cNvPr id="6" name="Graphic 5" descr="Checkbox Ticked with solid fill">
            <a:extLst>
              <a:ext uri="{FF2B5EF4-FFF2-40B4-BE49-F238E27FC236}">
                <a16:creationId xmlns:a16="http://schemas.microsoft.com/office/drawing/2014/main" id="{68B16695-A7DE-7F0A-7798-7A04FB9C77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63543" y="3645006"/>
            <a:ext cx="730038" cy="730038"/>
          </a:xfrm>
          <a:prstGeom prst="rect">
            <a:avLst/>
          </a:prstGeom>
        </p:spPr>
      </p:pic>
    </p:spTree>
    <p:extLst>
      <p:ext uri="{BB962C8B-B14F-4D97-AF65-F5344CB8AC3E}">
        <p14:creationId xmlns:p14="http://schemas.microsoft.com/office/powerpoint/2010/main" val="1534447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46B98-9AC8-1731-91BA-EC33F21B2854}"/>
              </a:ext>
            </a:extLst>
          </p:cNvPr>
          <p:cNvSpPr>
            <a:spLocks noGrp="1"/>
          </p:cNvSpPr>
          <p:nvPr>
            <p:ph type="title"/>
          </p:nvPr>
        </p:nvSpPr>
        <p:spPr/>
        <p:txBody>
          <a:bodyPr/>
          <a:lstStyle/>
          <a:p>
            <a:r>
              <a:rPr lang="fr-CH" dirty="0"/>
              <a:t>Preliminary </a:t>
            </a:r>
            <a:r>
              <a:rPr lang="fr-CH" dirty="0" err="1"/>
              <a:t>results</a:t>
            </a:r>
            <a:endParaRPr lang="fr-CH" dirty="0"/>
          </a:p>
        </p:txBody>
      </p:sp>
      <p:sp>
        <p:nvSpPr>
          <p:cNvPr id="3" name="Content Placeholder 2">
            <a:extLst>
              <a:ext uri="{FF2B5EF4-FFF2-40B4-BE49-F238E27FC236}">
                <a16:creationId xmlns:a16="http://schemas.microsoft.com/office/drawing/2014/main" id="{1FF8A667-72FF-F0DD-A8E9-3680D2ED163B}"/>
              </a:ext>
            </a:extLst>
          </p:cNvPr>
          <p:cNvSpPr>
            <a:spLocks noGrp="1"/>
          </p:cNvSpPr>
          <p:nvPr>
            <p:ph idx="1"/>
          </p:nvPr>
        </p:nvSpPr>
        <p:spPr/>
        <p:txBody>
          <a:bodyPr/>
          <a:lstStyle/>
          <a:p>
            <a:endParaRPr lang="fr-CH" dirty="0"/>
          </a:p>
        </p:txBody>
      </p:sp>
    </p:spTree>
    <p:extLst>
      <p:ext uri="{BB962C8B-B14F-4D97-AF65-F5344CB8AC3E}">
        <p14:creationId xmlns:p14="http://schemas.microsoft.com/office/powerpoint/2010/main" val="512293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9C5E-D113-F410-1D52-CFEDFDD68709}"/>
              </a:ext>
            </a:extLst>
          </p:cNvPr>
          <p:cNvSpPr>
            <a:spLocks noGrp="1"/>
          </p:cNvSpPr>
          <p:nvPr>
            <p:ph type="title"/>
          </p:nvPr>
        </p:nvSpPr>
        <p:spPr/>
        <p:txBody>
          <a:bodyPr/>
          <a:lstStyle/>
          <a:p>
            <a:r>
              <a:rPr lang="fr-CH" dirty="0"/>
              <a:t>Challenges and Plan B</a:t>
            </a:r>
          </a:p>
        </p:txBody>
      </p:sp>
      <p:sp>
        <p:nvSpPr>
          <p:cNvPr id="3" name="Content Placeholder 2">
            <a:extLst>
              <a:ext uri="{FF2B5EF4-FFF2-40B4-BE49-F238E27FC236}">
                <a16:creationId xmlns:a16="http://schemas.microsoft.com/office/drawing/2014/main" id="{DBAEEBF5-C3D9-FA63-1735-E9C2F5C42998}"/>
              </a:ext>
            </a:extLst>
          </p:cNvPr>
          <p:cNvSpPr>
            <a:spLocks noGrp="1"/>
          </p:cNvSpPr>
          <p:nvPr>
            <p:ph idx="1"/>
          </p:nvPr>
        </p:nvSpPr>
        <p:spPr/>
        <p:txBody>
          <a:bodyPr/>
          <a:lstStyle/>
          <a:p>
            <a:r>
              <a:rPr lang="fr-CH" dirty="0" err="1"/>
              <a:t>Integration</a:t>
            </a:r>
            <a:r>
              <a:rPr lang="fr-CH" dirty="0"/>
              <a:t> of the ZVV time plan </a:t>
            </a:r>
          </a:p>
          <a:p>
            <a:pPr lvl="1"/>
            <a:r>
              <a:rPr lang="fr-CH" dirty="0"/>
              <a:t>Heavy data set </a:t>
            </a:r>
          </a:p>
          <a:p>
            <a:pPr lvl="1"/>
            <a:r>
              <a:rPr lang="fr-CH" dirty="0"/>
              <a:t>Add </a:t>
            </a:r>
            <a:r>
              <a:rPr lang="fr-CH" dirty="0" err="1"/>
              <a:t>unusefull</a:t>
            </a:r>
            <a:r>
              <a:rPr lang="fr-CH" dirty="0"/>
              <a:t> complication</a:t>
            </a:r>
            <a:endParaRPr lang="fr-CH" dirty="0">
              <a:sym typeface="Wingdings" panose="05000000000000000000" pitchFamily="2" charset="2"/>
            </a:endParaRPr>
          </a:p>
          <a:p>
            <a:pPr>
              <a:buFont typeface="Wingdings" panose="05000000000000000000" pitchFamily="2" charset="2"/>
              <a:buChar char="à"/>
            </a:pPr>
            <a:r>
              <a:rPr lang="fr-CH" dirty="0">
                <a:sym typeface="Wingdings" panose="05000000000000000000" pitchFamily="2" charset="2"/>
              </a:rPr>
              <a:t> Use an estimation of the speed of the public transports (bus and tram) of 15 km/h </a:t>
            </a:r>
          </a:p>
          <a:p>
            <a:r>
              <a:rPr lang="fr-CH" dirty="0">
                <a:sym typeface="Wingdings" panose="05000000000000000000" pitchFamily="2" charset="2"/>
              </a:rPr>
              <a:t>Anonymisation of the data</a:t>
            </a:r>
          </a:p>
          <a:p>
            <a:pPr lvl="1"/>
            <a:r>
              <a:rPr lang="fr-CH" dirty="0">
                <a:sym typeface="Wingdings" panose="05000000000000000000" pitchFamily="2" charset="2"/>
              </a:rPr>
              <a:t>With </a:t>
            </a:r>
            <a:r>
              <a:rPr lang="fr-CH" dirty="0" err="1">
                <a:sym typeface="Wingdings" panose="05000000000000000000" pitchFamily="2" charset="2"/>
              </a:rPr>
              <a:t>only</a:t>
            </a:r>
            <a:r>
              <a:rPr lang="fr-CH" dirty="0">
                <a:sym typeface="Wingdings" panose="05000000000000000000" pitchFamily="2" charset="2"/>
              </a:rPr>
              <a:t> a few </a:t>
            </a:r>
            <a:r>
              <a:rPr lang="fr-CH" dirty="0" err="1">
                <a:sym typeface="Wingdings" panose="05000000000000000000" pitchFamily="2" charset="2"/>
              </a:rPr>
              <a:t>visited</a:t>
            </a:r>
            <a:r>
              <a:rPr lang="fr-CH" dirty="0">
                <a:sym typeface="Wingdings" panose="05000000000000000000" pitchFamily="2" charset="2"/>
              </a:rPr>
              <a:t> points, </a:t>
            </a:r>
            <a:r>
              <a:rPr lang="fr-CH" dirty="0" err="1">
                <a:sym typeface="Wingdings" panose="05000000000000000000" pitchFamily="2" charset="2"/>
              </a:rPr>
              <a:t>it</a:t>
            </a:r>
            <a:r>
              <a:rPr lang="fr-CH" dirty="0">
                <a:sym typeface="Wingdings" panose="05000000000000000000" pitchFamily="2" charset="2"/>
              </a:rPr>
              <a:t> </a:t>
            </a:r>
            <a:r>
              <a:rPr lang="fr-CH" dirty="0" err="1">
                <a:sym typeface="Wingdings" panose="05000000000000000000" pitchFamily="2" charset="2"/>
              </a:rPr>
              <a:t>is</a:t>
            </a:r>
            <a:r>
              <a:rPr lang="fr-CH" dirty="0">
                <a:sym typeface="Wingdings" panose="05000000000000000000" pitchFamily="2" charset="2"/>
              </a:rPr>
              <a:t> possible to </a:t>
            </a:r>
            <a:r>
              <a:rPr lang="fr-CH" dirty="0" err="1">
                <a:sym typeface="Wingdings" panose="05000000000000000000" pitchFamily="2" charset="2"/>
              </a:rPr>
              <a:t>find</a:t>
            </a:r>
            <a:r>
              <a:rPr lang="fr-CH" dirty="0">
                <a:sym typeface="Wingdings" panose="05000000000000000000" pitchFamily="2" charset="2"/>
              </a:rPr>
              <a:t> out </a:t>
            </a:r>
            <a:r>
              <a:rPr lang="fr-CH" dirty="0" err="1">
                <a:sym typeface="Wingdings" panose="05000000000000000000" pitchFamily="2" charset="2"/>
              </a:rPr>
              <a:t>where</a:t>
            </a:r>
            <a:r>
              <a:rPr lang="fr-CH" dirty="0">
                <a:sym typeface="Wingdings" panose="05000000000000000000" pitchFamily="2" charset="2"/>
              </a:rPr>
              <a:t> the </a:t>
            </a:r>
            <a:r>
              <a:rPr lang="fr-CH" dirty="0" err="1">
                <a:sym typeface="Wingdings" panose="05000000000000000000" pitchFamily="2" charset="2"/>
              </a:rPr>
              <a:t>person</a:t>
            </a:r>
            <a:r>
              <a:rPr lang="fr-CH" dirty="0">
                <a:sym typeface="Wingdings" panose="05000000000000000000" pitchFamily="2" charset="2"/>
              </a:rPr>
              <a:t> </a:t>
            </a:r>
            <a:r>
              <a:rPr lang="fr-CH" dirty="0" err="1">
                <a:sym typeface="Wingdings" panose="05000000000000000000" pitchFamily="2" charset="2"/>
              </a:rPr>
              <a:t>lives</a:t>
            </a:r>
            <a:r>
              <a:rPr lang="fr-CH" dirty="0">
                <a:sym typeface="Wingdings" panose="05000000000000000000" pitchFamily="2" charset="2"/>
              </a:rPr>
              <a:t>/</a:t>
            </a:r>
            <a:r>
              <a:rPr lang="fr-CH" dirty="0" err="1">
                <a:sym typeface="Wingdings" panose="05000000000000000000" pitchFamily="2" charset="2"/>
              </a:rPr>
              <a:t>who</a:t>
            </a:r>
            <a:r>
              <a:rPr lang="fr-CH" dirty="0">
                <a:sym typeface="Wingdings" panose="05000000000000000000" pitchFamily="2" charset="2"/>
              </a:rPr>
              <a:t> </a:t>
            </a:r>
            <a:r>
              <a:rPr lang="fr-CH" dirty="0" err="1">
                <a:sym typeface="Wingdings" panose="05000000000000000000" pitchFamily="2" charset="2"/>
              </a:rPr>
              <a:t>they</a:t>
            </a:r>
            <a:r>
              <a:rPr lang="fr-CH" dirty="0">
                <a:sym typeface="Wingdings" panose="05000000000000000000" pitchFamily="2" charset="2"/>
              </a:rPr>
              <a:t> are</a:t>
            </a:r>
          </a:p>
          <a:p>
            <a:pPr marL="0" indent="0">
              <a:buNone/>
            </a:pPr>
            <a:r>
              <a:rPr lang="fr-CH" dirty="0">
                <a:sym typeface="Wingdings" panose="05000000000000000000" pitchFamily="2" charset="2"/>
              </a:rPr>
              <a:t> Change the </a:t>
            </a:r>
            <a:r>
              <a:rPr lang="fr-CH" dirty="0" err="1">
                <a:sym typeface="Wingdings" panose="05000000000000000000" pitchFamily="2" charset="2"/>
              </a:rPr>
              <a:t>adress</a:t>
            </a:r>
            <a:r>
              <a:rPr lang="fr-CH" dirty="0">
                <a:sym typeface="Wingdings" panose="05000000000000000000" pitchFamily="2" charset="2"/>
              </a:rPr>
              <a:t> by a few blocks/</a:t>
            </a:r>
            <a:r>
              <a:rPr lang="fr-CH" dirty="0" err="1">
                <a:sym typeface="Wingdings" panose="05000000000000000000" pitchFamily="2" charset="2"/>
              </a:rPr>
              <a:t>streets</a:t>
            </a:r>
            <a:r>
              <a:rPr lang="fr-CH" dirty="0">
                <a:sym typeface="Wingdings" panose="05000000000000000000" pitchFamily="2" charset="2"/>
              </a:rPr>
              <a:t> (but </a:t>
            </a:r>
            <a:r>
              <a:rPr lang="fr-CH" dirty="0" err="1">
                <a:sym typeface="Wingdings" panose="05000000000000000000" pitchFamily="2" charset="2"/>
              </a:rPr>
              <a:t>still</a:t>
            </a:r>
            <a:r>
              <a:rPr lang="fr-CH" dirty="0">
                <a:sym typeface="Wingdings" panose="05000000000000000000" pitchFamily="2" charset="2"/>
              </a:rPr>
              <a:t> not </a:t>
            </a:r>
            <a:r>
              <a:rPr lang="fr-CH" dirty="0" err="1">
                <a:sym typeface="Wingdings" panose="05000000000000000000" pitchFamily="2" charset="2"/>
              </a:rPr>
              <a:t>ideal</a:t>
            </a:r>
            <a:r>
              <a:rPr lang="fr-CH" dirty="0">
                <a:sym typeface="Wingdings" panose="05000000000000000000" pitchFamily="2" charset="2"/>
              </a:rPr>
              <a:t>) </a:t>
            </a:r>
          </a:p>
          <a:p>
            <a:pPr marL="0" indent="0">
              <a:buNone/>
            </a:pPr>
            <a:endParaRPr lang="fr-CH" dirty="0"/>
          </a:p>
        </p:txBody>
      </p:sp>
    </p:spTree>
    <p:extLst>
      <p:ext uri="{BB962C8B-B14F-4D97-AF65-F5344CB8AC3E}">
        <p14:creationId xmlns:p14="http://schemas.microsoft.com/office/powerpoint/2010/main" val="23573053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1327</TotalTime>
  <Words>642</Words>
  <Application>Microsoft Macintosh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Wingdings</vt:lpstr>
      <vt:lpstr>Office Theme</vt:lpstr>
      <vt:lpstr>The 15-Minute City in Practice  Comparing Theoretical Accessibility and Actual Mobility Behavior in Zurich</vt:lpstr>
      <vt:lpstr>Context </vt:lpstr>
      <vt:lpstr>Presentation general of the project</vt:lpstr>
      <vt:lpstr>Context &amp; Project Intro</vt:lpstr>
      <vt:lpstr>Research questions </vt:lpstr>
      <vt:lpstr>Best Possible Outcome</vt:lpstr>
      <vt:lpstr>Research plan</vt:lpstr>
      <vt:lpstr>Preliminary results</vt:lpstr>
      <vt:lpstr>Challenges and Plan 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Noémie Simon</dc:creator>
  <cp:lastModifiedBy>Kern  Lucie</cp:lastModifiedBy>
  <cp:revision>4</cp:revision>
  <dcterms:created xsi:type="dcterms:W3CDTF">2026-05-30T13:29:55Z</dcterms:created>
  <dcterms:modified xsi:type="dcterms:W3CDTF">2026-06-01T13:00:44Z</dcterms:modified>
</cp:coreProperties>
</file>